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distils Task 1 of CEF 440 into twelve focused slides. The report covers six interlocking topics that any mobile project must resolve before code is written: the type of application, the programming language, the framework, the architectural pattern, the requirement engineering process, and the cost estimation method. I'll narrate each slide as a lead architect would brief a team — the 'what' is in the report, the 'why' is in these speaker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topics are taken directly from the CEF 440 Task 1 brief. Each carries weight in the 10-mark allocation, so the deck spends roughly equal time on each — with two slides on frameworks and two on architecture because both areas have multiple sub-options that don't fit in a single slide. We move from the broadest decision (what kind of app) to the most concrete (what it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single most important slide in the deck — every other choice we discuss flows from it. Notice the columns are not symmetric: Native dominates on quality and capability, PWA dominates on cost and update velocity, and Hybrid is the awkward compromise that sometimes — but not always — wins. The deeper point: 'Performance: Highest' for Native is not free. It is paid for in development cost, team specialisation, and time-to-update. 'Cost: Low' for PWA is similarly paid for in hardware access and offline depth. There is no free lunch on this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stops at the comparison table. A lead architect cannot. These decision rules turn the trade-off table into action: each column lists the conditions under which that category is the right answer. Notice that 'team skill' appears in all three — this is deliberate. The most expensive mistake in mobile is choosing a stack your team can't ship in. A mediocre Flutter app from a strong Flutter team beats a broken native app from a team that learned Kotlin last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languages organised by approach. The native column shows the platform-blessed path on each side: Kotlin and Java for Android; Swift and Objective-C for iOS. In both cases the older language is still present in legacy code but new projects pick the modern one. The cross-platform column shows the three serious contenders. Dart compiles to native ARM ahead of time, which is why Flutter can claim native-level performance without a bridge. JavaScript and TypeScript power React Native and Ionic — most production React Native projects now default to TypeScript for the compile-time safety it adds. C# powers .NET MAUI and is the natural choice for teams already in the Microsoft ecosystem. Python is omitted deliberately — the report itself notes it is not widely used in professional mobile development. The report's hybrid web stack (HTML, CSS, JavaScript) is covered when we discuss Ionic and Capacitor in the frameworks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frameworks moved native development from imperative to declarative within five years of each other — Compose in 2021, SwiftUI in 2019. This convergence is not coincidence: the React model (state in, UI out) won the architectural argument, and the platform vendors absorbed it. What matters for an architect: the *mental model* is now the same on both platforms. A developer who understands Compose can read SwiftUI code on day one. That portability of thinking is almost as valuable as portability of code, and it's the hidden reason native development is no longer the productivity disaster it was a decade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frameworks beyond the native pair. Four cross-platform: Flutter, React Native, .NET MAUI, Kotlin Multiplatform. Two hybrid: Ionic with Capacitor, and Apache Cordova as the legacy predecessor. The architectural split worth noting: Flutter is the only one that draws its own pixels — every other cross-platform framework on this slide maps to native widgets. That single decision is why Flutter deserves its own slide next, and why React Native and MAUI feel more 'native' on each platform but suffer subtle inconsistencies. Kotlin Multiplatform takes the opposite extreme: don't share UI at all, only share logic. For our group project context, the practical short-list is Flutter or React Native — they have the largest communities, the most learning material in English and French, and the lowest barrier to a first shipping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Flutter from React Native at the architectural level. React Native asks the platform to render a native button when you write &lt;Button&gt;. Flutter draws the button itself, pixel by pixel, using its own engine. The consequence is profound: Flutter has no platform inconsistency bugs because there is no platform involved in rendering. The same consequence is the constraint: when iOS 19 introduces a new visual style, a React Native app gets it for free; a Flutter app waits for Google to ship widgets that mimic it. Pick Flutter when consistency matters more than platform-native fidelity. Pick native or React Native when the opposite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patterns, six different answers to the same question: how should code be organised so that it stays maintainable as it grows? MVC and MVP are the historical answers — MVC is where most developers start, MVP is what the Android community used to fix MVC's controller-bloat problem. MVVM is the current default in every modern UI toolkit because reactive data binding eliminates an entire category of UI-data sync bugs. Clean Architecture is not a UI pattern — it is a layering rule that says business logic should not import from any framework. BLoC is a Flutter-specific formalisation of unidirectional data flow. Redux is the React Native equivalent. The next two slides go deep on MVVM and Clean Architecture because those are the two patterns most relevant to a modern mobile project starting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MVVM is the default in three of the four most-used UI toolkits today: Jetpack Compose, SwiftUI, and Flutter. The reason is the data-binding mechanism on the right side of this slide. In MVC and early MVP, the developer had to remember to call updateUI() every time the model changed — and the bugs that arose when they forgot were the most common class of mobile defect for a decade. MVVM removes the need to remember by making the binding declarative: the View *subscribes*, and the framework handles propagation. The 'no UI imports in the ViewModel' constraint sounds academic but is the entire point. It is what makes the ViewModel testable on a developer laptop in milliseconds, without booting an emulator.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 Architecture's payoff is one specific property: the Domain layer is portable. The rule that 'a transfer cannot exceed the account balance' lives in a layer that imports nothing from Android, iOS, PostgreSQL, or REST. That same rule can be reused unchanged in a mobile app, a web app, a CLI tool, or a server. The cost is real: more layers, more interfaces, more boilerplate. For a small app, this is overkill. For a multi-year, multi-developer system where the UI framework will be rewritten twice and the database will be migrated once, the inward-dependency rule is what lets the business logic survive those rewrites. Choose Clean Architecture when the lifetime of the *rules* exceeds the lifetime of any single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Elicitation is not a polite question-and-answer. It is the process of surfacing requirements that the stakeholder has not articulated — sometimes because they consider them obvious, sometimes because they have not yet recognised them as requirements. The six techniques on this slide are not interchangeable. Interviews capture stated preferences; observation captures actual behaviour, which often contradicts stated preferences. A team that uses only one technique is guaranteed to miss something. The competent team uses three or four in combination and triangulates.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 on the right is the single most under-used equation in student mobile projects. Most teams compute 'hours times rate' and stop. The 1.40–1.50 multiplier is not optional padding — it is the recovery of work that the base estimate explicitly excludes: project management, QA cycles, UI design, and the contingency for the surprises every project encounters. An estimate that omits the multiplier is not conservative; it is wrong. The report's own warning bears repeating: an estimate produced before requirement engineering is complete is a rough order of magnitude only. It is not a commitment, and it should be revised at the end of every project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takeaways, each stress-tested against the report. Number 1 is the meta-rule: every other slide in this deck is a tool, not a recommendation. Number 2 is the architectural news of the decade — declarative + reactive has won, on every platform. Number 3 is the default for the next five years of mobile work. Number 4 is what separates a project that ships from one that loops endlessly through rework. Number 5 is what separates a budget that holds from one that doubles. Internalise these and the rest of the report becomes a lookup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F"/>
        </a:solidFill>
      </p:bgPr>
    </p:bg>
    <p:spTree>
      <p:nvGrpSpPr>
        <p:cNvPr id="1" name=""/>
        <p:cNvGrpSpPr/>
        <p:nvPr/>
      </p:nvGrpSpPr>
      <p:grpSpPr>
        <a:xfrm>
          <a:off x="0" y="0"/>
          <a:ext cx="0" cy="0"/>
          <a:chOff x="0" y="0"/>
          <a:chExt cx="0" cy="0"/>
        </a:xfrm>
      </p:grpSpPr>
      <p:sp>
        <p:nvSpPr>
          <p:cNvPr id="2" name="Shape 0"/>
          <p:cNvSpPr/>
          <p:nvPr/>
        </p:nvSpPr>
        <p:spPr>
          <a:xfrm>
            <a:off x="548640" y="548640"/>
            <a:ext cx="548640" cy="73152"/>
          </a:xfrm>
          <a:prstGeom prst="rect">
            <a:avLst/>
          </a:prstGeom>
          <a:solidFill>
            <a:srgbClr val="C9A227"/>
          </a:solidFill>
          <a:ln w="12700">
            <a:solidFill>
              <a:srgbClr val="C9A227"/>
            </a:solidFill>
            <a:prstDash val="solid"/>
          </a:ln>
        </p:spPr>
      </p:sp>
      <p:sp>
        <p:nvSpPr>
          <p:cNvPr id="3" name="Shape 1"/>
          <p:cNvSpPr/>
          <p:nvPr/>
        </p:nvSpPr>
        <p:spPr>
          <a:xfrm>
            <a:off x="548640" y="548640"/>
            <a:ext cx="73152" cy="548640"/>
          </a:xfrm>
          <a:prstGeom prst="rect">
            <a:avLst/>
          </a:prstGeom>
          <a:solidFill>
            <a:srgbClr val="C9A227"/>
          </a:solidFill>
          <a:ln w="12700">
            <a:solidFill>
              <a:srgbClr val="C9A227"/>
            </a:solidFill>
            <a:prstDash val="solid"/>
          </a:ln>
        </p:spPr>
      </p:sp>
      <p:sp>
        <p:nvSpPr>
          <p:cNvPr id="4" name="Text 2"/>
          <p:cNvSpPr/>
          <p:nvPr/>
        </p:nvSpPr>
        <p:spPr>
          <a:xfrm>
            <a:off x="548640" y="1280160"/>
            <a:ext cx="10972800" cy="365760"/>
          </a:xfrm>
          <a:prstGeom prst="rect">
            <a:avLst/>
          </a:prstGeom>
          <a:noFill/>
          <a:ln/>
        </p:spPr>
        <p:txBody>
          <a:bodyPr wrap="square" lIns="0" tIns="0" rIns="0" bIns="0" rtlCol="0" anchor="ctr"/>
          <a:lstStyle/>
          <a:p>
            <a:pPr indent="0" marL="0">
              <a:buNone/>
            </a:pPr>
            <a:r>
              <a:rPr lang="en-US" sz="1400" b="1" spc="300" kern="0" dirty="0">
                <a:solidFill>
                  <a:srgbClr val="D6E6F7"/>
                </a:solidFill>
                <a:latin typeface="Calibri" pitchFamily="34" charset="0"/>
                <a:ea typeface="Calibri" pitchFamily="34" charset="-122"/>
                <a:cs typeface="Calibri" pitchFamily="34" charset="-120"/>
              </a:rPr>
              <a:t>UNIVERSITY OF BUEA</a:t>
            </a:r>
            <a:endParaRPr lang="en-US" sz="1400" dirty="0"/>
          </a:p>
        </p:txBody>
      </p:sp>
      <p:sp>
        <p:nvSpPr>
          <p:cNvPr id="5" name="Text 3"/>
          <p:cNvSpPr/>
          <p:nvPr/>
        </p:nvSpPr>
        <p:spPr>
          <a:xfrm>
            <a:off x="548640" y="1627632"/>
            <a:ext cx="10972800" cy="320040"/>
          </a:xfrm>
          <a:prstGeom prst="rect">
            <a:avLst/>
          </a:prstGeom>
          <a:noFill/>
          <a:ln/>
        </p:spPr>
        <p:txBody>
          <a:bodyPr wrap="square" lIns="0" tIns="0" rIns="0" bIns="0" rtlCol="0" anchor="ctr"/>
          <a:lstStyle/>
          <a:p>
            <a:pPr indent="0" marL="0">
              <a:buNone/>
            </a:pPr>
            <a:r>
              <a:rPr lang="en-US" sz="1200" dirty="0">
                <a:solidFill>
                  <a:srgbClr val="9FB4D1"/>
                </a:solidFill>
                <a:latin typeface="Calibri" pitchFamily="34" charset="0"/>
                <a:ea typeface="Calibri" pitchFamily="34" charset="-122"/>
                <a:cs typeface="Calibri" pitchFamily="34" charset="-120"/>
              </a:rPr>
              <a:t>Faculty of Engineering and Technology  ·  Department of Computer Engineering</a:t>
            </a:r>
            <a:endParaRPr lang="en-US" sz="1200" dirty="0"/>
          </a:p>
        </p:txBody>
      </p:sp>
      <p:sp>
        <p:nvSpPr>
          <p:cNvPr id="6" name="Text 4"/>
          <p:cNvSpPr/>
          <p:nvPr/>
        </p:nvSpPr>
        <p:spPr>
          <a:xfrm>
            <a:off x="548640" y="2377440"/>
            <a:ext cx="11064240" cy="109728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Mobile App Development Process</a:t>
            </a:r>
            <a:endParaRPr lang="en-US" sz="4800" dirty="0"/>
          </a:p>
        </p:txBody>
      </p:sp>
      <p:sp>
        <p:nvSpPr>
          <p:cNvPr id="7" name="Text 5"/>
          <p:cNvSpPr/>
          <p:nvPr/>
        </p:nvSpPr>
        <p:spPr>
          <a:xfrm>
            <a:off x="548640" y="3520440"/>
            <a:ext cx="11064240" cy="548640"/>
          </a:xfrm>
          <a:prstGeom prst="rect">
            <a:avLst/>
          </a:prstGeom>
          <a:noFill/>
          <a:ln/>
        </p:spPr>
        <p:txBody>
          <a:bodyPr wrap="square" lIns="0" tIns="0" rIns="0" bIns="0" rtlCol="0" anchor="ctr"/>
          <a:lstStyle/>
          <a:p>
            <a:pPr indent="0" marL="0">
              <a:buNone/>
            </a:pPr>
            <a:r>
              <a:rPr lang="en-US" sz="1600" i="1" dirty="0">
                <a:solidFill>
                  <a:srgbClr val="D6E6F7"/>
                </a:solidFill>
                <a:latin typeface="Calibri" pitchFamily="34" charset="0"/>
                <a:ea typeface="Calibri" pitchFamily="34" charset="-122"/>
                <a:cs typeface="Calibri" pitchFamily="34" charset="-120"/>
              </a:rPr>
              <a:t>A Lead-Architect's Walkthrough of Types, Languages, Frameworks, Architectures, Requirements &amp; Cost</a:t>
            </a:r>
            <a:endParaRPr lang="en-US" sz="1600" dirty="0"/>
          </a:p>
        </p:txBody>
      </p:sp>
      <p:sp>
        <p:nvSpPr>
          <p:cNvPr id="8" name="Shape 6"/>
          <p:cNvSpPr/>
          <p:nvPr/>
        </p:nvSpPr>
        <p:spPr>
          <a:xfrm>
            <a:off x="548640" y="4297680"/>
            <a:ext cx="1645920" cy="45720"/>
          </a:xfrm>
          <a:prstGeom prst="rect">
            <a:avLst/>
          </a:prstGeom>
          <a:solidFill>
            <a:srgbClr val="C9A227"/>
          </a:solidFill>
          <a:ln w="12700">
            <a:solidFill>
              <a:srgbClr val="C9A227"/>
            </a:solidFill>
            <a:prstDash val="solid"/>
          </a:ln>
        </p:spPr>
      </p:sp>
      <p:sp>
        <p:nvSpPr>
          <p:cNvPr id="9" name="Text 7"/>
          <p:cNvSpPr/>
          <p:nvPr/>
        </p:nvSpPr>
        <p:spPr>
          <a:xfrm>
            <a:off x="548640" y="4480560"/>
            <a:ext cx="10972800" cy="1463040"/>
          </a:xfrm>
          <a:prstGeom prst="rect">
            <a:avLst/>
          </a:prstGeom>
          <a:noFill/>
          <a:ln/>
        </p:spPr>
        <p:txBody>
          <a:bodyPr wrap="square" lIns="0" tIns="0" rIns="0" bIns="0" rtlCol="0" anchor="ctr"/>
          <a:lstStyle/>
          <a:p>
            <a:pPr indent="0" marL="0">
              <a:spcAft>
                <a:spcPts val="300"/>
              </a:spcAft>
              <a:buNone/>
            </a:pPr>
            <a:r>
              <a:rPr lang="en-US" sz="1300" b="1" dirty="0">
                <a:solidFill>
                  <a:srgbClr val="FFFFFF"/>
                </a:solidFill>
                <a:latin typeface="Calibri" pitchFamily="34" charset="0"/>
                <a:ea typeface="Calibri" pitchFamily="34" charset="-122"/>
                <a:cs typeface="Calibri" pitchFamily="34" charset="-120"/>
              </a:rPr>
              <a:t>CEF 440</a:t>
            </a:r>
            <a:endParaRPr lang="en-US" sz="1300" dirty="0"/>
          </a:p>
          <a:p>
            <a:pPr indent="0" marL="0">
              <a:spcAft>
                <a:spcPts val="300"/>
              </a:spcAft>
              <a:buNone/>
            </a:pPr>
            <a:r>
              <a:rPr lang="en-US" sz="1300" dirty="0">
                <a:solidFill>
                  <a:srgbClr val="D6E6F7"/>
                </a:solidFill>
                <a:latin typeface="Calibri" pitchFamily="34" charset="0"/>
                <a:ea typeface="Calibri" pitchFamily="34" charset="-122"/>
                <a:cs typeface="Calibri" pitchFamily="34" charset="-120"/>
              </a:rPr>
              <a:t>Internet and Mobile Programming</a:t>
            </a:r>
            <a:endParaRPr lang="en-US" sz="1300" dirty="0"/>
          </a:p>
          <a:p>
            <a:pPr indent="0" marL="0">
              <a:spcAft>
                <a:spcPts val="300"/>
              </a:spcAft>
              <a:buNone/>
            </a:pPr>
            <a:r>
              <a:rPr lang="en-US" sz="1300" dirty="0">
                <a:solidFill>
                  <a:srgbClr val="D6E6F7"/>
                </a:solidFill>
                <a:latin typeface="Calibri" pitchFamily="34" charset="0"/>
                <a:ea typeface="Calibri" pitchFamily="34" charset="-122"/>
                <a:cs typeface="Calibri" pitchFamily="34" charset="-120"/>
              </a:rPr>
              <a:t>Task 1  ·  Group 12 Project Report</a:t>
            </a:r>
            <a:endParaRPr lang="en-US" sz="1300" dirty="0"/>
          </a:p>
          <a:p>
            <a:pPr indent="0" marL="0">
              <a:spcAft>
                <a:spcPts val="300"/>
              </a:spcAft>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indent="0" marL="0">
              <a:spcAft>
                <a:spcPts val="300"/>
              </a:spcAft>
              <a:buNone/>
            </a:pPr>
            <a:r>
              <a:rPr lang="en-US" sz="1300" i="1" dirty="0">
                <a:solidFill>
                  <a:srgbClr val="C9A227"/>
                </a:solidFill>
                <a:latin typeface="Calibri" pitchFamily="34" charset="0"/>
                <a:ea typeface="Calibri" pitchFamily="34" charset="-122"/>
                <a:cs typeface="Calibri" pitchFamily="34" charset="-120"/>
              </a:rPr>
              <a:t>Supervisor: Dr. Valery Nkemeni</a:t>
            </a:r>
            <a:endParaRPr lang="en-US" sz="1300" dirty="0"/>
          </a:p>
        </p:txBody>
      </p:sp>
      <p:sp>
        <p:nvSpPr>
          <p:cNvPr id="10" name="Text 8"/>
          <p:cNvSpPr/>
          <p:nvPr/>
        </p:nvSpPr>
        <p:spPr>
          <a:xfrm>
            <a:off x="548640" y="6309360"/>
            <a:ext cx="10972800" cy="274320"/>
          </a:xfrm>
          <a:prstGeom prst="rect">
            <a:avLst/>
          </a:prstGeom>
          <a:noFill/>
          <a:ln/>
        </p:spPr>
        <p:txBody>
          <a:bodyPr wrap="square" lIns="0" tIns="0" rIns="0" bIns="0" rtlCol="0" anchor="ctr"/>
          <a:lstStyle/>
          <a:p>
            <a:pPr indent="0" marL="0">
              <a:buNone/>
            </a:pPr>
            <a:r>
              <a:rPr lang="en-US" sz="1000" dirty="0">
                <a:solidFill>
                  <a:srgbClr val="9FB4D1"/>
                </a:solidFill>
                <a:latin typeface="Calibri" pitchFamily="34" charset="0"/>
                <a:ea typeface="Calibri" pitchFamily="34" charset="-122"/>
                <a:cs typeface="Calibri" pitchFamily="34" charset="-120"/>
              </a:rPr>
              <a:t>Academic Year 2024 / 2025  ·  Second Semester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B1F3F"/>
          </a:solidFill>
          <a:ln w="12700">
            <a:solidFill>
              <a:srgbClr val="0B1F3F"/>
            </a:solidFill>
            <a:prstDash val="solid"/>
          </a:ln>
        </p:spPr>
      </p:sp>
      <p:sp>
        <p:nvSpPr>
          <p:cNvPr id="3" name="Shape 1"/>
          <p:cNvSpPr/>
          <p:nvPr/>
        </p:nvSpPr>
        <p:spPr>
          <a:xfrm>
            <a:off x="457200" y="320040"/>
            <a:ext cx="109728" cy="365760"/>
          </a:xfrm>
          <a:prstGeom prst="rect">
            <a:avLst/>
          </a:prstGeom>
          <a:solidFill>
            <a:srgbClr val="C9A227"/>
          </a:solidFill>
          <a:ln w="12700">
            <a:solidFill>
              <a:srgbClr val="C9A227"/>
            </a:solidFill>
            <a:prstDash val="solid"/>
          </a:ln>
        </p:spPr>
      </p:sp>
      <p:sp>
        <p:nvSpPr>
          <p:cNvPr id="4" name="Text 2"/>
          <p:cNvSpPr/>
          <p:nvPr/>
        </p:nvSpPr>
        <p:spPr>
          <a:xfrm>
            <a:off x="685800" y="256032"/>
            <a:ext cx="7315200" cy="274320"/>
          </a:xfrm>
          <a:prstGeom prst="rect">
            <a:avLst/>
          </a:prstGeom>
          <a:noFill/>
          <a:ln/>
        </p:spPr>
        <p:txBody>
          <a:bodyPr wrap="square" lIns="0" tIns="0" rIns="0" bIns="0" rtlCol="0" anchor="ctr"/>
          <a:lstStyle/>
          <a:p>
            <a:pPr indent="0" marL="0">
              <a:buNone/>
            </a:pPr>
            <a:r>
              <a:rPr lang="en-US" sz="1100" b="1" spc="200" kern="0" dirty="0">
                <a:solidFill>
                  <a:srgbClr val="D6E6F7"/>
                </a:solidFill>
                <a:latin typeface="Calibri" pitchFamily="34" charset="0"/>
                <a:ea typeface="Calibri" pitchFamily="34" charset="-122"/>
                <a:cs typeface="Calibri" pitchFamily="34" charset="-120"/>
              </a:rPr>
              <a:t>AGENDA  ·  10 MARKS</a:t>
            </a:r>
            <a:endParaRPr lang="en-US" sz="1100" dirty="0"/>
          </a:p>
        </p:txBody>
      </p:sp>
      <p:sp>
        <p:nvSpPr>
          <p:cNvPr id="5" name="Text 3"/>
          <p:cNvSpPr/>
          <p:nvPr/>
        </p:nvSpPr>
        <p:spPr>
          <a:xfrm>
            <a:off x="685800" y="502920"/>
            <a:ext cx="10058400" cy="50292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Task 1  ·  Mobile App Development Process</a:t>
            </a:r>
            <a:endParaRPr lang="en-US" sz="24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Group 12  ·  University of Buea  ·  FET</a:t>
            </a:r>
            <a:endParaRPr lang="en-US" sz="900" dirty="0"/>
          </a:p>
        </p:txBody>
      </p:sp>
      <p:sp>
        <p:nvSpPr>
          <p:cNvPr id="7" name="Shape 5"/>
          <p:cNvSpPr/>
          <p:nvPr/>
        </p:nvSpPr>
        <p:spPr>
          <a:xfrm>
            <a:off x="548640" y="1371600"/>
            <a:ext cx="11064240" cy="713232"/>
          </a:xfrm>
          <a:prstGeom prst="rect">
            <a:avLst/>
          </a:prstGeom>
          <a:solidFill>
            <a:srgbClr val="FFFFFF"/>
          </a:solidFill>
          <a:ln w="12700">
            <a:solidFill>
              <a:srgbClr val="D6E6F7"/>
            </a:solidFill>
            <a:prstDash val="solid"/>
          </a:ln>
        </p:spPr>
      </p:sp>
      <p:sp>
        <p:nvSpPr>
          <p:cNvPr id="8" name="Shape 6"/>
          <p:cNvSpPr/>
          <p:nvPr/>
        </p:nvSpPr>
        <p:spPr>
          <a:xfrm>
            <a:off x="548640" y="1371600"/>
            <a:ext cx="777240" cy="713232"/>
          </a:xfrm>
          <a:prstGeom prst="rect">
            <a:avLst/>
          </a:prstGeom>
          <a:solidFill>
            <a:srgbClr val="0B1F3F"/>
          </a:solidFill>
          <a:ln w="12700">
            <a:solidFill>
              <a:srgbClr val="0B1F3F"/>
            </a:solidFill>
            <a:prstDash val="solid"/>
          </a:ln>
        </p:spPr>
      </p:sp>
      <p:sp>
        <p:nvSpPr>
          <p:cNvPr id="9" name="Text 7"/>
          <p:cNvSpPr/>
          <p:nvPr/>
        </p:nvSpPr>
        <p:spPr>
          <a:xfrm>
            <a:off x="548640" y="1371600"/>
            <a:ext cx="777240" cy="713232"/>
          </a:xfrm>
          <a:prstGeom prst="rect">
            <a:avLst/>
          </a:prstGeom>
          <a:noFill/>
          <a:ln/>
        </p:spPr>
        <p:txBody>
          <a:bodyPr wrap="square" lIns="0" tIns="0" rIns="0" bIns="0" rtlCol="0" anchor="ctr"/>
          <a:lstStyle/>
          <a:p>
            <a:pPr algn="ctr" indent="0" marL="0">
              <a:buNone/>
            </a:pPr>
            <a:r>
              <a:rPr lang="en-US" sz="2000" b="1" dirty="0">
                <a:solidFill>
                  <a:srgbClr val="C9A227"/>
                </a:solidFill>
                <a:latin typeface="Georgia" pitchFamily="34" charset="0"/>
                <a:ea typeface="Georgia" pitchFamily="34" charset="-122"/>
                <a:cs typeface="Georgia" pitchFamily="34" charset="-120"/>
              </a:rPr>
              <a:t>01</a:t>
            </a:r>
            <a:endParaRPr lang="en-US" sz="2000" dirty="0"/>
          </a:p>
        </p:txBody>
      </p:sp>
      <p:sp>
        <p:nvSpPr>
          <p:cNvPr id="10" name="Text 8"/>
          <p:cNvSpPr/>
          <p:nvPr/>
        </p:nvSpPr>
        <p:spPr>
          <a:xfrm>
            <a:off x="1508760" y="1463040"/>
            <a:ext cx="9966960" cy="320040"/>
          </a:xfrm>
          <a:prstGeom prst="rect">
            <a:avLst/>
          </a:prstGeom>
          <a:noFill/>
          <a:ln/>
        </p:spPr>
        <p:txBody>
          <a:bodyPr wrap="square" lIns="0" tIns="0" rIns="0" bIns="0" rtlCol="0" anchor="ctr"/>
          <a:lstStyle/>
          <a:p>
            <a:pPr indent="0" marL="0">
              <a:buNone/>
            </a:pPr>
            <a:r>
              <a:rPr lang="en-US" sz="1500" b="1" dirty="0">
                <a:solidFill>
                  <a:srgbClr val="0B1F3F"/>
                </a:solidFill>
                <a:latin typeface="Calibri" pitchFamily="34" charset="0"/>
                <a:ea typeface="Calibri" pitchFamily="34" charset="-122"/>
                <a:cs typeface="Calibri" pitchFamily="34" charset="-120"/>
              </a:rPr>
              <a:t>Types of Mobile Applications</a:t>
            </a:r>
            <a:endParaRPr lang="en-US" sz="1500" dirty="0"/>
          </a:p>
        </p:txBody>
      </p:sp>
      <p:sp>
        <p:nvSpPr>
          <p:cNvPr id="11" name="Text 9"/>
          <p:cNvSpPr/>
          <p:nvPr/>
        </p:nvSpPr>
        <p:spPr>
          <a:xfrm>
            <a:off x="1508760" y="1755648"/>
            <a:ext cx="9966960" cy="292608"/>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Native, Progressive Web App, Hybrid</a:t>
            </a:r>
            <a:endParaRPr lang="en-US" sz="1100" dirty="0"/>
          </a:p>
        </p:txBody>
      </p:sp>
      <p:sp>
        <p:nvSpPr>
          <p:cNvPr id="12" name="Shape 10"/>
          <p:cNvSpPr/>
          <p:nvPr/>
        </p:nvSpPr>
        <p:spPr>
          <a:xfrm>
            <a:off x="548640" y="2249424"/>
            <a:ext cx="11064240" cy="713232"/>
          </a:xfrm>
          <a:prstGeom prst="rect">
            <a:avLst/>
          </a:prstGeom>
          <a:solidFill>
            <a:srgbClr val="FFFFFF"/>
          </a:solidFill>
          <a:ln w="12700">
            <a:solidFill>
              <a:srgbClr val="D6E6F7"/>
            </a:solidFill>
            <a:prstDash val="solid"/>
          </a:ln>
        </p:spPr>
      </p:sp>
      <p:sp>
        <p:nvSpPr>
          <p:cNvPr id="13" name="Shape 11"/>
          <p:cNvSpPr/>
          <p:nvPr/>
        </p:nvSpPr>
        <p:spPr>
          <a:xfrm>
            <a:off x="548640" y="2249424"/>
            <a:ext cx="777240" cy="713232"/>
          </a:xfrm>
          <a:prstGeom prst="rect">
            <a:avLst/>
          </a:prstGeom>
          <a:solidFill>
            <a:srgbClr val="0B1F3F"/>
          </a:solidFill>
          <a:ln w="12700">
            <a:solidFill>
              <a:srgbClr val="0B1F3F"/>
            </a:solidFill>
            <a:prstDash val="solid"/>
          </a:ln>
        </p:spPr>
      </p:sp>
      <p:sp>
        <p:nvSpPr>
          <p:cNvPr id="14" name="Text 12"/>
          <p:cNvSpPr/>
          <p:nvPr/>
        </p:nvSpPr>
        <p:spPr>
          <a:xfrm>
            <a:off x="548640" y="2249424"/>
            <a:ext cx="777240" cy="713232"/>
          </a:xfrm>
          <a:prstGeom prst="rect">
            <a:avLst/>
          </a:prstGeom>
          <a:noFill/>
          <a:ln/>
        </p:spPr>
        <p:txBody>
          <a:bodyPr wrap="square" lIns="0" tIns="0" rIns="0" bIns="0" rtlCol="0" anchor="ctr"/>
          <a:lstStyle/>
          <a:p>
            <a:pPr algn="ctr" indent="0" marL="0">
              <a:buNone/>
            </a:pPr>
            <a:r>
              <a:rPr lang="en-US" sz="2000" b="1" dirty="0">
                <a:solidFill>
                  <a:srgbClr val="C9A227"/>
                </a:solidFill>
                <a:latin typeface="Georgia" pitchFamily="34" charset="0"/>
                <a:ea typeface="Georgia" pitchFamily="34" charset="-122"/>
                <a:cs typeface="Georgia" pitchFamily="34" charset="-120"/>
              </a:rPr>
              <a:t>02</a:t>
            </a:r>
            <a:endParaRPr lang="en-US" sz="2000" dirty="0"/>
          </a:p>
        </p:txBody>
      </p:sp>
      <p:sp>
        <p:nvSpPr>
          <p:cNvPr id="15" name="Text 13"/>
          <p:cNvSpPr/>
          <p:nvPr/>
        </p:nvSpPr>
        <p:spPr>
          <a:xfrm>
            <a:off x="1508760" y="2340864"/>
            <a:ext cx="9966960" cy="320040"/>
          </a:xfrm>
          <a:prstGeom prst="rect">
            <a:avLst/>
          </a:prstGeom>
          <a:noFill/>
          <a:ln/>
        </p:spPr>
        <p:txBody>
          <a:bodyPr wrap="square" lIns="0" tIns="0" rIns="0" bIns="0" rtlCol="0" anchor="ctr"/>
          <a:lstStyle/>
          <a:p>
            <a:pPr indent="0" marL="0">
              <a:buNone/>
            </a:pPr>
            <a:r>
              <a:rPr lang="en-US" sz="1500" b="1" dirty="0">
                <a:solidFill>
                  <a:srgbClr val="0B1F3F"/>
                </a:solidFill>
                <a:latin typeface="Calibri" pitchFamily="34" charset="0"/>
                <a:ea typeface="Calibri" pitchFamily="34" charset="-122"/>
                <a:cs typeface="Calibri" pitchFamily="34" charset="-120"/>
              </a:rPr>
              <a:t>Mobile Apps Programming Languages</a:t>
            </a:r>
            <a:endParaRPr lang="en-US" sz="1500" dirty="0"/>
          </a:p>
        </p:txBody>
      </p:sp>
      <p:sp>
        <p:nvSpPr>
          <p:cNvPr id="16" name="Text 14"/>
          <p:cNvSpPr/>
          <p:nvPr/>
        </p:nvSpPr>
        <p:spPr>
          <a:xfrm>
            <a:off x="1508760" y="2633472"/>
            <a:ext cx="9966960" cy="292608"/>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Kotlin, Java, Swift, Objective-C, Dart, JS/TS, C#</a:t>
            </a:r>
            <a:endParaRPr lang="en-US" sz="1100" dirty="0"/>
          </a:p>
        </p:txBody>
      </p:sp>
      <p:sp>
        <p:nvSpPr>
          <p:cNvPr id="17" name="Shape 15"/>
          <p:cNvSpPr/>
          <p:nvPr/>
        </p:nvSpPr>
        <p:spPr>
          <a:xfrm>
            <a:off x="548640" y="3127248"/>
            <a:ext cx="11064240" cy="713232"/>
          </a:xfrm>
          <a:prstGeom prst="rect">
            <a:avLst/>
          </a:prstGeom>
          <a:solidFill>
            <a:srgbClr val="FFFFFF"/>
          </a:solidFill>
          <a:ln w="12700">
            <a:solidFill>
              <a:srgbClr val="D6E6F7"/>
            </a:solidFill>
            <a:prstDash val="solid"/>
          </a:ln>
        </p:spPr>
      </p:sp>
      <p:sp>
        <p:nvSpPr>
          <p:cNvPr id="18" name="Shape 16"/>
          <p:cNvSpPr/>
          <p:nvPr/>
        </p:nvSpPr>
        <p:spPr>
          <a:xfrm>
            <a:off x="548640" y="3127248"/>
            <a:ext cx="777240" cy="713232"/>
          </a:xfrm>
          <a:prstGeom prst="rect">
            <a:avLst/>
          </a:prstGeom>
          <a:solidFill>
            <a:srgbClr val="0B1F3F"/>
          </a:solidFill>
          <a:ln w="12700">
            <a:solidFill>
              <a:srgbClr val="0B1F3F"/>
            </a:solidFill>
            <a:prstDash val="solid"/>
          </a:ln>
        </p:spPr>
      </p:sp>
      <p:sp>
        <p:nvSpPr>
          <p:cNvPr id="19" name="Text 17"/>
          <p:cNvSpPr/>
          <p:nvPr/>
        </p:nvSpPr>
        <p:spPr>
          <a:xfrm>
            <a:off x="548640" y="3127248"/>
            <a:ext cx="777240" cy="713232"/>
          </a:xfrm>
          <a:prstGeom prst="rect">
            <a:avLst/>
          </a:prstGeom>
          <a:noFill/>
          <a:ln/>
        </p:spPr>
        <p:txBody>
          <a:bodyPr wrap="square" lIns="0" tIns="0" rIns="0" bIns="0" rtlCol="0" anchor="ctr"/>
          <a:lstStyle/>
          <a:p>
            <a:pPr algn="ctr" indent="0" marL="0">
              <a:buNone/>
            </a:pPr>
            <a:r>
              <a:rPr lang="en-US" sz="2000" b="1" dirty="0">
                <a:solidFill>
                  <a:srgbClr val="C9A227"/>
                </a:solidFill>
                <a:latin typeface="Georgia" pitchFamily="34" charset="0"/>
                <a:ea typeface="Georgia" pitchFamily="34" charset="-122"/>
                <a:cs typeface="Georgia" pitchFamily="34" charset="-120"/>
              </a:rPr>
              <a:t>03</a:t>
            </a:r>
            <a:endParaRPr lang="en-US" sz="2000" dirty="0"/>
          </a:p>
        </p:txBody>
      </p:sp>
      <p:sp>
        <p:nvSpPr>
          <p:cNvPr id="20" name="Text 18"/>
          <p:cNvSpPr/>
          <p:nvPr/>
        </p:nvSpPr>
        <p:spPr>
          <a:xfrm>
            <a:off x="1508760" y="3218688"/>
            <a:ext cx="9966960" cy="320040"/>
          </a:xfrm>
          <a:prstGeom prst="rect">
            <a:avLst/>
          </a:prstGeom>
          <a:noFill/>
          <a:ln/>
        </p:spPr>
        <p:txBody>
          <a:bodyPr wrap="square" lIns="0" tIns="0" rIns="0" bIns="0" rtlCol="0" anchor="ctr"/>
          <a:lstStyle/>
          <a:p>
            <a:pPr indent="0" marL="0">
              <a:buNone/>
            </a:pPr>
            <a:r>
              <a:rPr lang="en-US" sz="1500" b="1" dirty="0">
                <a:solidFill>
                  <a:srgbClr val="0B1F3F"/>
                </a:solidFill>
                <a:latin typeface="Calibri" pitchFamily="34" charset="0"/>
                <a:ea typeface="Calibri" pitchFamily="34" charset="-122"/>
                <a:cs typeface="Calibri" pitchFamily="34" charset="-120"/>
              </a:rPr>
              <a:t>Mobile App Development Frameworks</a:t>
            </a:r>
            <a:endParaRPr lang="en-US" sz="1500" dirty="0"/>
          </a:p>
        </p:txBody>
      </p:sp>
      <p:sp>
        <p:nvSpPr>
          <p:cNvPr id="21" name="Text 19"/>
          <p:cNvSpPr/>
          <p:nvPr/>
        </p:nvSpPr>
        <p:spPr>
          <a:xfrm>
            <a:off x="1508760" y="3511296"/>
            <a:ext cx="9966960" cy="292608"/>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Native, cross-platform and hybrid stacks</a:t>
            </a:r>
            <a:endParaRPr lang="en-US" sz="1100" dirty="0"/>
          </a:p>
        </p:txBody>
      </p:sp>
      <p:sp>
        <p:nvSpPr>
          <p:cNvPr id="22" name="Shape 20"/>
          <p:cNvSpPr/>
          <p:nvPr/>
        </p:nvSpPr>
        <p:spPr>
          <a:xfrm>
            <a:off x="548640" y="4005072"/>
            <a:ext cx="11064240" cy="713232"/>
          </a:xfrm>
          <a:prstGeom prst="rect">
            <a:avLst/>
          </a:prstGeom>
          <a:solidFill>
            <a:srgbClr val="FFFFFF"/>
          </a:solidFill>
          <a:ln w="12700">
            <a:solidFill>
              <a:srgbClr val="D6E6F7"/>
            </a:solidFill>
            <a:prstDash val="solid"/>
          </a:ln>
        </p:spPr>
      </p:sp>
      <p:sp>
        <p:nvSpPr>
          <p:cNvPr id="23" name="Shape 21"/>
          <p:cNvSpPr/>
          <p:nvPr/>
        </p:nvSpPr>
        <p:spPr>
          <a:xfrm>
            <a:off x="548640" y="4005072"/>
            <a:ext cx="777240" cy="713232"/>
          </a:xfrm>
          <a:prstGeom prst="rect">
            <a:avLst/>
          </a:prstGeom>
          <a:solidFill>
            <a:srgbClr val="0B1F3F"/>
          </a:solidFill>
          <a:ln w="12700">
            <a:solidFill>
              <a:srgbClr val="0B1F3F"/>
            </a:solidFill>
            <a:prstDash val="solid"/>
          </a:ln>
        </p:spPr>
      </p:sp>
      <p:sp>
        <p:nvSpPr>
          <p:cNvPr id="24" name="Text 22"/>
          <p:cNvSpPr/>
          <p:nvPr/>
        </p:nvSpPr>
        <p:spPr>
          <a:xfrm>
            <a:off x="548640" y="4005072"/>
            <a:ext cx="777240" cy="713232"/>
          </a:xfrm>
          <a:prstGeom prst="rect">
            <a:avLst/>
          </a:prstGeom>
          <a:noFill/>
          <a:ln/>
        </p:spPr>
        <p:txBody>
          <a:bodyPr wrap="square" lIns="0" tIns="0" rIns="0" bIns="0" rtlCol="0" anchor="ctr"/>
          <a:lstStyle/>
          <a:p>
            <a:pPr algn="ctr" indent="0" marL="0">
              <a:buNone/>
            </a:pPr>
            <a:r>
              <a:rPr lang="en-US" sz="2000" b="1" dirty="0">
                <a:solidFill>
                  <a:srgbClr val="C9A227"/>
                </a:solidFill>
                <a:latin typeface="Georgia" pitchFamily="34" charset="0"/>
                <a:ea typeface="Georgia" pitchFamily="34" charset="-122"/>
                <a:cs typeface="Georgia" pitchFamily="34" charset="-120"/>
              </a:rPr>
              <a:t>04</a:t>
            </a:r>
            <a:endParaRPr lang="en-US" sz="2000" dirty="0"/>
          </a:p>
        </p:txBody>
      </p:sp>
      <p:sp>
        <p:nvSpPr>
          <p:cNvPr id="25" name="Text 23"/>
          <p:cNvSpPr/>
          <p:nvPr/>
        </p:nvSpPr>
        <p:spPr>
          <a:xfrm>
            <a:off x="1508760" y="4096512"/>
            <a:ext cx="9966960" cy="320040"/>
          </a:xfrm>
          <a:prstGeom prst="rect">
            <a:avLst/>
          </a:prstGeom>
          <a:noFill/>
          <a:ln/>
        </p:spPr>
        <p:txBody>
          <a:bodyPr wrap="square" lIns="0" tIns="0" rIns="0" bIns="0" rtlCol="0" anchor="ctr"/>
          <a:lstStyle/>
          <a:p>
            <a:pPr indent="0" marL="0">
              <a:buNone/>
            </a:pPr>
            <a:r>
              <a:rPr lang="en-US" sz="1500" b="1" dirty="0">
                <a:solidFill>
                  <a:srgbClr val="0B1F3F"/>
                </a:solidFill>
                <a:latin typeface="Calibri" pitchFamily="34" charset="0"/>
                <a:ea typeface="Calibri" pitchFamily="34" charset="-122"/>
                <a:cs typeface="Calibri" pitchFamily="34" charset="-120"/>
              </a:rPr>
              <a:t>Mobile App Architectures &amp; Design Patterns</a:t>
            </a:r>
            <a:endParaRPr lang="en-US" sz="1500" dirty="0"/>
          </a:p>
        </p:txBody>
      </p:sp>
      <p:sp>
        <p:nvSpPr>
          <p:cNvPr id="26" name="Text 24"/>
          <p:cNvSpPr/>
          <p:nvPr/>
        </p:nvSpPr>
        <p:spPr>
          <a:xfrm>
            <a:off x="1508760" y="4389120"/>
            <a:ext cx="9966960" cy="292608"/>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MVC, MVP, MVVM, Clean, BLoC, Redux</a:t>
            </a:r>
            <a:endParaRPr lang="en-US" sz="1100" dirty="0"/>
          </a:p>
        </p:txBody>
      </p:sp>
      <p:sp>
        <p:nvSpPr>
          <p:cNvPr id="27" name="Shape 25"/>
          <p:cNvSpPr/>
          <p:nvPr/>
        </p:nvSpPr>
        <p:spPr>
          <a:xfrm>
            <a:off x="548640" y="4882896"/>
            <a:ext cx="11064240" cy="713232"/>
          </a:xfrm>
          <a:prstGeom prst="rect">
            <a:avLst/>
          </a:prstGeom>
          <a:solidFill>
            <a:srgbClr val="FFFFFF"/>
          </a:solidFill>
          <a:ln w="12700">
            <a:solidFill>
              <a:srgbClr val="D6E6F7"/>
            </a:solidFill>
            <a:prstDash val="solid"/>
          </a:ln>
        </p:spPr>
      </p:sp>
      <p:sp>
        <p:nvSpPr>
          <p:cNvPr id="28" name="Shape 26"/>
          <p:cNvSpPr/>
          <p:nvPr/>
        </p:nvSpPr>
        <p:spPr>
          <a:xfrm>
            <a:off x="548640" y="4882896"/>
            <a:ext cx="777240" cy="713232"/>
          </a:xfrm>
          <a:prstGeom prst="rect">
            <a:avLst/>
          </a:prstGeom>
          <a:solidFill>
            <a:srgbClr val="0B1F3F"/>
          </a:solidFill>
          <a:ln w="12700">
            <a:solidFill>
              <a:srgbClr val="0B1F3F"/>
            </a:solidFill>
            <a:prstDash val="solid"/>
          </a:ln>
        </p:spPr>
      </p:sp>
      <p:sp>
        <p:nvSpPr>
          <p:cNvPr id="29" name="Text 27"/>
          <p:cNvSpPr/>
          <p:nvPr/>
        </p:nvSpPr>
        <p:spPr>
          <a:xfrm>
            <a:off x="548640" y="4882896"/>
            <a:ext cx="777240" cy="713232"/>
          </a:xfrm>
          <a:prstGeom prst="rect">
            <a:avLst/>
          </a:prstGeom>
          <a:noFill/>
          <a:ln/>
        </p:spPr>
        <p:txBody>
          <a:bodyPr wrap="square" lIns="0" tIns="0" rIns="0" bIns="0" rtlCol="0" anchor="ctr"/>
          <a:lstStyle/>
          <a:p>
            <a:pPr algn="ctr" indent="0" marL="0">
              <a:buNone/>
            </a:pPr>
            <a:r>
              <a:rPr lang="en-US" sz="2000" b="1" dirty="0">
                <a:solidFill>
                  <a:srgbClr val="C9A227"/>
                </a:solidFill>
                <a:latin typeface="Georgia" pitchFamily="34" charset="0"/>
                <a:ea typeface="Georgia" pitchFamily="34" charset="-122"/>
                <a:cs typeface="Georgia" pitchFamily="34" charset="-120"/>
              </a:rPr>
              <a:t>05</a:t>
            </a:r>
            <a:endParaRPr lang="en-US" sz="2000" dirty="0"/>
          </a:p>
        </p:txBody>
      </p:sp>
      <p:sp>
        <p:nvSpPr>
          <p:cNvPr id="30" name="Text 28"/>
          <p:cNvSpPr/>
          <p:nvPr/>
        </p:nvSpPr>
        <p:spPr>
          <a:xfrm>
            <a:off x="1508760" y="4974336"/>
            <a:ext cx="9966960" cy="320040"/>
          </a:xfrm>
          <a:prstGeom prst="rect">
            <a:avLst/>
          </a:prstGeom>
          <a:noFill/>
          <a:ln/>
        </p:spPr>
        <p:txBody>
          <a:bodyPr wrap="square" lIns="0" tIns="0" rIns="0" bIns="0" rtlCol="0" anchor="ctr"/>
          <a:lstStyle/>
          <a:p>
            <a:pPr indent="0" marL="0">
              <a:buNone/>
            </a:pPr>
            <a:r>
              <a:rPr lang="en-US" sz="1500" b="1" dirty="0">
                <a:solidFill>
                  <a:srgbClr val="0B1F3F"/>
                </a:solidFill>
                <a:latin typeface="Calibri" pitchFamily="34" charset="0"/>
                <a:ea typeface="Calibri" pitchFamily="34" charset="-122"/>
                <a:cs typeface="Calibri" pitchFamily="34" charset="-120"/>
              </a:rPr>
              <a:t>Requirement Engineering Process</a:t>
            </a:r>
            <a:endParaRPr lang="en-US" sz="1500" dirty="0"/>
          </a:p>
        </p:txBody>
      </p:sp>
      <p:sp>
        <p:nvSpPr>
          <p:cNvPr id="31" name="Text 29"/>
          <p:cNvSpPr/>
          <p:nvPr/>
        </p:nvSpPr>
        <p:spPr>
          <a:xfrm>
            <a:off x="1508760" y="5266944"/>
            <a:ext cx="9966960" cy="292608"/>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Elicitation, analysis, SRS, validation</a:t>
            </a:r>
            <a:endParaRPr lang="en-US" sz="1100" dirty="0"/>
          </a:p>
        </p:txBody>
      </p:sp>
      <p:sp>
        <p:nvSpPr>
          <p:cNvPr id="32" name="Shape 30"/>
          <p:cNvSpPr/>
          <p:nvPr/>
        </p:nvSpPr>
        <p:spPr>
          <a:xfrm>
            <a:off x="548640" y="5760720"/>
            <a:ext cx="11064240" cy="713232"/>
          </a:xfrm>
          <a:prstGeom prst="rect">
            <a:avLst/>
          </a:prstGeom>
          <a:solidFill>
            <a:srgbClr val="FFFFFF"/>
          </a:solidFill>
          <a:ln w="12700">
            <a:solidFill>
              <a:srgbClr val="D6E6F7"/>
            </a:solidFill>
            <a:prstDash val="solid"/>
          </a:ln>
        </p:spPr>
      </p:sp>
      <p:sp>
        <p:nvSpPr>
          <p:cNvPr id="33" name="Shape 31"/>
          <p:cNvSpPr/>
          <p:nvPr/>
        </p:nvSpPr>
        <p:spPr>
          <a:xfrm>
            <a:off x="548640" y="5760720"/>
            <a:ext cx="777240" cy="713232"/>
          </a:xfrm>
          <a:prstGeom prst="rect">
            <a:avLst/>
          </a:prstGeom>
          <a:solidFill>
            <a:srgbClr val="0B1F3F"/>
          </a:solidFill>
          <a:ln w="12700">
            <a:solidFill>
              <a:srgbClr val="0B1F3F"/>
            </a:solidFill>
            <a:prstDash val="solid"/>
          </a:ln>
        </p:spPr>
      </p:sp>
      <p:sp>
        <p:nvSpPr>
          <p:cNvPr id="34" name="Text 32"/>
          <p:cNvSpPr/>
          <p:nvPr/>
        </p:nvSpPr>
        <p:spPr>
          <a:xfrm>
            <a:off x="548640" y="5760720"/>
            <a:ext cx="777240" cy="713232"/>
          </a:xfrm>
          <a:prstGeom prst="rect">
            <a:avLst/>
          </a:prstGeom>
          <a:noFill/>
          <a:ln/>
        </p:spPr>
        <p:txBody>
          <a:bodyPr wrap="square" lIns="0" tIns="0" rIns="0" bIns="0" rtlCol="0" anchor="ctr"/>
          <a:lstStyle/>
          <a:p>
            <a:pPr algn="ctr" indent="0" marL="0">
              <a:buNone/>
            </a:pPr>
            <a:r>
              <a:rPr lang="en-US" sz="2000" b="1" dirty="0">
                <a:solidFill>
                  <a:srgbClr val="C9A227"/>
                </a:solidFill>
                <a:latin typeface="Georgia" pitchFamily="34" charset="0"/>
                <a:ea typeface="Georgia" pitchFamily="34" charset="-122"/>
                <a:cs typeface="Georgia" pitchFamily="34" charset="-120"/>
              </a:rPr>
              <a:t>06</a:t>
            </a:r>
            <a:endParaRPr lang="en-US" sz="2000" dirty="0"/>
          </a:p>
        </p:txBody>
      </p:sp>
      <p:sp>
        <p:nvSpPr>
          <p:cNvPr id="35" name="Text 33"/>
          <p:cNvSpPr/>
          <p:nvPr/>
        </p:nvSpPr>
        <p:spPr>
          <a:xfrm>
            <a:off x="1508760" y="5852160"/>
            <a:ext cx="9966960" cy="320040"/>
          </a:xfrm>
          <a:prstGeom prst="rect">
            <a:avLst/>
          </a:prstGeom>
          <a:noFill/>
          <a:ln/>
        </p:spPr>
        <p:txBody>
          <a:bodyPr wrap="square" lIns="0" tIns="0" rIns="0" bIns="0" rtlCol="0" anchor="ctr"/>
          <a:lstStyle/>
          <a:p>
            <a:pPr indent="0" marL="0">
              <a:buNone/>
            </a:pPr>
            <a:r>
              <a:rPr lang="en-US" sz="1500" b="1" dirty="0">
                <a:solidFill>
                  <a:srgbClr val="0B1F3F"/>
                </a:solidFill>
                <a:latin typeface="Calibri" pitchFamily="34" charset="0"/>
                <a:ea typeface="Calibri" pitchFamily="34" charset="-122"/>
                <a:cs typeface="Calibri" pitchFamily="34" charset="-120"/>
              </a:rPr>
              <a:t>Mobile App Development Cost Estimation</a:t>
            </a:r>
            <a:endParaRPr lang="en-US" sz="1500" dirty="0"/>
          </a:p>
        </p:txBody>
      </p:sp>
      <p:sp>
        <p:nvSpPr>
          <p:cNvPr id="36" name="Text 34"/>
          <p:cNvSpPr/>
          <p:nvPr/>
        </p:nvSpPr>
        <p:spPr>
          <a:xfrm>
            <a:off x="1508760" y="6144768"/>
            <a:ext cx="9966960" cy="292608"/>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Scope, hours, rates, overheads</a:t>
            </a:r>
            <a:endParaRPr lang="en-US" sz="1100" dirty="0"/>
          </a:p>
        </p:txBody>
      </p:sp>
      <p:sp>
        <p:nvSpPr>
          <p:cNvPr id="37" name="Text 35"/>
          <p:cNvSpPr/>
          <p:nvPr/>
        </p:nvSpPr>
        <p:spPr>
          <a:xfrm>
            <a:off x="11064240" y="6492240"/>
            <a:ext cx="640080" cy="274320"/>
          </a:xfrm>
          <a:prstGeom prst="rect">
            <a:avLst/>
          </a:prstGeom>
          <a:noFill/>
          <a:ln/>
        </p:spPr>
        <p:txBody>
          <a:bodyPr wrap="square" lIns="0" tIns="0" rIns="0" bIns="0" rtlCol="0" anchor="ctr"/>
          <a:lstStyle/>
          <a:p>
            <a:pPr algn="r" indent="0" marL="0">
              <a:buNone/>
            </a:pPr>
            <a:r>
              <a:rPr lang="en-US" sz="900" dirty="0">
                <a:solidFill>
                  <a:srgbClr val="5B6B80"/>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B1F3F"/>
          </a:solidFill>
          <a:ln w="12700">
            <a:solidFill>
              <a:srgbClr val="0B1F3F"/>
            </a:solidFill>
            <a:prstDash val="solid"/>
          </a:ln>
        </p:spPr>
      </p:sp>
      <p:sp>
        <p:nvSpPr>
          <p:cNvPr id="3" name="Shape 1"/>
          <p:cNvSpPr/>
          <p:nvPr/>
        </p:nvSpPr>
        <p:spPr>
          <a:xfrm>
            <a:off x="457200" y="320040"/>
            <a:ext cx="109728" cy="365760"/>
          </a:xfrm>
          <a:prstGeom prst="rect">
            <a:avLst/>
          </a:prstGeom>
          <a:solidFill>
            <a:srgbClr val="C9A227"/>
          </a:solidFill>
          <a:ln w="12700">
            <a:solidFill>
              <a:srgbClr val="C9A227"/>
            </a:solidFill>
            <a:prstDash val="solid"/>
          </a:ln>
        </p:spPr>
      </p:sp>
      <p:sp>
        <p:nvSpPr>
          <p:cNvPr id="4" name="Text 2"/>
          <p:cNvSpPr/>
          <p:nvPr/>
        </p:nvSpPr>
        <p:spPr>
          <a:xfrm>
            <a:off x="685800" y="256032"/>
            <a:ext cx="7315200" cy="274320"/>
          </a:xfrm>
          <a:prstGeom prst="rect">
            <a:avLst/>
          </a:prstGeom>
          <a:noFill/>
          <a:ln/>
        </p:spPr>
        <p:txBody>
          <a:bodyPr wrap="square" lIns="0" tIns="0" rIns="0" bIns="0" rtlCol="0" anchor="ctr"/>
          <a:lstStyle/>
          <a:p>
            <a:pPr indent="0" marL="0">
              <a:buNone/>
            </a:pPr>
            <a:r>
              <a:rPr lang="en-US" sz="1100" b="1" spc="200" kern="0" dirty="0">
                <a:solidFill>
                  <a:srgbClr val="D6E6F7"/>
                </a:solidFill>
                <a:latin typeface="Calibri" pitchFamily="34" charset="0"/>
                <a:ea typeface="Calibri" pitchFamily="34" charset="-122"/>
                <a:cs typeface="Calibri" pitchFamily="34" charset="-120"/>
              </a:rPr>
              <a:t>01  ·  CATEGORIES</a:t>
            </a:r>
            <a:endParaRPr lang="en-US" sz="1100" dirty="0"/>
          </a:p>
        </p:txBody>
      </p:sp>
      <p:sp>
        <p:nvSpPr>
          <p:cNvPr id="5" name="Text 3"/>
          <p:cNvSpPr/>
          <p:nvPr/>
        </p:nvSpPr>
        <p:spPr>
          <a:xfrm>
            <a:off x="685800" y="502920"/>
            <a:ext cx="10058400" cy="50292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Three App Types: Structural Comparison</a:t>
            </a:r>
            <a:endParaRPr lang="en-US" sz="24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Group 12  ·  University of Buea  ·  FET</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03120"/>
                <a:gridCol w="2743200"/>
                <a:gridCol w="3200400"/>
                <a:gridCol w="3017520"/>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0B1F3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Native</a:t>
                      </a:r>
                      <a:endParaRPr lang="en-US" sz="12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0B1F3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Progressive Web App</a:t>
                      </a:r>
                      <a:endParaRPr lang="en-US" sz="12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0B1F3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Hybrid</a:t>
                      </a:r>
                      <a:endParaRPr lang="en-US" sz="12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0B1F3F"/>
                    </a:solidFill>
                  </a:tcPr>
                </a:tc>
              </a:tr>
              <a:tr h="457200">
                <a:tc>
                  <a:txBody>
                    <a:bodyPr/>
                    <a:lstStyle/>
                    <a:p>
                      <a:pPr algn="l" indent="0" marL="0">
                        <a:buNone/>
                      </a:pPr>
                      <a:r>
                        <a:rPr lang="en-US" sz="1100" b="1" dirty="0">
                          <a:solidFill>
                            <a:srgbClr val="0B1F3F"/>
                          </a:solidFill>
                          <a:latin typeface="Calibri" pitchFamily="34" charset="0"/>
                          <a:ea typeface="Calibri" pitchFamily="34" charset="-122"/>
                          <a:cs typeface="Calibri" pitchFamily="34" charset="-120"/>
                        </a:rPr>
                        <a:t>User Experience</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D6E6F7"/>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Seamless, platform-native</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Good — browser-dependent</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Solid, some latency</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0B1F3F"/>
                          </a:solidFill>
                          <a:latin typeface="Calibri" pitchFamily="34" charset="0"/>
                          <a:ea typeface="Calibri" pitchFamily="34" charset="-122"/>
                          <a:cs typeface="Calibri" pitchFamily="34" charset="-120"/>
                        </a:rPr>
                        <a:t>Development Cost</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D6E6F7"/>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High — two codebases</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Low — single codebase</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0B1F3F"/>
                          </a:solidFill>
                          <a:latin typeface="Calibri" pitchFamily="34" charset="0"/>
                          <a:ea typeface="Calibri" pitchFamily="34" charset="-122"/>
                          <a:cs typeface="Calibri" pitchFamily="34" charset="-120"/>
                        </a:rPr>
                        <a:t>Distribution</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D6E6F7"/>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App stores</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Web browser / URL</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App stores</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0B1F3F"/>
                          </a:solidFill>
                          <a:latin typeface="Calibri" pitchFamily="34" charset="0"/>
                          <a:ea typeface="Calibri" pitchFamily="34" charset="-122"/>
                          <a:cs typeface="Calibri" pitchFamily="34" charset="-120"/>
                        </a:rPr>
                        <a:t>Update Delivery</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D6E6F7"/>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Store review required</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Instant, server-side</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Store review required</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0B1F3F"/>
                          </a:solidFill>
                          <a:latin typeface="Calibri" pitchFamily="34" charset="0"/>
                          <a:ea typeface="Calibri" pitchFamily="34" charset="-122"/>
                          <a:cs typeface="Calibri" pitchFamily="34" charset="-120"/>
                        </a:rPr>
                        <a:t>Offline Capability</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D6E6F7"/>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Excellent</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Limited</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Good</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0B1F3F"/>
                          </a:solidFill>
                          <a:latin typeface="Calibri" pitchFamily="34" charset="0"/>
                          <a:ea typeface="Calibri" pitchFamily="34" charset="-122"/>
                          <a:cs typeface="Calibri" pitchFamily="34" charset="-120"/>
                        </a:rPr>
                        <a:t>Hardware Access</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D6E6F7"/>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Full</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Limited by browser</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Partial via plugins</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0B1F3F"/>
                          </a:solidFill>
                          <a:latin typeface="Calibri" pitchFamily="34" charset="0"/>
                          <a:ea typeface="Calibri" pitchFamily="34" charset="-122"/>
                          <a:cs typeface="Calibri" pitchFamily="34" charset="-120"/>
                        </a:rPr>
                        <a:t>Performance</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D6E6F7"/>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Highest</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Medium</a:t>
                      </a:r>
                      <a:endParaRPr lang="en-US" sz="11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r>
            </a:tbl>
          </a:graphicData>
        </a:graphic>
      </p:graphicFrame>
      <p:sp>
        <p:nvSpPr>
          <p:cNvPr id="8" name="Text 5"/>
          <p:cNvSpPr/>
          <p:nvPr/>
        </p:nvSpPr>
        <p:spPr>
          <a:xfrm>
            <a:off x="5029200" y="6492240"/>
            <a:ext cx="5943600" cy="274320"/>
          </a:xfrm>
          <a:prstGeom prst="rect">
            <a:avLst/>
          </a:prstGeom>
          <a:noFill/>
          <a:ln/>
        </p:spPr>
        <p:txBody>
          <a:bodyPr wrap="square" lIns="0" tIns="0" rIns="0" bIns="0" rtlCol="0" anchor="ctr"/>
          <a:lstStyle/>
          <a:p>
            <a:pPr algn="r" indent="0" marL="0">
              <a:buNone/>
            </a:pPr>
            <a:r>
              <a:rPr lang="en-US" sz="900" i="1" dirty="0">
                <a:solidFill>
                  <a:srgbClr val="5B6B80"/>
                </a:solidFill>
                <a:latin typeface="Calibri" pitchFamily="34" charset="0"/>
                <a:ea typeface="Calibri" pitchFamily="34" charset="-122"/>
                <a:cs typeface="Calibri" pitchFamily="34" charset="-120"/>
              </a:rPr>
              <a:t>Source: CEF 440 Task 1 Report, Table 1.1 (p. 5)</a:t>
            </a:r>
            <a:endParaRPr lang="en-US" sz="900" dirty="0"/>
          </a:p>
        </p:txBody>
      </p:sp>
      <p:sp>
        <p:nvSpPr>
          <p:cNvPr id="9" name="Text 6"/>
          <p:cNvSpPr/>
          <p:nvPr/>
        </p:nvSpPr>
        <p:spPr>
          <a:xfrm>
            <a:off x="11064240" y="6492240"/>
            <a:ext cx="640080" cy="274320"/>
          </a:xfrm>
          <a:prstGeom prst="rect">
            <a:avLst/>
          </a:prstGeom>
          <a:noFill/>
          <a:ln/>
        </p:spPr>
        <p:txBody>
          <a:bodyPr wrap="square" lIns="0" tIns="0" rIns="0" bIns="0" rtlCol="0" anchor="ctr"/>
          <a:lstStyle/>
          <a:p>
            <a:pPr algn="r" indent="0" marL="0">
              <a:buNone/>
            </a:pPr>
            <a:r>
              <a:rPr lang="en-US" sz="900" dirty="0">
                <a:solidFill>
                  <a:srgbClr val="5B6B80"/>
                </a:solidFill>
                <a:latin typeface="Calibri" pitchFamily="34" charset="0"/>
                <a:ea typeface="Calibri" pitchFamily="34" charset="-122"/>
                <a:cs typeface="Calibri"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B1F3F"/>
          </a:solidFill>
          <a:ln w="12700">
            <a:solidFill>
              <a:srgbClr val="0B1F3F"/>
            </a:solidFill>
            <a:prstDash val="solid"/>
          </a:ln>
        </p:spPr>
      </p:sp>
      <p:sp>
        <p:nvSpPr>
          <p:cNvPr id="3" name="Shape 1"/>
          <p:cNvSpPr/>
          <p:nvPr/>
        </p:nvSpPr>
        <p:spPr>
          <a:xfrm>
            <a:off x="457200" y="320040"/>
            <a:ext cx="109728" cy="365760"/>
          </a:xfrm>
          <a:prstGeom prst="rect">
            <a:avLst/>
          </a:prstGeom>
          <a:solidFill>
            <a:srgbClr val="C9A227"/>
          </a:solidFill>
          <a:ln w="12700">
            <a:solidFill>
              <a:srgbClr val="C9A227"/>
            </a:solidFill>
            <a:prstDash val="solid"/>
          </a:ln>
        </p:spPr>
      </p:sp>
      <p:sp>
        <p:nvSpPr>
          <p:cNvPr id="4" name="Text 2"/>
          <p:cNvSpPr/>
          <p:nvPr/>
        </p:nvSpPr>
        <p:spPr>
          <a:xfrm>
            <a:off x="685800" y="256032"/>
            <a:ext cx="7315200" cy="274320"/>
          </a:xfrm>
          <a:prstGeom prst="rect">
            <a:avLst/>
          </a:prstGeom>
          <a:noFill/>
          <a:ln/>
        </p:spPr>
        <p:txBody>
          <a:bodyPr wrap="square" lIns="0" tIns="0" rIns="0" bIns="0" rtlCol="0" anchor="ctr"/>
          <a:lstStyle/>
          <a:p>
            <a:pPr indent="0" marL="0">
              <a:buNone/>
            </a:pPr>
            <a:r>
              <a:rPr lang="en-US" sz="1100" b="1" spc="200" kern="0" dirty="0">
                <a:solidFill>
                  <a:srgbClr val="D6E6F7"/>
                </a:solidFill>
                <a:latin typeface="Calibri" pitchFamily="34" charset="0"/>
                <a:ea typeface="Calibri" pitchFamily="34" charset="-122"/>
                <a:cs typeface="Calibri" pitchFamily="34" charset="-120"/>
              </a:rPr>
              <a:t>01  ·  CATEGORIES (cont'd)</a:t>
            </a:r>
            <a:endParaRPr lang="en-US" sz="1100" dirty="0"/>
          </a:p>
        </p:txBody>
      </p:sp>
      <p:sp>
        <p:nvSpPr>
          <p:cNvPr id="5" name="Text 3"/>
          <p:cNvSpPr/>
          <p:nvPr/>
        </p:nvSpPr>
        <p:spPr>
          <a:xfrm>
            <a:off x="685800" y="502920"/>
            <a:ext cx="10058400" cy="50292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When to Choose Which</a:t>
            </a:r>
            <a:endParaRPr lang="en-US" sz="24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Group 12  ·  University of Buea  ·  FET</a:t>
            </a:r>
            <a:endParaRPr lang="en-US" sz="900" dirty="0"/>
          </a:p>
        </p:txBody>
      </p:sp>
      <p:sp>
        <p:nvSpPr>
          <p:cNvPr id="7" name="Shape 5"/>
          <p:cNvSpPr/>
          <p:nvPr/>
        </p:nvSpPr>
        <p:spPr>
          <a:xfrm>
            <a:off x="365760" y="1371600"/>
            <a:ext cx="3657600" cy="4206240"/>
          </a:xfrm>
          <a:prstGeom prst="rect">
            <a:avLst/>
          </a:prstGeom>
          <a:solidFill>
            <a:srgbClr val="FFFFFF"/>
          </a:solidFill>
          <a:ln w="12700">
            <a:solidFill>
              <a:srgbClr val="C9D5E3"/>
            </a:solidFill>
            <a:prstDash val="solid"/>
          </a:ln>
        </p:spPr>
      </p:sp>
      <p:sp>
        <p:nvSpPr>
          <p:cNvPr id="8" name="Shape 6"/>
          <p:cNvSpPr/>
          <p:nvPr/>
        </p:nvSpPr>
        <p:spPr>
          <a:xfrm>
            <a:off x="365760" y="1371600"/>
            <a:ext cx="3657600" cy="640080"/>
          </a:xfrm>
          <a:prstGeom prst="rect">
            <a:avLst/>
          </a:prstGeom>
          <a:solidFill>
            <a:srgbClr val="0B1F3F"/>
          </a:solidFill>
          <a:ln w="12700">
            <a:solidFill>
              <a:srgbClr val="0B1F3F"/>
            </a:solidFill>
            <a:prstDash val="solid"/>
          </a:ln>
        </p:spPr>
      </p:sp>
      <p:sp>
        <p:nvSpPr>
          <p:cNvPr id="9" name="Text 7"/>
          <p:cNvSpPr/>
          <p:nvPr/>
        </p:nvSpPr>
        <p:spPr>
          <a:xfrm>
            <a:off x="548640" y="1536192"/>
            <a:ext cx="3291840" cy="365760"/>
          </a:xfrm>
          <a:prstGeom prst="rect">
            <a:avLst/>
          </a:prstGeom>
          <a:noFill/>
          <a:ln/>
        </p:spPr>
        <p:txBody>
          <a:bodyPr wrap="square" lIns="0" tIns="0" rIns="0" bIns="0"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CHOOSE NATIVE WHEN</a:t>
            </a:r>
            <a:endParaRPr lang="en-US" sz="1200" dirty="0"/>
          </a:p>
        </p:txBody>
      </p:sp>
      <p:sp>
        <p:nvSpPr>
          <p:cNvPr id="10" name="Text 8"/>
          <p:cNvSpPr/>
          <p:nvPr/>
        </p:nvSpPr>
        <p:spPr>
          <a:xfrm>
            <a:off x="594360" y="2240280"/>
            <a:ext cx="3200400" cy="32004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Performance is non-negotiable (games, AR, real-time media)</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You depend on platform-specific hardware (NFC, Bluetooth LE, biometrics)</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Your team has Kotlin/Swift specialists already</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Long product lifetime justifies two codebases</a:t>
            </a:r>
            <a:endParaRPr lang="en-US" sz="1200" dirty="0"/>
          </a:p>
        </p:txBody>
      </p:sp>
      <p:sp>
        <p:nvSpPr>
          <p:cNvPr id="11" name="Shape 9"/>
          <p:cNvSpPr/>
          <p:nvPr/>
        </p:nvSpPr>
        <p:spPr>
          <a:xfrm>
            <a:off x="4251960" y="1371600"/>
            <a:ext cx="3657600" cy="4206240"/>
          </a:xfrm>
          <a:prstGeom prst="rect">
            <a:avLst/>
          </a:prstGeom>
          <a:solidFill>
            <a:srgbClr val="FFFFFF"/>
          </a:solidFill>
          <a:ln w="12700">
            <a:solidFill>
              <a:srgbClr val="C9D5E3"/>
            </a:solidFill>
            <a:prstDash val="solid"/>
          </a:ln>
        </p:spPr>
      </p:sp>
      <p:sp>
        <p:nvSpPr>
          <p:cNvPr id="12" name="Shape 10"/>
          <p:cNvSpPr/>
          <p:nvPr/>
        </p:nvSpPr>
        <p:spPr>
          <a:xfrm>
            <a:off x="4251960" y="1371600"/>
            <a:ext cx="3657600" cy="640080"/>
          </a:xfrm>
          <a:prstGeom prst="rect">
            <a:avLst/>
          </a:prstGeom>
          <a:solidFill>
            <a:srgbClr val="4A90E2"/>
          </a:solidFill>
          <a:ln w="12700">
            <a:solidFill>
              <a:srgbClr val="4A90E2"/>
            </a:solidFill>
            <a:prstDash val="solid"/>
          </a:ln>
        </p:spPr>
      </p:sp>
      <p:sp>
        <p:nvSpPr>
          <p:cNvPr id="13" name="Text 11"/>
          <p:cNvSpPr/>
          <p:nvPr/>
        </p:nvSpPr>
        <p:spPr>
          <a:xfrm>
            <a:off x="4434840" y="1536192"/>
            <a:ext cx="3291840" cy="365760"/>
          </a:xfrm>
          <a:prstGeom prst="rect">
            <a:avLst/>
          </a:prstGeom>
          <a:noFill/>
          <a:ln/>
        </p:spPr>
        <p:txBody>
          <a:bodyPr wrap="square" lIns="0" tIns="0" rIns="0" bIns="0"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CHOOSE PWA WHEN</a:t>
            </a:r>
            <a:endParaRPr lang="en-US" sz="1200" dirty="0"/>
          </a:p>
        </p:txBody>
      </p:sp>
      <p:sp>
        <p:nvSpPr>
          <p:cNvPr id="14" name="Text 12"/>
          <p:cNvSpPr/>
          <p:nvPr/>
        </p:nvSpPr>
        <p:spPr>
          <a:xfrm>
            <a:off x="4480560" y="2240280"/>
            <a:ext cx="3200400" cy="32004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Reach matters more than depth (information, commerce, content)</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You need instant, server-side updates</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Storage and install friction must be near-zero</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Hardware needs are limited to camera, location, notifications</a:t>
            </a:r>
            <a:endParaRPr lang="en-US" sz="1200" dirty="0"/>
          </a:p>
        </p:txBody>
      </p:sp>
      <p:sp>
        <p:nvSpPr>
          <p:cNvPr id="15" name="Shape 13"/>
          <p:cNvSpPr/>
          <p:nvPr/>
        </p:nvSpPr>
        <p:spPr>
          <a:xfrm>
            <a:off x="8138160" y="1371600"/>
            <a:ext cx="3657600" cy="4206240"/>
          </a:xfrm>
          <a:prstGeom prst="rect">
            <a:avLst/>
          </a:prstGeom>
          <a:solidFill>
            <a:srgbClr val="FFFFFF"/>
          </a:solidFill>
          <a:ln w="12700">
            <a:solidFill>
              <a:srgbClr val="C9D5E3"/>
            </a:solidFill>
            <a:prstDash val="solid"/>
          </a:ln>
        </p:spPr>
      </p:sp>
      <p:sp>
        <p:nvSpPr>
          <p:cNvPr id="16" name="Shape 14"/>
          <p:cNvSpPr/>
          <p:nvPr/>
        </p:nvSpPr>
        <p:spPr>
          <a:xfrm>
            <a:off x="8138160" y="1371600"/>
            <a:ext cx="3657600" cy="640080"/>
          </a:xfrm>
          <a:prstGeom prst="rect">
            <a:avLst/>
          </a:prstGeom>
          <a:solidFill>
            <a:srgbClr val="C9A227"/>
          </a:solidFill>
          <a:ln w="12700">
            <a:solidFill>
              <a:srgbClr val="C9A227"/>
            </a:solidFill>
            <a:prstDash val="solid"/>
          </a:ln>
        </p:spPr>
      </p:sp>
      <p:sp>
        <p:nvSpPr>
          <p:cNvPr id="17" name="Text 15"/>
          <p:cNvSpPr/>
          <p:nvPr/>
        </p:nvSpPr>
        <p:spPr>
          <a:xfrm>
            <a:off x="8321040" y="1536192"/>
            <a:ext cx="3291840" cy="365760"/>
          </a:xfrm>
          <a:prstGeom prst="rect">
            <a:avLst/>
          </a:prstGeom>
          <a:noFill/>
          <a:ln/>
        </p:spPr>
        <p:txBody>
          <a:bodyPr wrap="square" lIns="0" tIns="0" rIns="0" bIns="0"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CHOOSE HYBRID WHEN</a:t>
            </a:r>
            <a:endParaRPr lang="en-US" sz="1200" dirty="0"/>
          </a:p>
        </p:txBody>
      </p:sp>
      <p:sp>
        <p:nvSpPr>
          <p:cNvPr id="18" name="Text 16"/>
          <p:cNvSpPr/>
          <p:nvPr/>
        </p:nvSpPr>
        <p:spPr>
          <a:xfrm>
            <a:off x="8366760" y="2240280"/>
            <a:ext cx="3200400" cy="32004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App-store presence is required, but two codebases are not justified</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Your team is web-first (JS/TS/HTML/CSS)</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Feature set is mostly views over an API, not heavy compute</a:t>
            </a:r>
            <a:endParaRPr lang="en-US" sz="1200" dirty="0"/>
          </a:p>
          <a:p>
            <a:pPr marL="342900" indent="-342900">
              <a:spcAft>
                <a:spcPts val="800"/>
              </a:spcAft>
              <a:buSzPct val="100000"/>
              <a:buChar char="■"/>
            </a:pPr>
            <a:r>
              <a:rPr lang="en-US" sz="1200" dirty="0">
                <a:solidFill>
                  <a:srgbClr val="1A1A1A"/>
                </a:solidFill>
                <a:latin typeface="Calibri" pitchFamily="34" charset="0"/>
                <a:ea typeface="Calibri" pitchFamily="34" charset="-122"/>
                <a:cs typeface="Calibri" pitchFamily="34" charset="-120"/>
              </a:rPr>
              <a:t>Time-to-market dominates everything else</a:t>
            </a:r>
            <a:endParaRPr lang="en-US" sz="1200" dirty="0"/>
          </a:p>
        </p:txBody>
      </p:sp>
      <p:sp>
        <p:nvSpPr>
          <p:cNvPr id="19" name="Text 17"/>
          <p:cNvSpPr/>
          <p:nvPr/>
        </p:nvSpPr>
        <p:spPr>
          <a:xfrm>
            <a:off x="548640" y="5852160"/>
            <a:ext cx="11064240" cy="365760"/>
          </a:xfrm>
          <a:prstGeom prst="rect">
            <a:avLst/>
          </a:prstGeom>
          <a:noFill/>
          <a:ln/>
        </p:spPr>
        <p:txBody>
          <a:bodyPr wrap="square" lIns="0" tIns="0" rIns="0" bIns="0" rtlCol="0" anchor="ctr"/>
          <a:lstStyle/>
          <a:p>
            <a:pPr algn="ctr" indent="0" marL="0">
              <a:buNone/>
            </a:pPr>
            <a:r>
              <a:rPr lang="en-US" sz="1400" i="1" dirty="0">
                <a:solidFill>
                  <a:srgbClr val="0B1F3F"/>
                </a:solidFill>
                <a:latin typeface="Georgia" pitchFamily="34" charset="0"/>
                <a:ea typeface="Georgia" pitchFamily="34" charset="-122"/>
                <a:cs typeface="Georgia" pitchFamily="34" charset="-120"/>
              </a:rPr>
              <a:t>The wrong question is "which is best?" — the right one is "best for what?"</a:t>
            </a:r>
            <a:endParaRPr lang="en-US" sz="1400" dirty="0"/>
          </a:p>
        </p:txBody>
      </p:sp>
      <p:sp>
        <p:nvSpPr>
          <p:cNvPr id="20" name="Text 18"/>
          <p:cNvSpPr/>
          <p:nvPr/>
        </p:nvSpPr>
        <p:spPr>
          <a:xfrm>
            <a:off x="11064240" y="6492240"/>
            <a:ext cx="640080" cy="274320"/>
          </a:xfrm>
          <a:prstGeom prst="rect">
            <a:avLst/>
          </a:prstGeom>
          <a:noFill/>
          <a:ln/>
        </p:spPr>
        <p:txBody>
          <a:bodyPr wrap="square" lIns="0" tIns="0" rIns="0" bIns="0" rtlCol="0" anchor="ctr"/>
          <a:lstStyle/>
          <a:p>
            <a:pPr algn="r" indent="0" marL="0">
              <a:buNone/>
            </a:pPr>
            <a:r>
              <a:rPr lang="en-US" sz="900" dirty="0">
                <a:solidFill>
                  <a:srgbClr val="5B6B80"/>
                </a:solidFill>
                <a:latin typeface="Calibri" pitchFamily="34" charset="0"/>
                <a:ea typeface="Calibri" pitchFamily="34" charset="-122"/>
                <a:cs typeface="Calibr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B1F3F"/>
          </a:solidFill>
          <a:ln w="12700">
            <a:solidFill>
              <a:srgbClr val="0B1F3F"/>
            </a:solidFill>
            <a:prstDash val="solid"/>
          </a:ln>
        </p:spPr>
      </p:sp>
      <p:sp>
        <p:nvSpPr>
          <p:cNvPr id="3" name="Shape 1"/>
          <p:cNvSpPr/>
          <p:nvPr/>
        </p:nvSpPr>
        <p:spPr>
          <a:xfrm>
            <a:off x="457200" y="320040"/>
            <a:ext cx="109728" cy="365760"/>
          </a:xfrm>
          <a:prstGeom prst="rect">
            <a:avLst/>
          </a:prstGeom>
          <a:solidFill>
            <a:srgbClr val="C9A227"/>
          </a:solidFill>
          <a:ln w="12700">
            <a:solidFill>
              <a:srgbClr val="C9A227"/>
            </a:solidFill>
            <a:prstDash val="solid"/>
          </a:ln>
        </p:spPr>
      </p:sp>
      <p:sp>
        <p:nvSpPr>
          <p:cNvPr id="4" name="Text 2"/>
          <p:cNvSpPr/>
          <p:nvPr/>
        </p:nvSpPr>
        <p:spPr>
          <a:xfrm>
            <a:off x="685800" y="256032"/>
            <a:ext cx="7315200" cy="274320"/>
          </a:xfrm>
          <a:prstGeom prst="rect">
            <a:avLst/>
          </a:prstGeom>
          <a:noFill/>
          <a:ln/>
        </p:spPr>
        <p:txBody>
          <a:bodyPr wrap="square" lIns="0" tIns="0" rIns="0" bIns="0" rtlCol="0" anchor="ctr"/>
          <a:lstStyle/>
          <a:p>
            <a:pPr indent="0" marL="0">
              <a:buNone/>
            </a:pPr>
            <a:r>
              <a:rPr lang="en-US" sz="1100" b="1" spc="200" kern="0" dirty="0">
                <a:solidFill>
                  <a:srgbClr val="D6E6F7"/>
                </a:solidFill>
                <a:latin typeface="Calibri" pitchFamily="34" charset="0"/>
                <a:ea typeface="Calibri" pitchFamily="34" charset="-122"/>
                <a:cs typeface="Calibri" pitchFamily="34" charset="-120"/>
              </a:rPr>
              <a:t>02  ·  LANGUAGES</a:t>
            </a:r>
            <a:endParaRPr lang="en-US" sz="1100" dirty="0"/>
          </a:p>
        </p:txBody>
      </p:sp>
      <p:sp>
        <p:nvSpPr>
          <p:cNvPr id="5" name="Text 3"/>
          <p:cNvSpPr/>
          <p:nvPr/>
        </p:nvSpPr>
        <p:spPr>
          <a:xfrm>
            <a:off x="685800" y="502920"/>
            <a:ext cx="10058400" cy="50292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Mobile Programming Languages</a:t>
            </a:r>
            <a:endParaRPr lang="en-US" sz="24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Group 12  ·  University of Buea  ·  FET</a:t>
            </a:r>
            <a:endParaRPr lang="en-US" sz="900" dirty="0"/>
          </a:p>
        </p:txBody>
      </p:sp>
      <p:sp>
        <p:nvSpPr>
          <p:cNvPr id="7" name="Shape 5"/>
          <p:cNvSpPr/>
          <p:nvPr/>
        </p:nvSpPr>
        <p:spPr>
          <a:xfrm>
            <a:off x="548640" y="1280160"/>
            <a:ext cx="5715000" cy="5120640"/>
          </a:xfrm>
          <a:prstGeom prst="rect">
            <a:avLst/>
          </a:prstGeom>
          <a:solidFill>
            <a:srgbClr val="FFFFFF"/>
          </a:solidFill>
          <a:ln w="12700">
            <a:solidFill>
              <a:srgbClr val="C9D5E3"/>
            </a:solidFill>
            <a:prstDash val="solid"/>
          </a:ln>
        </p:spPr>
      </p:sp>
      <p:sp>
        <p:nvSpPr>
          <p:cNvPr id="8" name="Shape 6"/>
          <p:cNvSpPr/>
          <p:nvPr/>
        </p:nvSpPr>
        <p:spPr>
          <a:xfrm>
            <a:off x="548640" y="1280160"/>
            <a:ext cx="5715000" cy="548640"/>
          </a:xfrm>
          <a:prstGeom prst="rect">
            <a:avLst/>
          </a:prstGeom>
          <a:solidFill>
            <a:srgbClr val="0B1F3F"/>
          </a:solidFill>
          <a:ln w="12700">
            <a:solidFill>
              <a:srgbClr val="0B1F3F"/>
            </a:solidFill>
            <a:prstDash val="solid"/>
          </a:ln>
        </p:spPr>
      </p:sp>
      <p:sp>
        <p:nvSpPr>
          <p:cNvPr id="9" name="Text 7"/>
          <p:cNvSpPr/>
          <p:nvPr/>
        </p:nvSpPr>
        <p:spPr>
          <a:xfrm>
            <a:off x="822960" y="1371600"/>
            <a:ext cx="5166360" cy="22860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NATIVE</a:t>
            </a:r>
            <a:endParaRPr lang="en-US" sz="1100" dirty="0"/>
          </a:p>
        </p:txBody>
      </p:sp>
      <p:sp>
        <p:nvSpPr>
          <p:cNvPr id="10" name="Text 8"/>
          <p:cNvSpPr/>
          <p:nvPr/>
        </p:nvSpPr>
        <p:spPr>
          <a:xfrm>
            <a:off x="822960" y="1572768"/>
            <a:ext cx="5166360" cy="228600"/>
          </a:xfrm>
          <a:prstGeom prst="rect">
            <a:avLst/>
          </a:prstGeom>
          <a:noFill/>
          <a:ln/>
        </p:spPr>
        <p:txBody>
          <a:bodyPr wrap="square" lIns="0" tIns="0" rIns="0" bIns="0" rtlCol="0" anchor="ctr"/>
          <a:lstStyle/>
          <a:p>
            <a:pPr indent="0" marL="0">
              <a:buNone/>
            </a:pPr>
            <a:r>
              <a:rPr lang="en-US" sz="1000" i="1" dirty="0">
                <a:solidFill>
                  <a:srgbClr val="FFFFFF"/>
                </a:solidFill>
                <a:latin typeface="Calibri" pitchFamily="34" charset="0"/>
                <a:ea typeface="Calibri" pitchFamily="34" charset="-122"/>
                <a:cs typeface="Calibri" pitchFamily="34" charset="-120"/>
              </a:rPr>
              <a:t>Platform-blessed</a:t>
            </a:r>
            <a:endParaRPr lang="en-US" sz="1000" dirty="0"/>
          </a:p>
        </p:txBody>
      </p:sp>
      <p:sp>
        <p:nvSpPr>
          <p:cNvPr id="11" name="Text 9"/>
          <p:cNvSpPr/>
          <p:nvPr/>
        </p:nvSpPr>
        <p:spPr>
          <a:xfrm>
            <a:off x="822960" y="2084832"/>
            <a:ext cx="5166360" cy="292608"/>
          </a:xfrm>
          <a:prstGeom prst="rect">
            <a:avLst/>
          </a:prstGeom>
          <a:noFill/>
          <a:ln/>
        </p:spPr>
        <p:txBody>
          <a:bodyPr wrap="square" lIns="0" tIns="0" rIns="0" bIns="0" rtlCol="0" anchor="ctr"/>
          <a:lstStyle/>
          <a:p>
            <a:pPr indent="0" marL="0">
              <a:buNone/>
            </a:pPr>
            <a:r>
              <a:rPr lang="en-US" sz="1500" b="1" dirty="0">
                <a:solidFill>
                  <a:srgbClr val="0B1F3F"/>
                </a:solidFill>
                <a:latin typeface="Georgia" pitchFamily="34" charset="0"/>
                <a:ea typeface="Georgia" pitchFamily="34" charset="-122"/>
                <a:cs typeface="Georgia" pitchFamily="34" charset="-120"/>
              </a:rPr>
              <a:t>Kotlin</a:t>
            </a:r>
            <a:endParaRPr lang="en-US" sz="1500" dirty="0"/>
          </a:p>
        </p:txBody>
      </p:sp>
      <p:sp>
        <p:nvSpPr>
          <p:cNvPr id="12" name="Text 10"/>
          <p:cNvSpPr/>
          <p:nvPr/>
        </p:nvSpPr>
        <p:spPr>
          <a:xfrm>
            <a:off x="822960" y="2395728"/>
            <a:ext cx="5166360" cy="228600"/>
          </a:xfrm>
          <a:prstGeom prst="rect">
            <a:avLst/>
          </a:prstGeom>
          <a:noFill/>
          <a:ln/>
        </p:spPr>
        <p:txBody>
          <a:bodyPr wrap="square" lIns="0" tIns="0" rIns="0" bIns="0" rtlCol="0" anchor="ctr"/>
          <a:lstStyle/>
          <a:p>
            <a:pPr indent="0" marL="0">
              <a:buNone/>
            </a:pPr>
            <a:r>
              <a:rPr lang="en-US" sz="900" b="1" spc="100" kern="0" dirty="0">
                <a:solidFill>
                  <a:srgbClr val="0B1F3F"/>
                </a:solidFill>
                <a:latin typeface="Calibri" pitchFamily="34" charset="0"/>
                <a:ea typeface="Calibri" pitchFamily="34" charset="-122"/>
                <a:cs typeface="Calibri" pitchFamily="34" charset="-120"/>
              </a:rPr>
              <a:t>Android</a:t>
            </a:r>
            <a:endParaRPr lang="en-US" sz="900" dirty="0"/>
          </a:p>
        </p:txBody>
      </p:sp>
      <p:sp>
        <p:nvSpPr>
          <p:cNvPr id="13" name="Text 11"/>
          <p:cNvSpPr/>
          <p:nvPr/>
        </p:nvSpPr>
        <p:spPr>
          <a:xfrm>
            <a:off x="822960" y="2615184"/>
            <a:ext cx="5166360" cy="41148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Modern default. Null safety, Java interop, Compose-ready.</a:t>
            </a:r>
            <a:endParaRPr lang="en-US" sz="1000" dirty="0"/>
          </a:p>
        </p:txBody>
      </p:sp>
      <p:sp>
        <p:nvSpPr>
          <p:cNvPr id="14" name="Shape 12"/>
          <p:cNvSpPr/>
          <p:nvPr/>
        </p:nvSpPr>
        <p:spPr>
          <a:xfrm>
            <a:off x="822960" y="3063240"/>
            <a:ext cx="5166360" cy="0"/>
          </a:xfrm>
          <a:prstGeom prst="line">
            <a:avLst/>
          </a:prstGeom>
          <a:noFill/>
          <a:ln w="9525">
            <a:solidFill>
              <a:srgbClr val="D6E6F7"/>
            </a:solidFill>
            <a:prstDash val="solid"/>
          </a:ln>
        </p:spPr>
      </p:sp>
      <p:sp>
        <p:nvSpPr>
          <p:cNvPr id="15" name="Text 13"/>
          <p:cNvSpPr/>
          <p:nvPr/>
        </p:nvSpPr>
        <p:spPr>
          <a:xfrm>
            <a:off x="822960" y="3136392"/>
            <a:ext cx="5166360" cy="292608"/>
          </a:xfrm>
          <a:prstGeom prst="rect">
            <a:avLst/>
          </a:prstGeom>
          <a:noFill/>
          <a:ln/>
        </p:spPr>
        <p:txBody>
          <a:bodyPr wrap="square" lIns="0" tIns="0" rIns="0" bIns="0" rtlCol="0" anchor="ctr"/>
          <a:lstStyle/>
          <a:p>
            <a:pPr indent="0" marL="0">
              <a:buNone/>
            </a:pPr>
            <a:r>
              <a:rPr lang="en-US" sz="1500" b="1" dirty="0">
                <a:solidFill>
                  <a:srgbClr val="0B1F3F"/>
                </a:solidFill>
                <a:latin typeface="Georgia" pitchFamily="34" charset="0"/>
                <a:ea typeface="Georgia" pitchFamily="34" charset="-122"/>
                <a:cs typeface="Georgia" pitchFamily="34" charset="-120"/>
              </a:rPr>
              <a:t>Java</a:t>
            </a:r>
            <a:endParaRPr lang="en-US" sz="1500" dirty="0"/>
          </a:p>
        </p:txBody>
      </p:sp>
      <p:sp>
        <p:nvSpPr>
          <p:cNvPr id="16" name="Text 14"/>
          <p:cNvSpPr/>
          <p:nvPr/>
        </p:nvSpPr>
        <p:spPr>
          <a:xfrm>
            <a:off x="822960" y="3447288"/>
            <a:ext cx="5166360" cy="228600"/>
          </a:xfrm>
          <a:prstGeom prst="rect">
            <a:avLst/>
          </a:prstGeom>
          <a:noFill/>
          <a:ln/>
        </p:spPr>
        <p:txBody>
          <a:bodyPr wrap="square" lIns="0" tIns="0" rIns="0" bIns="0" rtlCol="0" anchor="ctr"/>
          <a:lstStyle/>
          <a:p>
            <a:pPr indent="0" marL="0">
              <a:buNone/>
            </a:pPr>
            <a:r>
              <a:rPr lang="en-US" sz="900" b="1" spc="100" kern="0" dirty="0">
                <a:solidFill>
                  <a:srgbClr val="0B1F3F"/>
                </a:solidFill>
                <a:latin typeface="Calibri" pitchFamily="34" charset="0"/>
                <a:ea typeface="Calibri" pitchFamily="34" charset="-122"/>
                <a:cs typeface="Calibri" pitchFamily="34" charset="-120"/>
              </a:rPr>
              <a:t>Android</a:t>
            </a:r>
            <a:endParaRPr lang="en-US" sz="900" dirty="0"/>
          </a:p>
        </p:txBody>
      </p:sp>
      <p:sp>
        <p:nvSpPr>
          <p:cNvPr id="17" name="Text 15"/>
          <p:cNvSpPr/>
          <p:nvPr/>
        </p:nvSpPr>
        <p:spPr>
          <a:xfrm>
            <a:off x="822960" y="3666744"/>
            <a:ext cx="5166360" cy="41148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Original Android language. Pervasive in legacy and enterprise codebases.</a:t>
            </a:r>
            <a:endParaRPr lang="en-US" sz="1000" dirty="0"/>
          </a:p>
        </p:txBody>
      </p:sp>
      <p:sp>
        <p:nvSpPr>
          <p:cNvPr id="18" name="Shape 16"/>
          <p:cNvSpPr/>
          <p:nvPr/>
        </p:nvSpPr>
        <p:spPr>
          <a:xfrm>
            <a:off x="822960" y="4114800"/>
            <a:ext cx="5166360" cy="0"/>
          </a:xfrm>
          <a:prstGeom prst="line">
            <a:avLst/>
          </a:prstGeom>
          <a:noFill/>
          <a:ln w="9525">
            <a:solidFill>
              <a:srgbClr val="D6E6F7"/>
            </a:solidFill>
            <a:prstDash val="solid"/>
          </a:ln>
        </p:spPr>
      </p:sp>
      <p:sp>
        <p:nvSpPr>
          <p:cNvPr id="19" name="Text 17"/>
          <p:cNvSpPr/>
          <p:nvPr/>
        </p:nvSpPr>
        <p:spPr>
          <a:xfrm>
            <a:off x="822960" y="4187952"/>
            <a:ext cx="5166360" cy="292608"/>
          </a:xfrm>
          <a:prstGeom prst="rect">
            <a:avLst/>
          </a:prstGeom>
          <a:noFill/>
          <a:ln/>
        </p:spPr>
        <p:txBody>
          <a:bodyPr wrap="square" lIns="0" tIns="0" rIns="0" bIns="0" rtlCol="0" anchor="ctr"/>
          <a:lstStyle/>
          <a:p>
            <a:pPr indent="0" marL="0">
              <a:buNone/>
            </a:pPr>
            <a:r>
              <a:rPr lang="en-US" sz="1500" b="1" dirty="0">
                <a:solidFill>
                  <a:srgbClr val="0B1F3F"/>
                </a:solidFill>
                <a:latin typeface="Georgia" pitchFamily="34" charset="0"/>
                <a:ea typeface="Georgia" pitchFamily="34" charset="-122"/>
                <a:cs typeface="Georgia" pitchFamily="34" charset="-120"/>
              </a:rPr>
              <a:t>Swift</a:t>
            </a:r>
            <a:endParaRPr lang="en-US" sz="1500" dirty="0"/>
          </a:p>
        </p:txBody>
      </p:sp>
      <p:sp>
        <p:nvSpPr>
          <p:cNvPr id="20" name="Text 18"/>
          <p:cNvSpPr/>
          <p:nvPr/>
        </p:nvSpPr>
        <p:spPr>
          <a:xfrm>
            <a:off x="822960" y="4498848"/>
            <a:ext cx="5166360" cy="228600"/>
          </a:xfrm>
          <a:prstGeom prst="rect">
            <a:avLst/>
          </a:prstGeom>
          <a:noFill/>
          <a:ln/>
        </p:spPr>
        <p:txBody>
          <a:bodyPr wrap="square" lIns="0" tIns="0" rIns="0" bIns="0" rtlCol="0" anchor="ctr"/>
          <a:lstStyle/>
          <a:p>
            <a:pPr indent="0" marL="0">
              <a:buNone/>
            </a:pPr>
            <a:r>
              <a:rPr lang="en-US" sz="900" b="1" spc="100" kern="0" dirty="0">
                <a:solidFill>
                  <a:srgbClr val="0B1F3F"/>
                </a:solidFill>
                <a:latin typeface="Calibri" pitchFamily="34" charset="0"/>
                <a:ea typeface="Calibri" pitchFamily="34" charset="-122"/>
                <a:cs typeface="Calibri" pitchFamily="34" charset="-120"/>
              </a:rPr>
              <a:t>iOS / Apple</a:t>
            </a:r>
            <a:endParaRPr lang="en-US" sz="900" dirty="0"/>
          </a:p>
        </p:txBody>
      </p:sp>
      <p:sp>
        <p:nvSpPr>
          <p:cNvPr id="21" name="Text 19"/>
          <p:cNvSpPr/>
          <p:nvPr/>
        </p:nvSpPr>
        <p:spPr>
          <a:xfrm>
            <a:off x="822960" y="4718304"/>
            <a:ext cx="5166360" cy="41148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Type-safe, ARC memory, SwiftUI live preview in Xcode.</a:t>
            </a:r>
            <a:endParaRPr lang="en-US" sz="1000" dirty="0"/>
          </a:p>
        </p:txBody>
      </p:sp>
      <p:sp>
        <p:nvSpPr>
          <p:cNvPr id="22" name="Shape 20"/>
          <p:cNvSpPr/>
          <p:nvPr/>
        </p:nvSpPr>
        <p:spPr>
          <a:xfrm>
            <a:off x="822960" y="5166360"/>
            <a:ext cx="5166360" cy="0"/>
          </a:xfrm>
          <a:prstGeom prst="line">
            <a:avLst/>
          </a:prstGeom>
          <a:noFill/>
          <a:ln w="9525">
            <a:solidFill>
              <a:srgbClr val="D6E6F7"/>
            </a:solidFill>
            <a:prstDash val="solid"/>
          </a:ln>
        </p:spPr>
      </p:sp>
      <p:sp>
        <p:nvSpPr>
          <p:cNvPr id="23" name="Text 21"/>
          <p:cNvSpPr/>
          <p:nvPr/>
        </p:nvSpPr>
        <p:spPr>
          <a:xfrm>
            <a:off x="822960" y="5239512"/>
            <a:ext cx="5166360" cy="292608"/>
          </a:xfrm>
          <a:prstGeom prst="rect">
            <a:avLst/>
          </a:prstGeom>
          <a:noFill/>
          <a:ln/>
        </p:spPr>
        <p:txBody>
          <a:bodyPr wrap="square" lIns="0" tIns="0" rIns="0" bIns="0" rtlCol="0" anchor="ctr"/>
          <a:lstStyle/>
          <a:p>
            <a:pPr indent="0" marL="0">
              <a:buNone/>
            </a:pPr>
            <a:r>
              <a:rPr lang="en-US" sz="1500" b="1" dirty="0">
                <a:solidFill>
                  <a:srgbClr val="0B1F3F"/>
                </a:solidFill>
                <a:latin typeface="Georgia" pitchFamily="34" charset="0"/>
                <a:ea typeface="Georgia" pitchFamily="34" charset="-122"/>
                <a:cs typeface="Georgia" pitchFamily="34" charset="-120"/>
              </a:rPr>
              <a:t>Objective-C</a:t>
            </a:r>
            <a:endParaRPr lang="en-US" sz="1500" dirty="0"/>
          </a:p>
        </p:txBody>
      </p:sp>
      <p:sp>
        <p:nvSpPr>
          <p:cNvPr id="24" name="Text 22"/>
          <p:cNvSpPr/>
          <p:nvPr/>
        </p:nvSpPr>
        <p:spPr>
          <a:xfrm>
            <a:off x="822960" y="5550408"/>
            <a:ext cx="5166360" cy="228600"/>
          </a:xfrm>
          <a:prstGeom prst="rect">
            <a:avLst/>
          </a:prstGeom>
          <a:noFill/>
          <a:ln/>
        </p:spPr>
        <p:txBody>
          <a:bodyPr wrap="square" lIns="0" tIns="0" rIns="0" bIns="0" rtlCol="0" anchor="ctr"/>
          <a:lstStyle/>
          <a:p>
            <a:pPr indent="0" marL="0">
              <a:buNone/>
            </a:pPr>
            <a:r>
              <a:rPr lang="en-US" sz="900" b="1" spc="100" kern="0" dirty="0">
                <a:solidFill>
                  <a:srgbClr val="0B1F3F"/>
                </a:solidFill>
                <a:latin typeface="Calibri" pitchFamily="34" charset="0"/>
                <a:ea typeface="Calibri" pitchFamily="34" charset="-122"/>
                <a:cs typeface="Calibri" pitchFamily="34" charset="-120"/>
              </a:rPr>
              <a:t>iOS (legacy)</a:t>
            </a:r>
            <a:endParaRPr lang="en-US" sz="900" dirty="0"/>
          </a:p>
        </p:txBody>
      </p:sp>
      <p:sp>
        <p:nvSpPr>
          <p:cNvPr id="25" name="Text 23"/>
          <p:cNvSpPr/>
          <p:nvPr/>
        </p:nvSpPr>
        <p:spPr>
          <a:xfrm>
            <a:off x="822960" y="5769864"/>
            <a:ext cx="5166360" cy="41148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Smalltalk-style messaging. Required for older iOS codebases.</a:t>
            </a:r>
            <a:endParaRPr lang="en-US" sz="1000" dirty="0"/>
          </a:p>
        </p:txBody>
      </p:sp>
      <p:sp>
        <p:nvSpPr>
          <p:cNvPr id="26" name="Shape 24"/>
          <p:cNvSpPr/>
          <p:nvPr/>
        </p:nvSpPr>
        <p:spPr>
          <a:xfrm>
            <a:off x="6537960" y="1280160"/>
            <a:ext cx="5715000" cy="5120640"/>
          </a:xfrm>
          <a:prstGeom prst="rect">
            <a:avLst/>
          </a:prstGeom>
          <a:solidFill>
            <a:srgbClr val="FFFFFF"/>
          </a:solidFill>
          <a:ln w="12700">
            <a:solidFill>
              <a:srgbClr val="C9D5E3"/>
            </a:solidFill>
            <a:prstDash val="solid"/>
          </a:ln>
        </p:spPr>
      </p:sp>
      <p:sp>
        <p:nvSpPr>
          <p:cNvPr id="27" name="Shape 25"/>
          <p:cNvSpPr/>
          <p:nvPr/>
        </p:nvSpPr>
        <p:spPr>
          <a:xfrm>
            <a:off x="6537960" y="1280160"/>
            <a:ext cx="5715000" cy="548640"/>
          </a:xfrm>
          <a:prstGeom prst="rect">
            <a:avLst/>
          </a:prstGeom>
          <a:solidFill>
            <a:srgbClr val="C9A227"/>
          </a:solidFill>
          <a:ln w="12700">
            <a:solidFill>
              <a:srgbClr val="C9A227"/>
            </a:solidFill>
            <a:prstDash val="solid"/>
          </a:ln>
        </p:spPr>
      </p:sp>
      <p:sp>
        <p:nvSpPr>
          <p:cNvPr id="28" name="Text 26"/>
          <p:cNvSpPr/>
          <p:nvPr/>
        </p:nvSpPr>
        <p:spPr>
          <a:xfrm>
            <a:off x="6812280" y="1371600"/>
            <a:ext cx="5166360" cy="22860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CROSS-PLATFORM</a:t>
            </a:r>
            <a:endParaRPr lang="en-US" sz="1100" dirty="0"/>
          </a:p>
        </p:txBody>
      </p:sp>
      <p:sp>
        <p:nvSpPr>
          <p:cNvPr id="29" name="Text 27"/>
          <p:cNvSpPr/>
          <p:nvPr/>
        </p:nvSpPr>
        <p:spPr>
          <a:xfrm>
            <a:off x="6812280" y="1572768"/>
            <a:ext cx="5166360" cy="228600"/>
          </a:xfrm>
          <a:prstGeom prst="rect">
            <a:avLst/>
          </a:prstGeom>
          <a:noFill/>
          <a:ln/>
        </p:spPr>
        <p:txBody>
          <a:bodyPr wrap="square" lIns="0" tIns="0" rIns="0" bIns="0" rtlCol="0" anchor="ctr"/>
          <a:lstStyle/>
          <a:p>
            <a:pPr indent="0" marL="0">
              <a:buNone/>
            </a:pPr>
            <a:r>
              <a:rPr lang="en-US" sz="1000" i="1" dirty="0">
                <a:solidFill>
                  <a:srgbClr val="FFFFFF"/>
                </a:solidFill>
                <a:latin typeface="Calibri" pitchFamily="34" charset="0"/>
                <a:ea typeface="Calibri" pitchFamily="34" charset="-122"/>
                <a:cs typeface="Calibri" pitchFamily="34" charset="-120"/>
              </a:rPr>
              <a:t>One source, many targets</a:t>
            </a:r>
            <a:endParaRPr lang="en-US" sz="1000" dirty="0"/>
          </a:p>
        </p:txBody>
      </p:sp>
      <p:sp>
        <p:nvSpPr>
          <p:cNvPr id="30" name="Text 28"/>
          <p:cNvSpPr/>
          <p:nvPr/>
        </p:nvSpPr>
        <p:spPr>
          <a:xfrm>
            <a:off x="6812280" y="2084832"/>
            <a:ext cx="5166360" cy="292608"/>
          </a:xfrm>
          <a:prstGeom prst="rect">
            <a:avLst/>
          </a:prstGeom>
          <a:noFill/>
          <a:ln/>
        </p:spPr>
        <p:txBody>
          <a:bodyPr wrap="square" lIns="0" tIns="0" rIns="0" bIns="0" rtlCol="0" anchor="ctr"/>
          <a:lstStyle/>
          <a:p>
            <a:pPr indent="0" marL="0">
              <a:buNone/>
            </a:pPr>
            <a:r>
              <a:rPr lang="en-US" sz="1500" b="1" dirty="0">
                <a:solidFill>
                  <a:srgbClr val="0B1F3F"/>
                </a:solidFill>
                <a:latin typeface="Georgia" pitchFamily="34" charset="0"/>
                <a:ea typeface="Georgia" pitchFamily="34" charset="-122"/>
                <a:cs typeface="Georgia" pitchFamily="34" charset="-120"/>
              </a:rPr>
              <a:t>Dart</a:t>
            </a:r>
            <a:endParaRPr lang="en-US" sz="1500" dirty="0"/>
          </a:p>
        </p:txBody>
      </p:sp>
      <p:sp>
        <p:nvSpPr>
          <p:cNvPr id="31" name="Text 29"/>
          <p:cNvSpPr/>
          <p:nvPr/>
        </p:nvSpPr>
        <p:spPr>
          <a:xfrm>
            <a:off x="6812280" y="2395728"/>
            <a:ext cx="5166360" cy="228600"/>
          </a:xfrm>
          <a:prstGeom prst="rect">
            <a:avLst/>
          </a:prstGeom>
          <a:noFill/>
          <a:ln/>
        </p:spPr>
        <p:txBody>
          <a:bodyPr wrap="square" lIns="0" tIns="0" rIns="0" bIns="0" rtlCol="0" anchor="ctr"/>
          <a:lstStyle/>
          <a:p>
            <a:pPr indent="0" marL="0">
              <a:buNone/>
            </a:pPr>
            <a:r>
              <a:rPr lang="en-US" sz="900" b="1" spc="100" kern="0" dirty="0">
                <a:solidFill>
                  <a:srgbClr val="C9A227"/>
                </a:solidFill>
                <a:latin typeface="Calibri" pitchFamily="34" charset="0"/>
                <a:ea typeface="Calibri" pitchFamily="34" charset="-122"/>
                <a:cs typeface="Calibri" pitchFamily="34" charset="-120"/>
              </a:rPr>
              <a:t>Flutter</a:t>
            </a:r>
            <a:endParaRPr lang="en-US" sz="900" dirty="0"/>
          </a:p>
        </p:txBody>
      </p:sp>
      <p:sp>
        <p:nvSpPr>
          <p:cNvPr id="32" name="Text 30"/>
          <p:cNvSpPr/>
          <p:nvPr/>
        </p:nvSpPr>
        <p:spPr>
          <a:xfrm>
            <a:off x="6812280" y="2615184"/>
            <a:ext cx="5166360" cy="76200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AOT-compiles to native ARM. No JS bridge. Sound type system.</a:t>
            </a:r>
            <a:endParaRPr lang="en-US" sz="1000" dirty="0"/>
          </a:p>
        </p:txBody>
      </p:sp>
      <p:sp>
        <p:nvSpPr>
          <p:cNvPr id="33" name="Shape 31"/>
          <p:cNvSpPr/>
          <p:nvPr/>
        </p:nvSpPr>
        <p:spPr>
          <a:xfrm>
            <a:off x="6812280" y="3413760"/>
            <a:ext cx="5166360" cy="0"/>
          </a:xfrm>
          <a:prstGeom prst="line">
            <a:avLst/>
          </a:prstGeom>
          <a:noFill/>
          <a:ln w="9525">
            <a:solidFill>
              <a:srgbClr val="D6E6F7"/>
            </a:solidFill>
            <a:prstDash val="solid"/>
          </a:ln>
        </p:spPr>
      </p:sp>
      <p:sp>
        <p:nvSpPr>
          <p:cNvPr id="34" name="Text 32"/>
          <p:cNvSpPr/>
          <p:nvPr/>
        </p:nvSpPr>
        <p:spPr>
          <a:xfrm>
            <a:off x="6812280" y="3486912"/>
            <a:ext cx="5166360" cy="292608"/>
          </a:xfrm>
          <a:prstGeom prst="rect">
            <a:avLst/>
          </a:prstGeom>
          <a:noFill/>
          <a:ln/>
        </p:spPr>
        <p:txBody>
          <a:bodyPr wrap="square" lIns="0" tIns="0" rIns="0" bIns="0" rtlCol="0" anchor="ctr"/>
          <a:lstStyle/>
          <a:p>
            <a:pPr indent="0" marL="0">
              <a:buNone/>
            </a:pPr>
            <a:r>
              <a:rPr lang="en-US" sz="1500" b="1" dirty="0">
                <a:solidFill>
                  <a:srgbClr val="0B1F3F"/>
                </a:solidFill>
                <a:latin typeface="Georgia" pitchFamily="34" charset="0"/>
                <a:ea typeface="Georgia" pitchFamily="34" charset="-122"/>
                <a:cs typeface="Georgia" pitchFamily="34" charset="-120"/>
              </a:rPr>
              <a:t>JavaScript / TypeScript</a:t>
            </a:r>
            <a:endParaRPr lang="en-US" sz="1500" dirty="0"/>
          </a:p>
        </p:txBody>
      </p:sp>
      <p:sp>
        <p:nvSpPr>
          <p:cNvPr id="35" name="Text 33"/>
          <p:cNvSpPr/>
          <p:nvPr/>
        </p:nvSpPr>
        <p:spPr>
          <a:xfrm>
            <a:off x="6812280" y="3797808"/>
            <a:ext cx="5166360" cy="228600"/>
          </a:xfrm>
          <a:prstGeom prst="rect">
            <a:avLst/>
          </a:prstGeom>
          <a:noFill/>
          <a:ln/>
        </p:spPr>
        <p:txBody>
          <a:bodyPr wrap="square" lIns="0" tIns="0" rIns="0" bIns="0" rtlCol="0" anchor="ctr"/>
          <a:lstStyle/>
          <a:p>
            <a:pPr indent="0" marL="0">
              <a:buNone/>
            </a:pPr>
            <a:r>
              <a:rPr lang="en-US" sz="900" b="1" spc="100" kern="0" dirty="0">
                <a:solidFill>
                  <a:srgbClr val="C9A227"/>
                </a:solidFill>
                <a:latin typeface="Calibri" pitchFamily="34" charset="0"/>
                <a:ea typeface="Calibri" pitchFamily="34" charset="-122"/>
                <a:cs typeface="Calibri" pitchFamily="34" charset="-120"/>
              </a:rPr>
              <a:t>React Native, Ionic</a:t>
            </a:r>
            <a:endParaRPr lang="en-US" sz="900" dirty="0"/>
          </a:p>
        </p:txBody>
      </p:sp>
      <p:sp>
        <p:nvSpPr>
          <p:cNvPr id="36" name="Text 34"/>
          <p:cNvSpPr/>
          <p:nvPr/>
        </p:nvSpPr>
        <p:spPr>
          <a:xfrm>
            <a:off x="6812280" y="4017264"/>
            <a:ext cx="5166360" cy="76200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Huge ecosystem. TS adds compile-time types for large codebases.</a:t>
            </a:r>
            <a:endParaRPr lang="en-US" sz="1000" dirty="0"/>
          </a:p>
        </p:txBody>
      </p:sp>
      <p:sp>
        <p:nvSpPr>
          <p:cNvPr id="37" name="Shape 35"/>
          <p:cNvSpPr/>
          <p:nvPr/>
        </p:nvSpPr>
        <p:spPr>
          <a:xfrm>
            <a:off x="6812280" y="4815840"/>
            <a:ext cx="5166360" cy="0"/>
          </a:xfrm>
          <a:prstGeom prst="line">
            <a:avLst/>
          </a:prstGeom>
          <a:noFill/>
          <a:ln w="9525">
            <a:solidFill>
              <a:srgbClr val="D6E6F7"/>
            </a:solidFill>
            <a:prstDash val="solid"/>
          </a:ln>
        </p:spPr>
      </p:sp>
      <p:sp>
        <p:nvSpPr>
          <p:cNvPr id="38" name="Text 36"/>
          <p:cNvSpPr/>
          <p:nvPr/>
        </p:nvSpPr>
        <p:spPr>
          <a:xfrm>
            <a:off x="6812280" y="4888992"/>
            <a:ext cx="5166360" cy="292608"/>
          </a:xfrm>
          <a:prstGeom prst="rect">
            <a:avLst/>
          </a:prstGeom>
          <a:noFill/>
          <a:ln/>
        </p:spPr>
        <p:txBody>
          <a:bodyPr wrap="square" lIns="0" tIns="0" rIns="0" bIns="0" rtlCol="0" anchor="ctr"/>
          <a:lstStyle/>
          <a:p>
            <a:pPr indent="0" marL="0">
              <a:buNone/>
            </a:pPr>
            <a:r>
              <a:rPr lang="en-US" sz="1500" b="1" dirty="0">
                <a:solidFill>
                  <a:srgbClr val="0B1F3F"/>
                </a:solidFill>
                <a:latin typeface="Georgia" pitchFamily="34" charset="0"/>
                <a:ea typeface="Georgia" pitchFamily="34" charset="-122"/>
                <a:cs typeface="Georgia" pitchFamily="34" charset="-120"/>
              </a:rPr>
              <a:t>C#</a:t>
            </a:r>
            <a:endParaRPr lang="en-US" sz="1500" dirty="0"/>
          </a:p>
        </p:txBody>
      </p:sp>
      <p:sp>
        <p:nvSpPr>
          <p:cNvPr id="39" name="Text 37"/>
          <p:cNvSpPr/>
          <p:nvPr/>
        </p:nvSpPr>
        <p:spPr>
          <a:xfrm>
            <a:off x="6812280" y="5199888"/>
            <a:ext cx="5166360" cy="228600"/>
          </a:xfrm>
          <a:prstGeom prst="rect">
            <a:avLst/>
          </a:prstGeom>
          <a:noFill/>
          <a:ln/>
        </p:spPr>
        <p:txBody>
          <a:bodyPr wrap="square" lIns="0" tIns="0" rIns="0" bIns="0" rtlCol="0" anchor="ctr"/>
          <a:lstStyle/>
          <a:p>
            <a:pPr indent="0" marL="0">
              <a:buNone/>
            </a:pPr>
            <a:r>
              <a:rPr lang="en-US" sz="900" b="1" spc="100" kern="0" dirty="0">
                <a:solidFill>
                  <a:srgbClr val="C9A227"/>
                </a:solidFill>
                <a:latin typeface="Calibri" pitchFamily="34" charset="0"/>
                <a:ea typeface="Calibri" pitchFamily="34" charset="-122"/>
                <a:cs typeface="Calibri" pitchFamily="34" charset="-120"/>
              </a:rPr>
              <a:t>.NET MAUI</a:t>
            </a:r>
            <a:endParaRPr lang="en-US" sz="900" dirty="0"/>
          </a:p>
        </p:txBody>
      </p:sp>
      <p:sp>
        <p:nvSpPr>
          <p:cNvPr id="40" name="Text 38"/>
          <p:cNvSpPr/>
          <p:nvPr/>
        </p:nvSpPr>
        <p:spPr>
          <a:xfrm>
            <a:off x="6812280" y="5419344"/>
            <a:ext cx="5166360" cy="76200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Microsoft stack. Strong fit for Azure / enterprise integration.</a:t>
            </a:r>
            <a:endParaRPr lang="en-US" sz="1000" dirty="0"/>
          </a:p>
        </p:txBody>
      </p:sp>
      <p:sp>
        <p:nvSpPr>
          <p:cNvPr id="41" name="Text 39"/>
          <p:cNvSpPr/>
          <p:nvPr/>
        </p:nvSpPr>
        <p:spPr>
          <a:xfrm>
            <a:off x="548640" y="6446520"/>
            <a:ext cx="11064240" cy="274320"/>
          </a:xfrm>
          <a:prstGeom prst="rect">
            <a:avLst/>
          </a:prstGeom>
          <a:noFill/>
          <a:ln/>
        </p:spPr>
        <p:txBody>
          <a:bodyPr wrap="square" lIns="0" tIns="0" rIns="0" bIns="0" rtlCol="0" anchor="ctr"/>
          <a:lstStyle/>
          <a:p>
            <a:pPr algn="ctr" indent="0" marL="0">
              <a:buNone/>
            </a:pPr>
            <a:r>
              <a:rPr lang="en-US" sz="1000" i="1" dirty="0">
                <a:solidFill>
                  <a:srgbClr val="5B6B80"/>
                </a:solidFill>
                <a:latin typeface="Calibri" pitchFamily="34" charset="0"/>
                <a:ea typeface="Calibri" pitchFamily="34" charset="-122"/>
                <a:cs typeface="Calibri" pitchFamily="34" charset="-120"/>
              </a:rPr>
              <a:t>Hybrid web stack (HTML / CSS / JavaScript) drives Ionic &amp; Cordova — covered under frameworks.</a:t>
            </a:r>
            <a:endParaRPr lang="en-US" sz="1000" dirty="0"/>
          </a:p>
        </p:txBody>
      </p:sp>
      <p:sp>
        <p:nvSpPr>
          <p:cNvPr id="42" name="Text 40"/>
          <p:cNvSpPr/>
          <p:nvPr/>
        </p:nvSpPr>
        <p:spPr>
          <a:xfrm>
            <a:off x="11064240" y="6492240"/>
            <a:ext cx="640080" cy="274320"/>
          </a:xfrm>
          <a:prstGeom prst="rect">
            <a:avLst/>
          </a:prstGeom>
          <a:noFill/>
          <a:ln/>
        </p:spPr>
        <p:txBody>
          <a:bodyPr wrap="square" lIns="0" tIns="0" rIns="0" bIns="0" rtlCol="0" anchor="ctr"/>
          <a:lstStyle/>
          <a:p>
            <a:pPr algn="r" indent="0" marL="0">
              <a:buNone/>
            </a:pPr>
            <a:r>
              <a:rPr lang="en-US" sz="900" dirty="0">
                <a:solidFill>
                  <a:srgbClr val="5B6B80"/>
                </a:solidFill>
                <a:latin typeface="Calibri" pitchFamily="34" charset="0"/>
                <a:ea typeface="Calibri" pitchFamily="34" charset="-122"/>
                <a:cs typeface="Calibr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B1F3F"/>
          </a:solidFill>
          <a:ln w="12700">
            <a:solidFill>
              <a:srgbClr val="0B1F3F"/>
            </a:solidFill>
            <a:prstDash val="solid"/>
          </a:ln>
        </p:spPr>
      </p:sp>
      <p:sp>
        <p:nvSpPr>
          <p:cNvPr id="3" name="Shape 1"/>
          <p:cNvSpPr/>
          <p:nvPr/>
        </p:nvSpPr>
        <p:spPr>
          <a:xfrm>
            <a:off x="457200" y="320040"/>
            <a:ext cx="109728" cy="365760"/>
          </a:xfrm>
          <a:prstGeom prst="rect">
            <a:avLst/>
          </a:prstGeom>
          <a:solidFill>
            <a:srgbClr val="C9A227"/>
          </a:solidFill>
          <a:ln w="12700">
            <a:solidFill>
              <a:srgbClr val="C9A227"/>
            </a:solidFill>
            <a:prstDash val="solid"/>
          </a:ln>
        </p:spPr>
      </p:sp>
      <p:sp>
        <p:nvSpPr>
          <p:cNvPr id="4" name="Text 2"/>
          <p:cNvSpPr/>
          <p:nvPr/>
        </p:nvSpPr>
        <p:spPr>
          <a:xfrm>
            <a:off x="685800" y="256032"/>
            <a:ext cx="7315200" cy="274320"/>
          </a:xfrm>
          <a:prstGeom prst="rect">
            <a:avLst/>
          </a:prstGeom>
          <a:noFill/>
          <a:ln/>
        </p:spPr>
        <p:txBody>
          <a:bodyPr wrap="square" lIns="0" tIns="0" rIns="0" bIns="0" rtlCol="0" anchor="ctr"/>
          <a:lstStyle/>
          <a:p>
            <a:pPr indent="0" marL="0">
              <a:buNone/>
            </a:pPr>
            <a:r>
              <a:rPr lang="en-US" sz="1100" b="1" spc="200" kern="0" dirty="0">
                <a:solidFill>
                  <a:srgbClr val="D6E6F7"/>
                </a:solidFill>
                <a:latin typeface="Calibri" pitchFamily="34" charset="0"/>
                <a:ea typeface="Calibri" pitchFamily="34" charset="-122"/>
                <a:cs typeface="Calibri" pitchFamily="34" charset="-120"/>
              </a:rPr>
              <a:t>03  ·  FRAMEWORKS · NATIVE</a:t>
            </a:r>
            <a:endParaRPr lang="en-US" sz="1100" dirty="0"/>
          </a:p>
        </p:txBody>
      </p:sp>
      <p:sp>
        <p:nvSpPr>
          <p:cNvPr id="5" name="Text 3"/>
          <p:cNvSpPr/>
          <p:nvPr/>
        </p:nvSpPr>
        <p:spPr>
          <a:xfrm>
            <a:off x="685800" y="502920"/>
            <a:ext cx="10058400" cy="50292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Frameworks: Native — Jetpack Compose &amp; SwiftUI</a:t>
            </a:r>
            <a:endParaRPr lang="en-US" sz="24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Group 12  ·  University of Buea  ·  FET</a:t>
            </a:r>
            <a:endParaRPr lang="en-US" sz="900" dirty="0"/>
          </a:p>
        </p:txBody>
      </p:sp>
      <p:sp>
        <p:nvSpPr>
          <p:cNvPr id="7" name="Shape 5"/>
          <p:cNvSpPr/>
          <p:nvPr/>
        </p:nvSpPr>
        <p:spPr>
          <a:xfrm>
            <a:off x="548640" y="1280160"/>
            <a:ext cx="5394960" cy="4663440"/>
          </a:xfrm>
          <a:prstGeom prst="rect">
            <a:avLst/>
          </a:prstGeom>
          <a:solidFill>
            <a:srgbClr val="FFFFFF"/>
          </a:solidFill>
          <a:ln w="12700">
            <a:solidFill>
              <a:srgbClr val="C9D5E3"/>
            </a:solidFill>
            <a:prstDash val="solid"/>
          </a:ln>
        </p:spPr>
      </p:sp>
      <p:sp>
        <p:nvSpPr>
          <p:cNvPr id="8" name="Shape 6"/>
          <p:cNvSpPr/>
          <p:nvPr/>
        </p:nvSpPr>
        <p:spPr>
          <a:xfrm>
            <a:off x="548640" y="1280160"/>
            <a:ext cx="5394960" cy="731520"/>
          </a:xfrm>
          <a:prstGeom prst="rect">
            <a:avLst/>
          </a:prstGeom>
          <a:solidFill>
            <a:srgbClr val="0B1F3F"/>
          </a:solidFill>
          <a:ln w="12700">
            <a:solidFill>
              <a:srgbClr val="0B1F3F"/>
            </a:solidFill>
            <a:prstDash val="solid"/>
          </a:ln>
        </p:spPr>
      </p:sp>
      <p:sp>
        <p:nvSpPr>
          <p:cNvPr id="9" name="Text 7"/>
          <p:cNvSpPr/>
          <p:nvPr/>
        </p:nvSpPr>
        <p:spPr>
          <a:xfrm>
            <a:off x="822960" y="1463040"/>
            <a:ext cx="484632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Jetpack Compose</a:t>
            </a:r>
            <a:endParaRPr lang="en-US" sz="2200" dirty="0"/>
          </a:p>
        </p:txBody>
      </p:sp>
      <p:sp>
        <p:nvSpPr>
          <p:cNvPr id="10" name="Text 8"/>
          <p:cNvSpPr/>
          <p:nvPr/>
        </p:nvSpPr>
        <p:spPr>
          <a:xfrm>
            <a:off x="822960" y="2121408"/>
            <a:ext cx="4846320" cy="274320"/>
          </a:xfrm>
          <a:prstGeom prst="rect">
            <a:avLst/>
          </a:prstGeom>
          <a:noFill/>
          <a:ln/>
        </p:spPr>
        <p:txBody>
          <a:bodyPr wrap="square" lIns="0" tIns="0" rIns="0" bIns="0" rtlCol="0" anchor="ctr"/>
          <a:lstStyle/>
          <a:p>
            <a:pPr indent="0" marL="0">
              <a:buNone/>
            </a:pPr>
            <a:r>
              <a:rPr lang="en-US" sz="1100" b="1" spc="100" kern="0" dirty="0">
                <a:solidFill>
                  <a:srgbClr val="0B1F3F"/>
                </a:solidFill>
                <a:latin typeface="Calibri" pitchFamily="34" charset="0"/>
                <a:ea typeface="Calibri" pitchFamily="34" charset="-122"/>
                <a:cs typeface="Calibri" pitchFamily="34" charset="-120"/>
              </a:rPr>
              <a:t>Google  ·  Kotlin  ·  Android</a:t>
            </a:r>
            <a:endParaRPr lang="en-US" sz="1100" dirty="0"/>
          </a:p>
        </p:txBody>
      </p:sp>
      <p:sp>
        <p:nvSpPr>
          <p:cNvPr id="11" name="Text 9"/>
          <p:cNvSpPr/>
          <p:nvPr/>
        </p:nvSpPr>
        <p:spPr>
          <a:xfrm>
            <a:off x="822960" y="2514600"/>
            <a:ext cx="484632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Declarative UI in Kotlin functions — XML layouts are gone.</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State changes auto-trigger recomposition of affected nodes.</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Pairs with ViewModel, Room, Navigation, WorkManager, Hilt.</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Compile-time safety carried through the whole stack.</a:t>
            </a:r>
            <a:endParaRPr lang="en-US" sz="1300" dirty="0"/>
          </a:p>
        </p:txBody>
      </p:sp>
      <p:sp>
        <p:nvSpPr>
          <p:cNvPr id="12" name="Text 10"/>
          <p:cNvSpPr/>
          <p:nvPr/>
        </p:nvSpPr>
        <p:spPr>
          <a:xfrm>
            <a:off x="822960" y="5303520"/>
            <a:ext cx="4846320" cy="457200"/>
          </a:xfrm>
          <a:prstGeom prst="rect">
            <a:avLst/>
          </a:prstGeom>
          <a:noFill/>
          <a:ln/>
        </p:spPr>
        <p:txBody>
          <a:bodyPr wrap="square" lIns="0" tIns="0" rIns="0" bIns="0" rtlCol="0" anchor="ctr"/>
          <a:lstStyle/>
          <a:p>
            <a:pPr indent="0" marL="0">
              <a:buNone/>
            </a:pPr>
            <a:r>
              <a:rPr lang="en-US" sz="1100" i="1" dirty="0">
                <a:solidFill>
                  <a:srgbClr val="0B1F3F"/>
                </a:solidFill>
                <a:latin typeface="Calibri" pitchFamily="34" charset="0"/>
                <a:ea typeface="Calibri" pitchFamily="34" charset="-122"/>
                <a:cs typeface="Calibri" pitchFamily="34" charset="-120"/>
              </a:rPr>
              <a:t>"Best for new Android projects targeting modern devices."</a:t>
            </a:r>
            <a:endParaRPr lang="en-US" sz="1100" dirty="0"/>
          </a:p>
        </p:txBody>
      </p:sp>
      <p:sp>
        <p:nvSpPr>
          <p:cNvPr id="13" name="Shape 11"/>
          <p:cNvSpPr/>
          <p:nvPr/>
        </p:nvSpPr>
        <p:spPr>
          <a:xfrm>
            <a:off x="6217920" y="1280160"/>
            <a:ext cx="5394960" cy="4663440"/>
          </a:xfrm>
          <a:prstGeom prst="rect">
            <a:avLst/>
          </a:prstGeom>
          <a:solidFill>
            <a:srgbClr val="FFFFFF"/>
          </a:solidFill>
          <a:ln w="12700">
            <a:solidFill>
              <a:srgbClr val="C9D5E3"/>
            </a:solidFill>
            <a:prstDash val="solid"/>
          </a:ln>
        </p:spPr>
      </p:sp>
      <p:sp>
        <p:nvSpPr>
          <p:cNvPr id="14" name="Shape 12"/>
          <p:cNvSpPr/>
          <p:nvPr/>
        </p:nvSpPr>
        <p:spPr>
          <a:xfrm>
            <a:off x="6217920" y="1280160"/>
            <a:ext cx="5394960" cy="731520"/>
          </a:xfrm>
          <a:prstGeom prst="rect">
            <a:avLst/>
          </a:prstGeom>
          <a:solidFill>
            <a:srgbClr val="4A90E2"/>
          </a:solidFill>
          <a:ln w="12700">
            <a:solidFill>
              <a:srgbClr val="4A90E2"/>
            </a:solidFill>
            <a:prstDash val="solid"/>
          </a:ln>
        </p:spPr>
      </p:sp>
      <p:sp>
        <p:nvSpPr>
          <p:cNvPr id="15" name="Text 13"/>
          <p:cNvSpPr/>
          <p:nvPr/>
        </p:nvSpPr>
        <p:spPr>
          <a:xfrm>
            <a:off x="6492240" y="1463040"/>
            <a:ext cx="484632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SwiftUI</a:t>
            </a:r>
            <a:endParaRPr lang="en-US" sz="2200" dirty="0"/>
          </a:p>
        </p:txBody>
      </p:sp>
      <p:sp>
        <p:nvSpPr>
          <p:cNvPr id="16" name="Text 14"/>
          <p:cNvSpPr/>
          <p:nvPr/>
        </p:nvSpPr>
        <p:spPr>
          <a:xfrm>
            <a:off x="6492240" y="2121408"/>
            <a:ext cx="4846320" cy="274320"/>
          </a:xfrm>
          <a:prstGeom prst="rect">
            <a:avLst/>
          </a:prstGeom>
          <a:noFill/>
          <a:ln/>
        </p:spPr>
        <p:txBody>
          <a:bodyPr wrap="square" lIns="0" tIns="0" rIns="0" bIns="0" rtlCol="0" anchor="ctr"/>
          <a:lstStyle/>
          <a:p>
            <a:pPr indent="0" marL="0">
              <a:buNone/>
            </a:pPr>
            <a:r>
              <a:rPr lang="en-US" sz="1100" b="1" spc="100" kern="0" dirty="0">
                <a:solidFill>
                  <a:srgbClr val="0B1F3F"/>
                </a:solidFill>
                <a:latin typeface="Calibri" pitchFamily="34" charset="0"/>
                <a:ea typeface="Calibri" pitchFamily="34" charset="-122"/>
                <a:cs typeface="Calibri" pitchFamily="34" charset="-120"/>
              </a:rPr>
              <a:t>Apple  ·  Swift  ·  iOS / macOS / watchOS / tvOS</a:t>
            </a:r>
            <a:endParaRPr lang="en-US" sz="1100" dirty="0"/>
          </a:p>
        </p:txBody>
      </p:sp>
      <p:sp>
        <p:nvSpPr>
          <p:cNvPr id="17" name="Text 15"/>
          <p:cNvSpPr/>
          <p:nvPr/>
        </p:nvSpPr>
        <p:spPr>
          <a:xfrm>
            <a:off x="6492240" y="2514600"/>
            <a:ext cx="484632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Declarative replacement for the imperative UIKit model.</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One codebase, every Apple platform — no per-OS rewrite.</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Live preview inside Xcode shrinks the iteration loop.</a:t>
            </a:r>
            <a:endParaRPr lang="en-US" sz="1300" dirty="0"/>
          </a:p>
          <a:p>
            <a:pPr marL="342900" indent="-3429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UIKit still required for legacy code and edge controls.</a:t>
            </a:r>
            <a:endParaRPr lang="en-US" sz="1300" dirty="0"/>
          </a:p>
        </p:txBody>
      </p:sp>
      <p:sp>
        <p:nvSpPr>
          <p:cNvPr id="18" name="Text 16"/>
          <p:cNvSpPr/>
          <p:nvPr/>
        </p:nvSpPr>
        <p:spPr>
          <a:xfrm>
            <a:off x="6492240" y="5303520"/>
            <a:ext cx="4846320" cy="457200"/>
          </a:xfrm>
          <a:prstGeom prst="rect">
            <a:avLst/>
          </a:prstGeom>
          <a:noFill/>
          <a:ln/>
        </p:spPr>
        <p:txBody>
          <a:bodyPr wrap="square" lIns="0" tIns="0" rIns="0" bIns="0" rtlCol="0" anchor="ctr"/>
          <a:lstStyle/>
          <a:p>
            <a:pPr indent="0" marL="0">
              <a:buNone/>
            </a:pPr>
            <a:r>
              <a:rPr lang="en-US" sz="1100" i="1" dirty="0">
                <a:solidFill>
                  <a:srgbClr val="0B1F3F"/>
                </a:solidFill>
                <a:latin typeface="Calibri" pitchFamily="34" charset="0"/>
                <a:ea typeface="Calibri" pitchFamily="34" charset="-122"/>
                <a:cs typeface="Calibri" pitchFamily="34" charset="-120"/>
              </a:rPr>
              <a:t>"Preferred for any new iOS project on iOS 16+."</a:t>
            </a:r>
            <a:endParaRPr lang="en-US" sz="1100" dirty="0"/>
          </a:p>
        </p:txBody>
      </p:sp>
      <p:sp>
        <p:nvSpPr>
          <p:cNvPr id="19" name="Text 17"/>
          <p:cNvSpPr/>
          <p:nvPr/>
        </p:nvSpPr>
        <p:spPr>
          <a:xfrm>
            <a:off x="11064240" y="6492240"/>
            <a:ext cx="640080" cy="274320"/>
          </a:xfrm>
          <a:prstGeom prst="rect">
            <a:avLst/>
          </a:prstGeom>
          <a:noFill/>
          <a:ln/>
        </p:spPr>
        <p:txBody>
          <a:bodyPr wrap="square" lIns="0" tIns="0" rIns="0" bIns="0" rtlCol="0" anchor="ctr"/>
          <a:lstStyle/>
          <a:p>
            <a:pPr algn="r" indent="0" marL="0">
              <a:buNone/>
            </a:pPr>
            <a:r>
              <a:rPr lang="en-US" sz="900" dirty="0">
                <a:solidFill>
                  <a:srgbClr val="5B6B80"/>
                </a:solidFill>
                <a:latin typeface="Calibri" pitchFamily="34" charset="0"/>
                <a:ea typeface="Calibri" pitchFamily="34" charset="-122"/>
                <a:cs typeface="Calibr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B1F3F"/>
          </a:solidFill>
          <a:ln w="12700">
            <a:solidFill>
              <a:srgbClr val="0B1F3F"/>
            </a:solidFill>
            <a:prstDash val="solid"/>
          </a:ln>
        </p:spPr>
      </p:sp>
      <p:sp>
        <p:nvSpPr>
          <p:cNvPr id="3" name="Shape 1"/>
          <p:cNvSpPr/>
          <p:nvPr/>
        </p:nvSpPr>
        <p:spPr>
          <a:xfrm>
            <a:off x="457200" y="320040"/>
            <a:ext cx="109728" cy="365760"/>
          </a:xfrm>
          <a:prstGeom prst="rect">
            <a:avLst/>
          </a:prstGeom>
          <a:solidFill>
            <a:srgbClr val="C9A227"/>
          </a:solidFill>
          <a:ln w="12700">
            <a:solidFill>
              <a:srgbClr val="C9A227"/>
            </a:solidFill>
            <a:prstDash val="solid"/>
          </a:ln>
        </p:spPr>
      </p:sp>
      <p:sp>
        <p:nvSpPr>
          <p:cNvPr id="4" name="Text 2"/>
          <p:cNvSpPr/>
          <p:nvPr/>
        </p:nvSpPr>
        <p:spPr>
          <a:xfrm>
            <a:off x="685800" y="256032"/>
            <a:ext cx="7315200" cy="274320"/>
          </a:xfrm>
          <a:prstGeom prst="rect">
            <a:avLst/>
          </a:prstGeom>
          <a:noFill/>
          <a:ln/>
        </p:spPr>
        <p:txBody>
          <a:bodyPr wrap="square" lIns="0" tIns="0" rIns="0" bIns="0" rtlCol="0" anchor="ctr"/>
          <a:lstStyle/>
          <a:p>
            <a:pPr indent="0" marL="0">
              <a:buNone/>
            </a:pPr>
            <a:r>
              <a:rPr lang="en-US" sz="1100" b="1" spc="200" kern="0" dirty="0">
                <a:solidFill>
                  <a:srgbClr val="D6E6F7"/>
                </a:solidFill>
                <a:latin typeface="Calibri" pitchFamily="34" charset="0"/>
                <a:ea typeface="Calibri" pitchFamily="34" charset="-122"/>
                <a:cs typeface="Calibri" pitchFamily="34" charset="-120"/>
              </a:rPr>
              <a:t>03  ·  FRAMEWORKS · BEYOND NATIVE</a:t>
            </a:r>
            <a:endParaRPr lang="en-US" sz="1100" dirty="0"/>
          </a:p>
        </p:txBody>
      </p:sp>
      <p:sp>
        <p:nvSpPr>
          <p:cNvPr id="5" name="Text 3"/>
          <p:cNvSpPr/>
          <p:nvPr/>
        </p:nvSpPr>
        <p:spPr>
          <a:xfrm>
            <a:off x="685800" y="502920"/>
            <a:ext cx="10058400" cy="50292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Frameworks: Cross-Platform &amp; Hybrid</a:t>
            </a:r>
            <a:endParaRPr lang="en-US" sz="24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Group 12  ·  University of Buea  ·  FET</a:t>
            </a:r>
            <a:endParaRPr lang="en-US" sz="900" dirty="0"/>
          </a:p>
        </p:txBody>
      </p:sp>
      <p:sp>
        <p:nvSpPr>
          <p:cNvPr id="7" name="Shape 5"/>
          <p:cNvSpPr/>
          <p:nvPr/>
        </p:nvSpPr>
        <p:spPr>
          <a:xfrm>
            <a:off x="411480" y="1280160"/>
            <a:ext cx="3657600" cy="2331720"/>
          </a:xfrm>
          <a:prstGeom prst="rect">
            <a:avLst/>
          </a:prstGeom>
          <a:solidFill>
            <a:srgbClr val="FFFFFF"/>
          </a:solidFill>
          <a:ln w="12700">
            <a:solidFill>
              <a:srgbClr val="C9D5E3"/>
            </a:solidFill>
            <a:prstDash val="solid"/>
          </a:ln>
        </p:spPr>
      </p:sp>
      <p:sp>
        <p:nvSpPr>
          <p:cNvPr id="8" name="Shape 6"/>
          <p:cNvSpPr/>
          <p:nvPr/>
        </p:nvSpPr>
        <p:spPr>
          <a:xfrm>
            <a:off x="411480" y="1280160"/>
            <a:ext cx="3657600" cy="73152"/>
          </a:xfrm>
          <a:prstGeom prst="rect">
            <a:avLst/>
          </a:prstGeom>
          <a:solidFill>
            <a:srgbClr val="0B1F3F"/>
          </a:solidFill>
          <a:ln w="12700">
            <a:solidFill>
              <a:srgbClr val="0B1F3F"/>
            </a:solidFill>
            <a:prstDash val="solid"/>
          </a:ln>
        </p:spPr>
      </p:sp>
      <p:sp>
        <p:nvSpPr>
          <p:cNvPr id="9" name="Text 7"/>
          <p:cNvSpPr/>
          <p:nvPr/>
        </p:nvSpPr>
        <p:spPr>
          <a:xfrm>
            <a:off x="640080" y="1444752"/>
            <a:ext cx="3200400" cy="256032"/>
          </a:xfrm>
          <a:prstGeom prst="rect">
            <a:avLst/>
          </a:prstGeom>
          <a:noFill/>
          <a:ln/>
        </p:spPr>
        <p:txBody>
          <a:bodyPr wrap="square" lIns="0" tIns="0" rIns="0" bIns="0" rtlCol="0" anchor="ctr"/>
          <a:lstStyle/>
          <a:p>
            <a:pPr indent="0" marL="0">
              <a:buNone/>
            </a:pPr>
            <a:r>
              <a:rPr lang="en-US" sz="900" b="1" spc="200" kern="0" dirty="0">
                <a:solidFill>
                  <a:srgbClr val="0B1F3F"/>
                </a:solidFill>
                <a:latin typeface="Calibri" pitchFamily="34" charset="0"/>
                <a:ea typeface="Calibri" pitchFamily="34" charset="-122"/>
                <a:cs typeface="Calibri" pitchFamily="34" charset="-120"/>
              </a:rPr>
              <a:t>CROSS-PLATFORM</a:t>
            </a:r>
            <a:endParaRPr lang="en-US" sz="900" dirty="0"/>
          </a:p>
        </p:txBody>
      </p:sp>
      <p:sp>
        <p:nvSpPr>
          <p:cNvPr id="10" name="Text 8"/>
          <p:cNvSpPr/>
          <p:nvPr/>
        </p:nvSpPr>
        <p:spPr>
          <a:xfrm>
            <a:off x="640080" y="1691640"/>
            <a:ext cx="3200400" cy="457200"/>
          </a:xfrm>
          <a:prstGeom prst="rect">
            <a:avLst/>
          </a:prstGeom>
          <a:noFill/>
          <a:ln/>
        </p:spPr>
        <p:txBody>
          <a:bodyPr wrap="square" lIns="0" tIns="0" rIns="0" bIns="0" rtlCol="0" anchor="ctr"/>
          <a:lstStyle/>
          <a:p>
            <a:pPr indent="0" marL="0">
              <a:buNone/>
            </a:pPr>
            <a:r>
              <a:rPr lang="en-US" sz="1900" b="1" dirty="0">
                <a:solidFill>
                  <a:srgbClr val="0B1F3F"/>
                </a:solidFill>
                <a:latin typeface="Georgia" pitchFamily="34" charset="0"/>
                <a:ea typeface="Georgia" pitchFamily="34" charset="-122"/>
                <a:cs typeface="Georgia" pitchFamily="34" charset="-120"/>
              </a:rPr>
              <a:t>Flutter</a:t>
            </a:r>
            <a:endParaRPr lang="en-US" sz="1900" dirty="0"/>
          </a:p>
        </p:txBody>
      </p:sp>
      <p:sp>
        <p:nvSpPr>
          <p:cNvPr id="11" name="Text 9"/>
          <p:cNvSpPr/>
          <p:nvPr/>
        </p:nvSpPr>
        <p:spPr>
          <a:xfrm>
            <a:off x="640080" y="2148840"/>
            <a:ext cx="3200400" cy="274320"/>
          </a:xfrm>
          <a:prstGeom prst="rect">
            <a:avLst/>
          </a:prstGeom>
          <a:noFill/>
          <a:ln/>
        </p:spPr>
        <p:txBody>
          <a:bodyPr wrap="square" lIns="0" tIns="0" rIns="0" bIns="0" rtlCol="0" anchor="ctr"/>
          <a:lstStyle/>
          <a:p>
            <a:pPr indent="0" marL="0">
              <a:buNone/>
            </a:pPr>
            <a:r>
              <a:rPr lang="en-US" sz="1000" i="1" dirty="0">
                <a:solidFill>
                  <a:srgbClr val="5B6B80"/>
                </a:solidFill>
                <a:latin typeface="Calibri" pitchFamily="34" charset="0"/>
                <a:ea typeface="Calibri" pitchFamily="34" charset="-122"/>
                <a:cs typeface="Calibri" pitchFamily="34" charset="-120"/>
              </a:rPr>
              <a:t>Google  ·  Dart</a:t>
            </a:r>
            <a:endParaRPr lang="en-US" sz="1000" dirty="0"/>
          </a:p>
        </p:txBody>
      </p:sp>
      <p:sp>
        <p:nvSpPr>
          <p:cNvPr id="12" name="Shape 10"/>
          <p:cNvSpPr/>
          <p:nvPr/>
        </p:nvSpPr>
        <p:spPr>
          <a:xfrm>
            <a:off x="640080" y="2441448"/>
            <a:ext cx="3200400" cy="0"/>
          </a:xfrm>
          <a:prstGeom prst="line">
            <a:avLst/>
          </a:prstGeom>
          <a:noFill/>
          <a:ln w="9525">
            <a:solidFill>
              <a:srgbClr val="D6E6F7"/>
            </a:solidFill>
            <a:prstDash val="solid"/>
          </a:ln>
        </p:spPr>
      </p:sp>
      <p:sp>
        <p:nvSpPr>
          <p:cNvPr id="13" name="Text 11"/>
          <p:cNvSpPr/>
          <p:nvPr/>
        </p:nvSpPr>
        <p:spPr>
          <a:xfrm>
            <a:off x="640080" y="2514600"/>
            <a:ext cx="3200400" cy="105156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Self-renders via Skia / Impeller. No bridge. Pixel-identical on Android &amp; iOS. ~95% code sharing.</a:t>
            </a:r>
            <a:endParaRPr lang="en-US" sz="1100" dirty="0"/>
          </a:p>
        </p:txBody>
      </p:sp>
      <p:sp>
        <p:nvSpPr>
          <p:cNvPr id="14" name="Shape 12"/>
          <p:cNvSpPr/>
          <p:nvPr/>
        </p:nvSpPr>
        <p:spPr>
          <a:xfrm>
            <a:off x="4251960" y="1280160"/>
            <a:ext cx="3657600" cy="2331720"/>
          </a:xfrm>
          <a:prstGeom prst="rect">
            <a:avLst/>
          </a:prstGeom>
          <a:solidFill>
            <a:srgbClr val="FFFFFF"/>
          </a:solidFill>
          <a:ln w="12700">
            <a:solidFill>
              <a:srgbClr val="C9D5E3"/>
            </a:solidFill>
            <a:prstDash val="solid"/>
          </a:ln>
        </p:spPr>
      </p:sp>
      <p:sp>
        <p:nvSpPr>
          <p:cNvPr id="15" name="Shape 13"/>
          <p:cNvSpPr/>
          <p:nvPr/>
        </p:nvSpPr>
        <p:spPr>
          <a:xfrm>
            <a:off x="4251960" y="1280160"/>
            <a:ext cx="3657600" cy="73152"/>
          </a:xfrm>
          <a:prstGeom prst="rect">
            <a:avLst/>
          </a:prstGeom>
          <a:solidFill>
            <a:srgbClr val="0B1F3F"/>
          </a:solidFill>
          <a:ln w="12700">
            <a:solidFill>
              <a:srgbClr val="0B1F3F"/>
            </a:solidFill>
            <a:prstDash val="solid"/>
          </a:ln>
        </p:spPr>
      </p:sp>
      <p:sp>
        <p:nvSpPr>
          <p:cNvPr id="16" name="Text 14"/>
          <p:cNvSpPr/>
          <p:nvPr/>
        </p:nvSpPr>
        <p:spPr>
          <a:xfrm>
            <a:off x="4480560" y="1444752"/>
            <a:ext cx="3200400" cy="256032"/>
          </a:xfrm>
          <a:prstGeom prst="rect">
            <a:avLst/>
          </a:prstGeom>
          <a:noFill/>
          <a:ln/>
        </p:spPr>
        <p:txBody>
          <a:bodyPr wrap="square" lIns="0" tIns="0" rIns="0" bIns="0" rtlCol="0" anchor="ctr"/>
          <a:lstStyle/>
          <a:p>
            <a:pPr indent="0" marL="0">
              <a:buNone/>
            </a:pPr>
            <a:r>
              <a:rPr lang="en-US" sz="900" b="1" spc="200" kern="0" dirty="0">
                <a:solidFill>
                  <a:srgbClr val="0B1F3F"/>
                </a:solidFill>
                <a:latin typeface="Calibri" pitchFamily="34" charset="0"/>
                <a:ea typeface="Calibri" pitchFamily="34" charset="-122"/>
                <a:cs typeface="Calibri" pitchFamily="34" charset="-120"/>
              </a:rPr>
              <a:t>CROSS-PLATFORM</a:t>
            </a:r>
            <a:endParaRPr lang="en-US" sz="900" dirty="0"/>
          </a:p>
        </p:txBody>
      </p:sp>
      <p:sp>
        <p:nvSpPr>
          <p:cNvPr id="17" name="Text 15"/>
          <p:cNvSpPr/>
          <p:nvPr/>
        </p:nvSpPr>
        <p:spPr>
          <a:xfrm>
            <a:off x="4480560" y="1691640"/>
            <a:ext cx="3200400" cy="457200"/>
          </a:xfrm>
          <a:prstGeom prst="rect">
            <a:avLst/>
          </a:prstGeom>
          <a:noFill/>
          <a:ln/>
        </p:spPr>
        <p:txBody>
          <a:bodyPr wrap="square" lIns="0" tIns="0" rIns="0" bIns="0" rtlCol="0" anchor="ctr"/>
          <a:lstStyle/>
          <a:p>
            <a:pPr indent="0" marL="0">
              <a:buNone/>
            </a:pPr>
            <a:r>
              <a:rPr lang="en-US" sz="1900" b="1" dirty="0">
                <a:solidFill>
                  <a:srgbClr val="0B1F3F"/>
                </a:solidFill>
                <a:latin typeface="Georgia" pitchFamily="34" charset="0"/>
                <a:ea typeface="Georgia" pitchFamily="34" charset="-122"/>
                <a:cs typeface="Georgia" pitchFamily="34" charset="-120"/>
              </a:rPr>
              <a:t>React Native</a:t>
            </a:r>
            <a:endParaRPr lang="en-US" sz="1900" dirty="0"/>
          </a:p>
        </p:txBody>
      </p:sp>
      <p:sp>
        <p:nvSpPr>
          <p:cNvPr id="18" name="Text 16"/>
          <p:cNvSpPr/>
          <p:nvPr/>
        </p:nvSpPr>
        <p:spPr>
          <a:xfrm>
            <a:off x="4480560" y="2148840"/>
            <a:ext cx="3200400" cy="274320"/>
          </a:xfrm>
          <a:prstGeom prst="rect">
            <a:avLst/>
          </a:prstGeom>
          <a:noFill/>
          <a:ln/>
        </p:spPr>
        <p:txBody>
          <a:bodyPr wrap="square" lIns="0" tIns="0" rIns="0" bIns="0" rtlCol="0" anchor="ctr"/>
          <a:lstStyle/>
          <a:p>
            <a:pPr indent="0" marL="0">
              <a:buNone/>
            </a:pPr>
            <a:r>
              <a:rPr lang="en-US" sz="1000" i="1" dirty="0">
                <a:solidFill>
                  <a:srgbClr val="5B6B80"/>
                </a:solidFill>
                <a:latin typeface="Calibri" pitchFamily="34" charset="0"/>
                <a:ea typeface="Calibri" pitchFamily="34" charset="-122"/>
                <a:cs typeface="Calibri" pitchFamily="34" charset="-120"/>
              </a:rPr>
              <a:t>Meta  ·  JavaScript / TS</a:t>
            </a:r>
            <a:endParaRPr lang="en-US" sz="1000" dirty="0"/>
          </a:p>
        </p:txBody>
      </p:sp>
      <p:sp>
        <p:nvSpPr>
          <p:cNvPr id="19" name="Shape 17"/>
          <p:cNvSpPr/>
          <p:nvPr/>
        </p:nvSpPr>
        <p:spPr>
          <a:xfrm>
            <a:off x="4480560" y="2441448"/>
            <a:ext cx="3200400" cy="0"/>
          </a:xfrm>
          <a:prstGeom prst="line">
            <a:avLst/>
          </a:prstGeom>
          <a:noFill/>
          <a:ln w="9525">
            <a:solidFill>
              <a:srgbClr val="D6E6F7"/>
            </a:solidFill>
            <a:prstDash val="solid"/>
          </a:ln>
        </p:spPr>
      </p:sp>
      <p:sp>
        <p:nvSpPr>
          <p:cNvPr id="20" name="Text 18"/>
          <p:cNvSpPr/>
          <p:nvPr/>
        </p:nvSpPr>
        <p:spPr>
          <a:xfrm>
            <a:off x="4480560" y="2514600"/>
            <a:ext cx="3200400" cy="105156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Maps JS components to native widgets. New Architecture (JSI, Fabric, TurboModules) cuts bridge cost. Huge ecosystem.</a:t>
            </a:r>
            <a:endParaRPr lang="en-US" sz="1100" dirty="0"/>
          </a:p>
        </p:txBody>
      </p:sp>
      <p:sp>
        <p:nvSpPr>
          <p:cNvPr id="21" name="Shape 19"/>
          <p:cNvSpPr/>
          <p:nvPr/>
        </p:nvSpPr>
        <p:spPr>
          <a:xfrm>
            <a:off x="8092440" y="1280160"/>
            <a:ext cx="3657600" cy="2331720"/>
          </a:xfrm>
          <a:prstGeom prst="rect">
            <a:avLst/>
          </a:prstGeom>
          <a:solidFill>
            <a:srgbClr val="FFFFFF"/>
          </a:solidFill>
          <a:ln w="12700">
            <a:solidFill>
              <a:srgbClr val="C9D5E3"/>
            </a:solidFill>
            <a:prstDash val="solid"/>
          </a:ln>
        </p:spPr>
      </p:sp>
      <p:sp>
        <p:nvSpPr>
          <p:cNvPr id="22" name="Shape 20"/>
          <p:cNvSpPr/>
          <p:nvPr/>
        </p:nvSpPr>
        <p:spPr>
          <a:xfrm>
            <a:off x="8092440" y="1280160"/>
            <a:ext cx="3657600" cy="73152"/>
          </a:xfrm>
          <a:prstGeom prst="rect">
            <a:avLst/>
          </a:prstGeom>
          <a:solidFill>
            <a:srgbClr val="0B1F3F"/>
          </a:solidFill>
          <a:ln w="12700">
            <a:solidFill>
              <a:srgbClr val="0B1F3F"/>
            </a:solidFill>
            <a:prstDash val="solid"/>
          </a:ln>
        </p:spPr>
      </p:sp>
      <p:sp>
        <p:nvSpPr>
          <p:cNvPr id="23" name="Text 21"/>
          <p:cNvSpPr/>
          <p:nvPr/>
        </p:nvSpPr>
        <p:spPr>
          <a:xfrm>
            <a:off x="8321040" y="1444752"/>
            <a:ext cx="3200400" cy="256032"/>
          </a:xfrm>
          <a:prstGeom prst="rect">
            <a:avLst/>
          </a:prstGeom>
          <a:noFill/>
          <a:ln/>
        </p:spPr>
        <p:txBody>
          <a:bodyPr wrap="square" lIns="0" tIns="0" rIns="0" bIns="0" rtlCol="0" anchor="ctr"/>
          <a:lstStyle/>
          <a:p>
            <a:pPr indent="0" marL="0">
              <a:buNone/>
            </a:pPr>
            <a:r>
              <a:rPr lang="en-US" sz="900" b="1" spc="200" kern="0" dirty="0">
                <a:solidFill>
                  <a:srgbClr val="0B1F3F"/>
                </a:solidFill>
                <a:latin typeface="Calibri" pitchFamily="34" charset="0"/>
                <a:ea typeface="Calibri" pitchFamily="34" charset="-122"/>
                <a:cs typeface="Calibri" pitchFamily="34" charset="-120"/>
              </a:rPr>
              <a:t>CROSS-PLATFORM</a:t>
            </a:r>
            <a:endParaRPr lang="en-US" sz="900" dirty="0"/>
          </a:p>
        </p:txBody>
      </p:sp>
      <p:sp>
        <p:nvSpPr>
          <p:cNvPr id="24" name="Text 22"/>
          <p:cNvSpPr/>
          <p:nvPr/>
        </p:nvSpPr>
        <p:spPr>
          <a:xfrm>
            <a:off x="8321040" y="1691640"/>
            <a:ext cx="3200400" cy="457200"/>
          </a:xfrm>
          <a:prstGeom prst="rect">
            <a:avLst/>
          </a:prstGeom>
          <a:noFill/>
          <a:ln/>
        </p:spPr>
        <p:txBody>
          <a:bodyPr wrap="square" lIns="0" tIns="0" rIns="0" bIns="0" rtlCol="0" anchor="ctr"/>
          <a:lstStyle/>
          <a:p>
            <a:pPr indent="0" marL="0">
              <a:buNone/>
            </a:pPr>
            <a:r>
              <a:rPr lang="en-US" sz="1900" b="1" dirty="0">
                <a:solidFill>
                  <a:srgbClr val="0B1F3F"/>
                </a:solidFill>
                <a:latin typeface="Georgia" pitchFamily="34" charset="0"/>
                <a:ea typeface="Georgia" pitchFamily="34" charset="-122"/>
                <a:cs typeface="Georgia" pitchFamily="34" charset="-120"/>
              </a:rPr>
              <a:t>.NET MAUI</a:t>
            </a:r>
            <a:endParaRPr lang="en-US" sz="1900" dirty="0"/>
          </a:p>
        </p:txBody>
      </p:sp>
      <p:sp>
        <p:nvSpPr>
          <p:cNvPr id="25" name="Text 23"/>
          <p:cNvSpPr/>
          <p:nvPr/>
        </p:nvSpPr>
        <p:spPr>
          <a:xfrm>
            <a:off x="8321040" y="2148840"/>
            <a:ext cx="3200400" cy="274320"/>
          </a:xfrm>
          <a:prstGeom prst="rect">
            <a:avLst/>
          </a:prstGeom>
          <a:noFill/>
          <a:ln/>
        </p:spPr>
        <p:txBody>
          <a:bodyPr wrap="square" lIns="0" tIns="0" rIns="0" bIns="0" rtlCol="0" anchor="ctr"/>
          <a:lstStyle/>
          <a:p>
            <a:pPr indent="0" marL="0">
              <a:buNone/>
            </a:pPr>
            <a:r>
              <a:rPr lang="en-US" sz="1000" i="1" dirty="0">
                <a:solidFill>
                  <a:srgbClr val="5B6B80"/>
                </a:solidFill>
                <a:latin typeface="Calibri" pitchFamily="34" charset="0"/>
                <a:ea typeface="Calibri" pitchFamily="34" charset="-122"/>
                <a:cs typeface="Calibri" pitchFamily="34" charset="-120"/>
              </a:rPr>
              <a:t>Microsoft  ·  C#</a:t>
            </a:r>
            <a:endParaRPr lang="en-US" sz="1000" dirty="0"/>
          </a:p>
        </p:txBody>
      </p:sp>
      <p:sp>
        <p:nvSpPr>
          <p:cNvPr id="26" name="Shape 24"/>
          <p:cNvSpPr/>
          <p:nvPr/>
        </p:nvSpPr>
        <p:spPr>
          <a:xfrm>
            <a:off x="8321040" y="2441448"/>
            <a:ext cx="3200400" cy="0"/>
          </a:xfrm>
          <a:prstGeom prst="line">
            <a:avLst/>
          </a:prstGeom>
          <a:noFill/>
          <a:ln w="9525">
            <a:solidFill>
              <a:srgbClr val="D6E6F7"/>
            </a:solidFill>
            <a:prstDash val="solid"/>
          </a:ln>
        </p:spPr>
      </p:sp>
      <p:sp>
        <p:nvSpPr>
          <p:cNvPr id="27" name="Text 25"/>
          <p:cNvSpPr/>
          <p:nvPr/>
        </p:nvSpPr>
        <p:spPr>
          <a:xfrm>
            <a:off x="8321040" y="2514600"/>
            <a:ext cx="3200400" cy="105156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Xamarin's successor. Maps to native controls per platform. Strong fit for Azure / enterprise stacks.</a:t>
            </a:r>
            <a:endParaRPr lang="en-US" sz="1100" dirty="0"/>
          </a:p>
        </p:txBody>
      </p:sp>
      <p:sp>
        <p:nvSpPr>
          <p:cNvPr id="28" name="Shape 26"/>
          <p:cNvSpPr/>
          <p:nvPr/>
        </p:nvSpPr>
        <p:spPr>
          <a:xfrm>
            <a:off x="411480" y="3813048"/>
            <a:ext cx="3657600" cy="2331720"/>
          </a:xfrm>
          <a:prstGeom prst="rect">
            <a:avLst/>
          </a:prstGeom>
          <a:solidFill>
            <a:srgbClr val="FFFFFF"/>
          </a:solidFill>
          <a:ln w="12700">
            <a:solidFill>
              <a:srgbClr val="C9D5E3"/>
            </a:solidFill>
            <a:prstDash val="solid"/>
          </a:ln>
        </p:spPr>
      </p:sp>
      <p:sp>
        <p:nvSpPr>
          <p:cNvPr id="29" name="Shape 27"/>
          <p:cNvSpPr/>
          <p:nvPr/>
        </p:nvSpPr>
        <p:spPr>
          <a:xfrm>
            <a:off x="411480" y="3813048"/>
            <a:ext cx="3657600" cy="73152"/>
          </a:xfrm>
          <a:prstGeom prst="rect">
            <a:avLst/>
          </a:prstGeom>
          <a:solidFill>
            <a:srgbClr val="0B1F3F"/>
          </a:solidFill>
          <a:ln w="12700">
            <a:solidFill>
              <a:srgbClr val="0B1F3F"/>
            </a:solidFill>
            <a:prstDash val="solid"/>
          </a:ln>
        </p:spPr>
      </p:sp>
      <p:sp>
        <p:nvSpPr>
          <p:cNvPr id="30" name="Text 28"/>
          <p:cNvSpPr/>
          <p:nvPr/>
        </p:nvSpPr>
        <p:spPr>
          <a:xfrm>
            <a:off x="640080" y="3977640"/>
            <a:ext cx="3200400" cy="256032"/>
          </a:xfrm>
          <a:prstGeom prst="rect">
            <a:avLst/>
          </a:prstGeom>
          <a:noFill/>
          <a:ln/>
        </p:spPr>
        <p:txBody>
          <a:bodyPr wrap="square" lIns="0" tIns="0" rIns="0" bIns="0" rtlCol="0" anchor="ctr"/>
          <a:lstStyle/>
          <a:p>
            <a:pPr indent="0" marL="0">
              <a:buNone/>
            </a:pPr>
            <a:r>
              <a:rPr lang="en-US" sz="900" b="1" spc="200" kern="0" dirty="0">
                <a:solidFill>
                  <a:srgbClr val="0B1F3F"/>
                </a:solidFill>
                <a:latin typeface="Calibri" pitchFamily="34" charset="0"/>
                <a:ea typeface="Calibri" pitchFamily="34" charset="-122"/>
                <a:cs typeface="Calibri" pitchFamily="34" charset="-120"/>
              </a:rPr>
              <a:t>CROSS-PLATFORM</a:t>
            </a:r>
            <a:endParaRPr lang="en-US" sz="900" dirty="0"/>
          </a:p>
        </p:txBody>
      </p:sp>
      <p:sp>
        <p:nvSpPr>
          <p:cNvPr id="31" name="Text 29"/>
          <p:cNvSpPr/>
          <p:nvPr/>
        </p:nvSpPr>
        <p:spPr>
          <a:xfrm>
            <a:off x="640080" y="4224528"/>
            <a:ext cx="3200400" cy="457200"/>
          </a:xfrm>
          <a:prstGeom prst="rect">
            <a:avLst/>
          </a:prstGeom>
          <a:noFill/>
          <a:ln/>
        </p:spPr>
        <p:txBody>
          <a:bodyPr wrap="square" lIns="0" tIns="0" rIns="0" bIns="0" rtlCol="0" anchor="ctr"/>
          <a:lstStyle/>
          <a:p>
            <a:pPr indent="0" marL="0">
              <a:buNone/>
            </a:pPr>
            <a:r>
              <a:rPr lang="en-US" sz="1900" b="1" dirty="0">
                <a:solidFill>
                  <a:srgbClr val="0B1F3F"/>
                </a:solidFill>
                <a:latin typeface="Georgia" pitchFamily="34" charset="0"/>
                <a:ea typeface="Georgia" pitchFamily="34" charset="-122"/>
                <a:cs typeface="Georgia" pitchFamily="34" charset="-120"/>
              </a:rPr>
              <a:t>Kotlin Multiplatform</a:t>
            </a:r>
            <a:endParaRPr lang="en-US" sz="1900" dirty="0"/>
          </a:p>
        </p:txBody>
      </p:sp>
      <p:sp>
        <p:nvSpPr>
          <p:cNvPr id="32" name="Text 30"/>
          <p:cNvSpPr/>
          <p:nvPr/>
        </p:nvSpPr>
        <p:spPr>
          <a:xfrm>
            <a:off x="640080" y="4681728"/>
            <a:ext cx="3200400" cy="274320"/>
          </a:xfrm>
          <a:prstGeom prst="rect">
            <a:avLst/>
          </a:prstGeom>
          <a:noFill/>
          <a:ln/>
        </p:spPr>
        <p:txBody>
          <a:bodyPr wrap="square" lIns="0" tIns="0" rIns="0" bIns="0" rtlCol="0" anchor="ctr"/>
          <a:lstStyle/>
          <a:p>
            <a:pPr indent="0" marL="0">
              <a:buNone/>
            </a:pPr>
            <a:r>
              <a:rPr lang="en-US" sz="1000" i="1" dirty="0">
                <a:solidFill>
                  <a:srgbClr val="5B6B80"/>
                </a:solidFill>
                <a:latin typeface="Calibri" pitchFamily="34" charset="0"/>
                <a:ea typeface="Calibri" pitchFamily="34" charset="-122"/>
                <a:cs typeface="Calibri" pitchFamily="34" charset="-120"/>
              </a:rPr>
              <a:t>JetBrains  ·  Kotlin</a:t>
            </a:r>
            <a:endParaRPr lang="en-US" sz="1000" dirty="0"/>
          </a:p>
        </p:txBody>
      </p:sp>
      <p:sp>
        <p:nvSpPr>
          <p:cNvPr id="33" name="Shape 31"/>
          <p:cNvSpPr/>
          <p:nvPr/>
        </p:nvSpPr>
        <p:spPr>
          <a:xfrm>
            <a:off x="640080" y="4974336"/>
            <a:ext cx="3200400" cy="0"/>
          </a:xfrm>
          <a:prstGeom prst="line">
            <a:avLst/>
          </a:prstGeom>
          <a:noFill/>
          <a:ln w="9525">
            <a:solidFill>
              <a:srgbClr val="D6E6F7"/>
            </a:solidFill>
            <a:prstDash val="solid"/>
          </a:ln>
        </p:spPr>
      </p:sp>
      <p:sp>
        <p:nvSpPr>
          <p:cNvPr id="34" name="Text 32"/>
          <p:cNvSpPr/>
          <p:nvPr/>
        </p:nvSpPr>
        <p:spPr>
          <a:xfrm>
            <a:off x="640080" y="5047488"/>
            <a:ext cx="3200400" cy="105156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Shares logic only — UI stays fully native (Compose on Android, SwiftUI on iOS). Maximum native fidelity.</a:t>
            </a:r>
            <a:endParaRPr lang="en-US" sz="1100" dirty="0"/>
          </a:p>
        </p:txBody>
      </p:sp>
      <p:sp>
        <p:nvSpPr>
          <p:cNvPr id="35" name="Shape 33"/>
          <p:cNvSpPr/>
          <p:nvPr/>
        </p:nvSpPr>
        <p:spPr>
          <a:xfrm>
            <a:off x="4251960" y="3813048"/>
            <a:ext cx="3657600" cy="2331720"/>
          </a:xfrm>
          <a:prstGeom prst="rect">
            <a:avLst/>
          </a:prstGeom>
          <a:solidFill>
            <a:srgbClr val="FFFFFF"/>
          </a:solidFill>
          <a:ln w="12700">
            <a:solidFill>
              <a:srgbClr val="C9D5E3"/>
            </a:solidFill>
            <a:prstDash val="solid"/>
          </a:ln>
        </p:spPr>
      </p:sp>
      <p:sp>
        <p:nvSpPr>
          <p:cNvPr id="36" name="Shape 34"/>
          <p:cNvSpPr/>
          <p:nvPr/>
        </p:nvSpPr>
        <p:spPr>
          <a:xfrm>
            <a:off x="4251960" y="3813048"/>
            <a:ext cx="3657600" cy="73152"/>
          </a:xfrm>
          <a:prstGeom prst="rect">
            <a:avLst/>
          </a:prstGeom>
          <a:solidFill>
            <a:srgbClr val="C9A227"/>
          </a:solidFill>
          <a:ln w="12700">
            <a:solidFill>
              <a:srgbClr val="C9A227"/>
            </a:solidFill>
            <a:prstDash val="solid"/>
          </a:ln>
        </p:spPr>
      </p:sp>
      <p:sp>
        <p:nvSpPr>
          <p:cNvPr id="37" name="Text 35"/>
          <p:cNvSpPr/>
          <p:nvPr/>
        </p:nvSpPr>
        <p:spPr>
          <a:xfrm>
            <a:off x="4480560" y="3977640"/>
            <a:ext cx="3200400" cy="256032"/>
          </a:xfrm>
          <a:prstGeom prst="rect">
            <a:avLst/>
          </a:prstGeom>
          <a:noFill/>
          <a:ln/>
        </p:spPr>
        <p:txBody>
          <a:bodyPr wrap="square" lIns="0" tIns="0" rIns="0" bIns="0" rtlCol="0" anchor="ctr"/>
          <a:lstStyle/>
          <a:p>
            <a:pPr indent="0" marL="0">
              <a:buNone/>
            </a:pPr>
            <a:r>
              <a:rPr lang="en-US" sz="900" b="1" spc="200" kern="0" dirty="0">
                <a:solidFill>
                  <a:srgbClr val="C9A227"/>
                </a:solidFill>
                <a:latin typeface="Calibri" pitchFamily="34" charset="0"/>
                <a:ea typeface="Calibri" pitchFamily="34" charset="-122"/>
                <a:cs typeface="Calibri" pitchFamily="34" charset="-120"/>
              </a:rPr>
              <a:t>HYBRID</a:t>
            </a:r>
            <a:endParaRPr lang="en-US" sz="900" dirty="0"/>
          </a:p>
        </p:txBody>
      </p:sp>
      <p:sp>
        <p:nvSpPr>
          <p:cNvPr id="38" name="Text 36"/>
          <p:cNvSpPr/>
          <p:nvPr/>
        </p:nvSpPr>
        <p:spPr>
          <a:xfrm>
            <a:off x="4480560" y="4224528"/>
            <a:ext cx="3200400" cy="457200"/>
          </a:xfrm>
          <a:prstGeom prst="rect">
            <a:avLst/>
          </a:prstGeom>
          <a:noFill/>
          <a:ln/>
        </p:spPr>
        <p:txBody>
          <a:bodyPr wrap="square" lIns="0" tIns="0" rIns="0" bIns="0" rtlCol="0" anchor="ctr"/>
          <a:lstStyle/>
          <a:p>
            <a:pPr indent="0" marL="0">
              <a:buNone/>
            </a:pPr>
            <a:r>
              <a:rPr lang="en-US" sz="1900" b="1" dirty="0">
                <a:solidFill>
                  <a:srgbClr val="0B1F3F"/>
                </a:solidFill>
                <a:latin typeface="Georgia" pitchFamily="34" charset="0"/>
                <a:ea typeface="Georgia" pitchFamily="34" charset="-122"/>
                <a:cs typeface="Georgia" pitchFamily="34" charset="-120"/>
              </a:rPr>
              <a:t>Ionic + Capacitor</a:t>
            </a:r>
            <a:endParaRPr lang="en-US" sz="1900" dirty="0"/>
          </a:p>
        </p:txBody>
      </p:sp>
      <p:sp>
        <p:nvSpPr>
          <p:cNvPr id="39" name="Text 37"/>
          <p:cNvSpPr/>
          <p:nvPr/>
        </p:nvSpPr>
        <p:spPr>
          <a:xfrm>
            <a:off x="4480560" y="4681728"/>
            <a:ext cx="3200400" cy="274320"/>
          </a:xfrm>
          <a:prstGeom prst="rect">
            <a:avLst/>
          </a:prstGeom>
          <a:noFill/>
          <a:ln/>
        </p:spPr>
        <p:txBody>
          <a:bodyPr wrap="square" lIns="0" tIns="0" rIns="0" bIns="0" rtlCol="0" anchor="ctr"/>
          <a:lstStyle/>
          <a:p>
            <a:pPr indent="0" marL="0">
              <a:buNone/>
            </a:pPr>
            <a:r>
              <a:rPr lang="en-US" sz="1000" i="1" dirty="0">
                <a:solidFill>
                  <a:srgbClr val="5B6B80"/>
                </a:solidFill>
                <a:latin typeface="Calibri" pitchFamily="34" charset="0"/>
                <a:ea typeface="Calibri" pitchFamily="34" charset="-122"/>
                <a:cs typeface="Calibri" pitchFamily="34" charset="-120"/>
              </a:rPr>
              <a:t>Ionic Team  ·  HTML/CSS/JS</a:t>
            </a:r>
            <a:endParaRPr lang="en-US" sz="1000" dirty="0"/>
          </a:p>
        </p:txBody>
      </p:sp>
      <p:sp>
        <p:nvSpPr>
          <p:cNvPr id="40" name="Shape 38"/>
          <p:cNvSpPr/>
          <p:nvPr/>
        </p:nvSpPr>
        <p:spPr>
          <a:xfrm>
            <a:off x="4480560" y="4974336"/>
            <a:ext cx="3200400" cy="0"/>
          </a:xfrm>
          <a:prstGeom prst="line">
            <a:avLst/>
          </a:prstGeom>
          <a:noFill/>
          <a:ln w="9525">
            <a:solidFill>
              <a:srgbClr val="D6E6F7"/>
            </a:solidFill>
            <a:prstDash val="solid"/>
          </a:ln>
        </p:spPr>
      </p:sp>
      <p:sp>
        <p:nvSpPr>
          <p:cNvPr id="41" name="Text 39"/>
          <p:cNvSpPr/>
          <p:nvPr/>
        </p:nvSpPr>
        <p:spPr>
          <a:xfrm>
            <a:off x="4480560" y="5047488"/>
            <a:ext cx="3200400" cy="105156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Web components in a native shell. Capacitor bridges to device APIs. Same codebase ships as PWA too.</a:t>
            </a:r>
            <a:endParaRPr lang="en-US" sz="1100" dirty="0"/>
          </a:p>
        </p:txBody>
      </p:sp>
      <p:sp>
        <p:nvSpPr>
          <p:cNvPr id="42" name="Shape 40"/>
          <p:cNvSpPr/>
          <p:nvPr/>
        </p:nvSpPr>
        <p:spPr>
          <a:xfrm>
            <a:off x="8092440" y="3813048"/>
            <a:ext cx="3657600" cy="2331720"/>
          </a:xfrm>
          <a:prstGeom prst="rect">
            <a:avLst/>
          </a:prstGeom>
          <a:solidFill>
            <a:srgbClr val="FFFFFF"/>
          </a:solidFill>
          <a:ln w="12700">
            <a:solidFill>
              <a:srgbClr val="C9D5E3"/>
            </a:solidFill>
            <a:prstDash val="solid"/>
          </a:ln>
        </p:spPr>
      </p:sp>
      <p:sp>
        <p:nvSpPr>
          <p:cNvPr id="43" name="Shape 41"/>
          <p:cNvSpPr/>
          <p:nvPr/>
        </p:nvSpPr>
        <p:spPr>
          <a:xfrm>
            <a:off x="8092440" y="3813048"/>
            <a:ext cx="3657600" cy="73152"/>
          </a:xfrm>
          <a:prstGeom prst="rect">
            <a:avLst/>
          </a:prstGeom>
          <a:solidFill>
            <a:srgbClr val="C9A227"/>
          </a:solidFill>
          <a:ln w="12700">
            <a:solidFill>
              <a:srgbClr val="C9A227"/>
            </a:solidFill>
            <a:prstDash val="solid"/>
          </a:ln>
        </p:spPr>
      </p:sp>
      <p:sp>
        <p:nvSpPr>
          <p:cNvPr id="44" name="Text 42"/>
          <p:cNvSpPr/>
          <p:nvPr/>
        </p:nvSpPr>
        <p:spPr>
          <a:xfrm>
            <a:off x="8321040" y="3977640"/>
            <a:ext cx="3200400" cy="256032"/>
          </a:xfrm>
          <a:prstGeom prst="rect">
            <a:avLst/>
          </a:prstGeom>
          <a:noFill/>
          <a:ln/>
        </p:spPr>
        <p:txBody>
          <a:bodyPr wrap="square" lIns="0" tIns="0" rIns="0" bIns="0" rtlCol="0" anchor="ctr"/>
          <a:lstStyle/>
          <a:p>
            <a:pPr indent="0" marL="0">
              <a:buNone/>
            </a:pPr>
            <a:r>
              <a:rPr lang="en-US" sz="900" b="1" spc="200" kern="0" dirty="0">
                <a:solidFill>
                  <a:srgbClr val="C9A227"/>
                </a:solidFill>
                <a:latin typeface="Calibri" pitchFamily="34" charset="0"/>
                <a:ea typeface="Calibri" pitchFamily="34" charset="-122"/>
                <a:cs typeface="Calibri" pitchFamily="34" charset="-120"/>
              </a:rPr>
              <a:t>HYBRID (legacy)</a:t>
            </a:r>
            <a:endParaRPr lang="en-US" sz="900" dirty="0"/>
          </a:p>
        </p:txBody>
      </p:sp>
      <p:sp>
        <p:nvSpPr>
          <p:cNvPr id="45" name="Text 43"/>
          <p:cNvSpPr/>
          <p:nvPr/>
        </p:nvSpPr>
        <p:spPr>
          <a:xfrm>
            <a:off x="8321040" y="4224528"/>
            <a:ext cx="3200400" cy="457200"/>
          </a:xfrm>
          <a:prstGeom prst="rect">
            <a:avLst/>
          </a:prstGeom>
          <a:noFill/>
          <a:ln/>
        </p:spPr>
        <p:txBody>
          <a:bodyPr wrap="square" lIns="0" tIns="0" rIns="0" bIns="0" rtlCol="0" anchor="ctr"/>
          <a:lstStyle/>
          <a:p>
            <a:pPr indent="0" marL="0">
              <a:buNone/>
            </a:pPr>
            <a:r>
              <a:rPr lang="en-US" sz="1900" b="1" dirty="0">
                <a:solidFill>
                  <a:srgbClr val="0B1F3F"/>
                </a:solidFill>
                <a:latin typeface="Georgia" pitchFamily="34" charset="0"/>
                <a:ea typeface="Georgia" pitchFamily="34" charset="-122"/>
                <a:cs typeface="Georgia" pitchFamily="34" charset="-120"/>
              </a:rPr>
              <a:t>Apache Cordova</a:t>
            </a:r>
            <a:endParaRPr lang="en-US" sz="1900" dirty="0"/>
          </a:p>
        </p:txBody>
      </p:sp>
      <p:sp>
        <p:nvSpPr>
          <p:cNvPr id="46" name="Text 44"/>
          <p:cNvSpPr/>
          <p:nvPr/>
        </p:nvSpPr>
        <p:spPr>
          <a:xfrm>
            <a:off x="8321040" y="4681728"/>
            <a:ext cx="3200400" cy="274320"/>
          </a:xfrm>
          <a:prstGeom prst="rect">
            <a:avLst/>
          </a:prstGeom>
          <a:noFill/>
          <a:ln/>
        </p:spPr>
        <p:txBody>
          <a:bodyPr wrap="square" lIns="0" tIns="0" rIns="0" bIns="0" rtlCol="0" anchor="ctr"/>
          <a:lstStyle/>
          <a:p>
            <a:pPr indent="0" marL="0">
              <a:buNone/>
            </a:pPr>
            <a:r>
              <a:rPr lang="en-US" sz="1000" i="1" dirty="0">
                <a:solidFill>
                  <a:srgbClr val="5B6B80"/>
                </a:solidFill>
                <a:latin typeface="Calibri" pitchFamily="34" charset="0"/>
                <a:ea typeface="Calibri" pitchFamily="34" charset="-122"/>
                <a:cs typeface="Calibri" pitchFamily="34" charset="-120"/>
              </a:rPr>
              <a:t>Apache  ·  HTML/CSS/JS</a:t>
            </a:r>
            <a:endParaRPr lang="en-US" sz="1000" dirty="0"/>
          </a:p>
        </p:txBody>
      </p:sp>
      <p:sp>
        <p:nvSpPr>
          <p:cNvPr id="47" name="Shape 45"/>
          <p:cNvSpPr/>
          <p:nvPr/>
        </p:nvSpPr>
        <p:spPr>
          <a:xfrm>
            <a:off x="8321040" y="4974336"/>
            <a:ext cx="3200400" cy="0"/>
          </a:xfrm>
          <a:prstGeom prst="line">
            <a:avLst/>
          </a:prstGeom>
          <a:noFill/>
          <a:ln w="9525">
            <a:solidFill>
              <a:srgbClr val="D6E6F7"/>
            </a:solidFill>
            <a:prstDash val="solid"/>
          </a:ln>
        </p:spPr>
      </p:sp>
      <p:sp>
        <p:nvSpPr>
          <p:cNvPr id="48" name="Text 46"/>
          <p:cNvSpPr/>
          <p:nvPr/>
        </p:nvSpPr>
        <p:spPr>
          <a:xfrm>
            <a:off x="8321040" y="5047488"/>
            <a:ext cx="3200400" cy="105156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Original hybrid bridge and Capacitor's predecessor. Maintained but new projects should prefer Capacitor.</a:t>
            </a:r>
            <a:endParaRPr lang="en-US" sz="1100" dirty="0"/>
          </a:p>
        </p:txBody>
      </p:sp>
      <p:sp>
        <p:nvSpPr>
          <p:cNvPr id="49" name="Text 47"/>
          <p:cNvSpPr/>
          <p:nvPr/>
        </p:nvSpPr>
        <p:spPr>
          <a:xfrm>
            <a:off x="548640" y="6355080"/>
            <a:ext cx="11064240" cy="274320"/>
          </a:xfrm>
          <a:prstGeom prst="rect">
            <a:avLst/>
          </a:prstGeom>
          <a:noFill/>
          <a:ln/>
        </p:spPr>
        <p:txBody>
          <a:bodyPr wrap="square" lIns="0" tIns="0" rIns="0" bIns="0" rtlCol="0" anchor="ctr"/>
          <a:lstStyle/>
          <a:p>
            <a:pPr algn="ctr" indent="0" marL="0">
              <a:buNone/>
            </a:pPr>
            <a:r>
              <a:rPr lang="en-US" sz="1000" i="1" dirty="0">
                <a:solidFill>
                  <a:srgbClr val="0B1F3F"/>
                </a:solidFill>
                <a:latin typeface="Calibri" pitchFamily="34" charset="0"/>
                <a:ea typeface="Calibri" pitchFamily="34" charset="-122"/>
                <a:cs typeface="Calibri" pitchFamily="34" charset="-120"/>
              </a:rPr>
              <a:t>Next slide  →  why Flutter's rendering choice deserves its own deep-dive.</a:t>
            </a:r>
            <a:endParaRPr lang="en-US" sz="1000" dirty="0"/>
          </a:p>
        </p:txBody>
      </p:sp>
      <p:sp>
        <p:nvSpPr>
          <p:cNvPr id="50" name="Text 48"/>
          <p:cNvSpPr/>
          <p:nvPr/>
        </p:nvSpPr>
        <p:spPr>
          <a:xfrm>
            <a:off x="11064240" y="6492240"/>
            <a:ext cx="640080" cy="274320"/>
          </a:xfrm>
          <a:prstGeom prst="rect">
            <a:avLst/>
          </a:prstGeom>
          <a:noFill/>
          <a:ln/>
        </p:spPr>
        <p:txBody>
          <a:bodyPr wrap="square" lIns="0" tIns="0" rIns="0" bIns="0" rtlCol="0" anchor="ctr"/>
          <a:lstStyle/>
          <a:p>
            <a:pPr algn="r" indent="0" marL="0">
              <a:buNone/>
            </a:pPr>
            <a:r>
              <a:rPr lang="en-US" sz="900" dirty="0">
                <a:solidFill>
                  <a:srgbClr val="5B6B80"/>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B1F3F"/>
          </a:solidFill>
          <a:ln w="12700">
            <a:solidFill>
              <a:srgbClr val="0B1F3F"/>
            </a:solidFill>
            <a:prstDash val="solid"/>
          </a:ln>
        </p:spPr>
      </p:sp>
      <p:sp>
        <p:nvSpPr>
          <p:cNvPr id="3" name="Shape 1"/>
          <p:cNvSpPr/>
          <p:nvPr/>
        </p:nvSpPr>
        <p:spPr>
          <a:xfrm>
            <a:off x="457200" y="320040"/>
            <a:ext cx="109728" cy="365760"/>
          </a:xfrm>
          <a:prstGeom prst="rect">
            <a:avLst/>
          </a:prstGeom>
          <a:solidFill>
            <a:srgbClr val="C9A227"/>
          </a:solidFill>
          <a:ln w="12700">
            <a:solidFill>
              <a:srgbClr val="C9A227"/>
            </a:solidFill>
            <a:prstDash val="solid"/>
          </a:ln>
        </p:spPr>
      </p:sp>
      <p:sp>
        <p:nvSpPr>
          <p:cNvPr id="4" name="Text 2"/>
          <p:cNvSpPr/>
          <p:nvPr/>
        </p:nvSpPr>
        <p:spPr>
          <a:xfrm>
            <a:off x="685800" y="256032"/>
            <a:ext cx="7315200" cy="274320"/>
          </a:xfrm>
          <a:prstGeom prst="rect">
            <a:avLst/>
          </a:prstGeom>
          <a:noFill/>
          <a:ln/>
        </p:spPr>
        <p:txBody>
          <a:bodyPr wrap="square" lIns="0" tIns="0" rIns="0" bIns="0" rtlCol="0" anchor="ctr"/>
          <a:lstStyle/>
          <a:p>
            <a:pPr indent="0" marL="0">
              <a:buNone/>
            </a:pPr>
            <a:r>
              <a:rPr lang="en-US" sz="1100" b="1" spc="200" kern="0" dirty="0">
                <a:solidFill>
                  <a:srgbClr val="D6E6F7"/>
                </a:solidFill>
                <a:latin typeface="Calibri" pitchFamily="34" charset="0"/>
                <a:ea typeface="Calibri" pitchFamily="34" charset="-122"/>
                <a:cs typeface="Calibri" pitchFamily="34" charset="-120"/>
              </a:rPr>
              <a:t>03  ·  FRAMEWORKS · DEEP-DIVE</a:t>
            </a:r>
            <a:endParaRPr lang="en-US" sz="1100" dirty="0"/>
          </a:p>
        </p:txBody>
      </p:sp>
      <p:sp>
        <p:nvSpPr>
          <p:cNvPr id="5" name="Text 3"/>
          <p:cNvSpPr/>
          <p:nvPr/>
        </p:nvSpPr>
        <p:spPr>
          <a:xfrm>
            <a:off x="685800" y="502920"/>
            <a:ext cx="10058400" cy="50292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Flutter Deep-Dive: Skia, Impeller &amp; The Self-Rendering Bet</a:t>
            </a:r>
            <a:endParaRPr lang="en-US" sz="24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Group 12  ·  University of Buea  ·  FET</a:t>
            </a:r>
            <a:endParaRPr lang="en-US" sz="900" dirty="0"/>
          </a:p>
        </p:txBody>
      </p:sp>
      <p:sp>
        <p:nvSpPr>
          <p:cNvPr id="7" name="Text 5"/>
          <p:cNvSpPr/>
          <p:nvPr/>
        </p:nvSpPr>
        <p:spPr>
          <a:xfrm>
            <a:off x="548640" y="1280160"/>
            <a:ext cx="5943600" cy="274320"/>
          </a:xfrm>
          <a:prstGeom prst="rect">
            <a:avLst/>
          </a:prstGeom>
          <a:noFill/>
          <a:ln/>
        </p:spPr>
        <p:txBody>
          <a:bodyPr wrap="square" lIns="0" tIns="0" rIns="0" bIns="0" rtlCol="0" anchor="ctr"/>
          <a:lstStyle/>
          <a:p>
            <a:pPr indent="0" marL="0">
              <a:buNone/>
            </a:pPr>
            <a:r>
              <a:rPr lang="en-US" sz="1000" b="1" spc="200" kern="0" dirty="0">
                <a:solidFill>
                  <a:srgbClr val="C9A227"/>
                </a:solidFill>
                <a:latin typeface="Calibri" pitchFamily="34" charset="0"/>
                <a:ea typeface="Calibri" pitchFamily="34" charset="-122"/>
                <a:cs typeface="Calibri" pitchFamily="34" charset="-120"/>
              </a:rPr>
              <a:t>THE UNCONVENTIONAL CHOICE</a:t>
            </a:r>
            <a:endParaRPr lang="en-US" sz="1000" dirty="0"/>
          </a:p>
        </p:txBody>
      </p:sp>
      <p:sp>
        <p:nvSpPr>
          <p:cNvPr id="8" name="Text 6"/>
          <p:cNvSpPr/>
          <p:nvPr/>
        </p:nvSpPr>
        <p:spPr>
          <a:xfrm>
            <a:off x="548640" y="1554480"/>
            <a:ext cx="5943600" cy="457200"/>
          </a:xfrm>
          <a:prstGeom prst="rect">
            <a:avLst/>
          </a:prstGeom>
          <a:noFill/>
          <a:ln/>
        </p:spPr>
        <p:txBody>
          <a:bodyPr wrap="square" lIns="0" tIns="0" rIns="0" bIns="0" rtlCol="0" anchor="ctr"/>
          <a:lstStyle/>
          <a:p>
            <a:pPr indent="0" marL="0">
              <a:buNone/>
            </a:pPr>
            <a:r>
              <a:rPr lang="en-US" sz="1800" b="1" dirty="0">
                <a:solidFill>
                  <a:srgbClr val="0B1F3F"/>
                </a:solidFill>
                <a:latin typeface="Georgia" pitchFamily="34" charset="0"/>
                <a:ea typeface="Georgia" pitchFamily="34" charset="-122"/>
                <a:cs typeface="Georgia" pitchFamily="34" charset="-120"/>
              </a:rPr>
              <a:t>Flutter does not map widgets to native UI components.</a:t>
            </a:r>
            <a:endParaRPr lang="en-US" sz="1800" dirty="0"/>
          </a:p>
        </p:txBody>
      </p:sp>
      <p:sp>
        <p:nvSpPr>
          <p:cNvPr id="9" name="Text 7"/>
          <p:cNvSpPr/>
          <p:nvPr/>
        </p:nvSpPr>
        <p:spPr>
          <a:xfrm>
            <a:off x="548640" y="2103120"/>
            <a:ext cx="5943600" cy="109728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Instead, every pixel on screen is drawn by Flutter's own graphics engine — Skia on older systems, Impeller on newer ones. The OS provides a canvas; Flutter paints on it.</a:t>
            </a:r>
            <a:endParaRPr lang="en-US" sz="1300" dirty="0"/>
          </a:p>
        </p:txBody>
      </p:sp>
      <p:sp>
        <p:nvSpPr>
          <p:cNvPr id="10" name="Shape 8"/>
          <p:cNvSpPr/>
          <p:nvPr/>
        </p:nvSpPr>
        <p:spPr>
          <a:xfrm>
            <a:off x="548640" y="3337560"/>
            <a:ext cx="5943600" cy="0"/>
          </a:xfrm>
          <a:prstGeom prst="line">
            <a:avLst/>
          </a:prstGeom>
          <a:noFill/>
          <a:ln w="12700">
            <a:solidFill>
              <a:srgbClr val="D6E6F7"/>
            </a:solidFill>
            <a:prstDash val="solid"/>
          </a:ln>
        </p:spPr>
      </p:sp>
      <p:sp>
        <p:nvSpPr>
          <p:cNvPr id="11" name="Text 9"/>
          <p:cNvSpPr/>
          <p:nvPr/>
        </p:nvSpPr>
        <p:spPr>
          <a:xfrm>
            <a:off x="548640" y="3474720"/>
            <a:ext cx="5943600" cy="274320"/>
          </a:xfrm>
          <a:prstGeom prst="rect">
            <a:avLst/>
          </a:prstGeom>
          <a:noFill/>
          <a:ln/>
        </p:spPr>
        <p:txBody>
          <a:bodyPr wrap="square" lIns="0" tIns="0" rIns="0" bIns="0" rtlCol="0" anchor="ctr"/>
          <a:lstStyle/>
          <a:p>
            <a:pPr indent="0" marL="0">
              <a:buNone/>
            </a:pPr>
            <a:r>
              <a:rPr lang="en-US" sz="1000" b="1" spc="200" kern="0" dirty="0">
                <a:solidFill>
                  <a:srgbClr val="C9A227"/>
                </a:solidFill>
                <a:latin typeface="Calibri" pitchFamily="34" charset="0"/>
                <a:ea typeface="Calibri" pitchFamily="34" charset="-122"/>
                <a:cs typeface="Calibri" pitchFamily="34" charset="-120"/>
              </a:rPr>
              <a:t>WHAT YOU GAIN</a:t>
            </a:r>
            <a:endParaRPr lang="en-US" sz="1000" dirty="0"/>
          </a:p>
        </p:txBody>
      </p:sp>
      <p:sp>
        <p:nvSpPr>
          <p:cNvPr id="12" name="Text 10"/>
          <p:cNvSpPr/>
          <p:nvPr/>
        </p:nvSpPr>
        <p:spPr>
          <a:xfrm>
            <a:off x="548640" y="3749040"/>
            <a:ext cx="5943600" cy="118872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Pixel-identical rendering on Android and iOS.</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No JS bridge — AOT-compiled Dart talks straight to ARM.</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Hot Reload: changed code injected sub-second, state preserved.</a:t>
            </a:r>
            <a:endParaRPr lang="en-US" sz="1200" dirty="0"/>
          </a:p>
        </p:txBody>
      </p:sp>
      <p:sp>
        <p:nvSpPr>
          <p:cNvPr id="13" name="Text 11"/>
          <p:cNvSpPr/>
          <p:nvPr/>
        </p:nvSpPr>
        <p:spPr>
          <a:xfrm>
            <a:off x="548640" y="5029200"/>
            <a:ext cx="5943600" cy="274320"/>
          </a:xfrm>
          <a:prstGeom prst="rect">
            <a:avLst/>
          </a:prstGeom>
          <a:noFill/>
          <a:ln/>
        </p:spPr>
        <p:txBody>
          <a:bodyPr wrap="square" lIns="0" tIns="0" rIns="0" bIns="0" rtlCol="0" anchor="ctr"/>
          <a:lstStyle/>
          <a:p>
            <a:pPr indent="0" marL="0">
              <a:buNone/>
            </a:pPr>
            <a:r>
              <a:rPr lang="en-US" sz="1000" b="1" spc="200" kern="0" dirty="0">
                <a:solidFill>
                  <a:srgbClr val="C9A227"/>
                </a:solidFill>
                <a:latin typeface="Calibri" pitchFamily="34" charset="0"/>
                <a:ea typeface="Calibri" pitchFamily="34" charset="-122"/>
                <a:cs typeface="Calibri" pitchFamily="34" charset="-120"/>
              </a:rPr>
              <a:t>WHAT YOU PAY</a:t>
            </a:r>
            <a:endParaRPr lang="en-US" sz="1000" dirty="0"/>
          </a:p>
        </p:txBody>
      </p:sp>
      <p:sp>
        <p:nvSpPr>
          <p:cNvPr id="14" name="Text 12"/>
          <p:cNvSpPr/>
          <p:nvPr/>
        </p:nvSpPr>
        <p:spPr>
          <a:xfrm>
            <a:off x="548640" y="5303520"/>
            <a:ext cx="5943600" cy="91440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When the OS updates its native look-and-feel, your Flutter app does not automatically follow. You wait for the Flutter team to ship a matching widget update.</a:t>
            </a:r>
            <a:endParaRPr lang="en-US" sz="1200" dirty="0"/>
          </a:p>
        </p:txBody>
      </p:sp>
      <p:sp>
        <p:nvSpPr>
          <p:cNvPr id="15" name="Text 13"/>
          <p:cNvSpPr/>
          <p:nvPr/>
        </p:nvSpPr>
        <p:spPr>
          <a:xfrm>
            <a:off x="6858000" y="1371600"/>
            <a:ext cx="4754880" cy="274320"/>
          </a:xfrm>
          <a:prstGeom prst="rect">
            <a:avLst/>
          </a:prstGeom>
          <a:noFill/>
          <a:ln/>
        </p:spPr>
        <p:txBody>
          <a:bodyPr wrap="square" lIns="0" tIns="0" rIns="0" bIns="0" rtlCol="0" anchor="ctr"/>
          <a:lstStyle/>
          <a:p>
            <a:pPr algn="ctr" indent="0" marL="0">
              <a:buNone/>
            </a:pPr>
            <a:r>
              <a:rPr lang="en-US" sz="1000" b="1" spc="200" kern="0" dirty="0">
                <a:solidFill>
                  <a:srgbClr val="5B6B80"/>
                </a:solidFill>
                <a:latin typeface="Calibri" pitchFamily="34" charset="0"/>
                <a:ea typeface="Calibri" pitchFamily="34" charset="-122"/>
                <a:cs typeface="Calibri" pitchFamily="34" charset="-120"/>
              </a:rPr>
              <a:t>RENDERING STACK</a:t>
            </a:r>
            <a:endParaRPr lang="en-US" sz="1000" dirty="0"/>
          </a:p>
        </p:txBody>
      </p:sp>
      <p:sp>
        <p:nvSpPr>
          <p:cNvPr id="16" name="Shape 14"/>
          <p:cNvSpPr/>
          <p:nvPr/>
        </p:nvSpPr>
        <p:spPr>
          <a:xfrm>
            <a:off x="6858000" y="1783080"/>
            <a:ext cx="4754880" cy="713232"/>
          </a:xfrm>
          <a:prstGeom prst="rect">
            <a:avLst/>
          </a:prstGeom>
          <a:solidFill>
            <a:srgbClr val="0B1F3F"/>
          </a:solidFill>
          <a:ln w="12700">
            <a:solidFill>
              <a:srgbClr val="0B1F3F"/>
            </a:solidFill>
            <a:prstDash val="solid"/>
          </a:ln>
        </p:spPr>
      </p:sp>
      <p:sp>
        <p:nvSpPr>
          <p:cNvPr id="17" name="Text 15"/>
          <p:cNvSpPr/>
          <p:nvPr/>
        </p:nvSpPr>
        <p:spPr>
          <a:xfrm>
            <a:off x="6858000" y="1783080"/>
            <a:ext cx="4754880" cy="7132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Your App  ·  Dart code &amp; widgets</a:t>
            </a:r>
            <a:endParaRPr lang="en-US" sz="1200" dirty="0"/>
          </a:p>
        </p:txBody>
      </p:sp>
      <p:sp>
        <p:nvSpPr>
          <p:cNvPr id="18" name="Shape 16"/>
          <p:cNvSpPr/>
          <p:nvPr/>
        </p:nvSpPr>
        <p:spPr>
          <a:xfrm>
            <a:off x="6858000" y="2606040"/>
            <a:ext cx="4754880" cy="713232"/>
          </a:xfrm>
          <a:prstGeom prst="rect">
            <a:avLst/>
          </a:prstGeom>
          <a:solidFill>
            <a:srgbClr val="152C52"/>
          </a:solidFill>
          <a:ln w="12700">
            <a:solidFill>
              <a:srgbClr val="152C52"/>
            </a:solidFill>
            <a:prstDash val="solid"/>
          </a:ln>
        </p:spPr>
      </p:sp>
      <p:sp>
        <p:nvSpPr>
          <p:cNvPr id="19" name="Text 17"/>
          <p:cNvSpPr/>
          <p:nvPr/>
        </p:nvSpPr>
        <p:spPr>
          <a:xfrm>
            <a:off x="6858000" y="2606040"/>
            <a:ext cx="4754880" cy="7132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Flutter Framework  ·  Material / Cupertino</a:t>
            </a:r>
            <a:endParaRPr lang="en-US" sz="1200" dirty="0"/>
          </a:p>
        </p:txBody>
      </p:sp>
      <p:sp>
        <p:nvSpPr>
          <p:cNvPr id="20" name="Shape 18"/>
          <p:cNvSpPr/>
          <p:nvPr/>
        </p:nvSpPr>
        <p:spPr>
          <a:xfrm>
            <a:off x="6858000" y="3429000"/>
            <a:ext cx="4754880" cy="713232"/>
          </a:xfrm>
          <a:prstGeom prst="rect">
            <a:avLst/>
          </a:prstGeom>
          <a:solidFill>
            <a:srgbClr val="C9A227"/>
          </a:solidFill>
          <a:ln w="12700">
            <a:solidFill>
              <a:srgbClr val="C9A227"/>
            </a:solidFill>
            <a:prstDash val="solid"/>
          </a:ln>
        </p:spPr>
      </p:sp>
      <p:sp>
        <p:nvSpPr>
          <p:cNvPr id="21" name="Text 19"/>
          <p:cNvSpPr/>
          <p:nvPr/>
        </p:nvSpPr>
        <p:spPr>
          <a:xfrm>
            <a:off x="6858000" y="3429000"/>
            <a:ext cx="4754880" cy="713232"/>
          </a:xfrm>
          <a:prstGeom prst="rect">
            <a:avLst/>
          </a:prstGeom>
          <a:noFill/>
          <a:ln/>
        </p:spPr>
        <p:txBody>
          <a:bodyPr wrap="square" lIns="0" tIns="0" rIns="0" bIns="0" rtlCol="0" anchor="ctr"/>
          <a:lstStyle/>
          <a:p>
            <a:pPr algn="ctr" indent="0" marL="0">
              <a:buNone/>
            </a:pPr>
            <a:r>
              <a:rPr lang="en-US" sz="1200" b="1" dirty="0">
                <a:solidFill>
                  <a:srgbClr val="0B1F3F"/>
                </a:solidFill>
                <a:latin typeface="Calibri" pitchFamily="34" charset="0"/>
                <a:ea typeface="Calibri" pitchFamily="34" charset="-122"/>
                <a:cs typeface="Calibri" pitchFamily="34" charset="-120"/>
              </a:rPr>
              <a:t>Flutter Engine  ·  Skia / Impeller</a:t>
            </a:r>
            <a:endParaRPr lang="en-US" sz="1200" dirty="0"/>
          </a:p>
        </p:txBody>
      </p:sp>
      <p:sp>
        <p:nvSpPr>
          <p:cNvPr id="22" name="Shape 20"/>
          <p:cNvSpPr/>
          <p:nvPr/>
        </p:nvSpPr>
        <p:spPr>
          <a:xfrm>
            <a:off x="6858000" y="4251960"/>
            <a:ext cx="4754880" cy="713232"/>
          </a:xfrm>
          <a:prstGeom prst="rect">
            <a:avLst/>
          </a:prstGeom>
          <a:solidFill>
            <a:srgbClr val="4A90E2"/>
          </a:solidFill>
          <a:ln w="12700">
            <a:solidFill>
              <a:srgbClr val="4A90E2"/>
            </a:solidFill>
            <a:prstDash val="solid"/>
          </a:ln>
        </p:spPr>
      </p:sp>
      <p:sp>
        <p:nvSpPr>
          <p:cNvPr id="23" name="Text 21"/>
          <p:cNvSpPr/>
          <p:nvPr/>
        </p:nvSpPr>
        <p:spPr>
          <a:xfrm>
            <a:off x="6858000" y="4251960"/>
            <a:ext cx="4754880" cy="7132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Platform Canvas  ·  Android / iOS surface</a:t>
            </a:r>
            <a:endParaRPr lang="en-US" sz="1200" dirty="0"/>
          </a:p>
        </p:txBody>
      </p:sp>
      <p:sp>
        <p:nvSpPr>
          <p:cNvPr id="24" name="Shape 22"/>
          <p:cNvSpPr/>
          <p:nvPr/>
        </p:nvSpPr>
        <p:spPr>
          <a:xfrm>
            <a:off x="6858000" y="5074920"/>
            <a:ext cx="4754880" cy="713232"/>
          </a:xfrm>
          <a:prstGeom prst="rect">
            <a:avLst/>
          </a:prstGeom>
          <a:solidFill>
            <a:srgbClr val="D6E6F7"/>
          </a:solidFill>
          <a:ln w="12700">
            <a:solidFill>
              <a:srgbClr val="D6E6F7"/>
            </a:solidFill>
            <a:prstDash val="solid"/>
          </a:ln>
        </p:spPr>
      </p:sp>
      <p:sp>
        <p:nvSpPr>
          <p:cNvPr id="25" name="Text 23"/>
          <p:cNvSpPr/>
          <p:nvPr/>
        </p:nvSpPr>
        <p:spPr>
          <a:xfrm>
            <a:off x="6858000" y="5074920"/>
            <a:ext cx="4754880" cy="713232"/>
          </a:xfrm>
          <a:prstGeom prst="rect">
            <a:avLst/>
          </a:prstGeom>
          <a:noFill/>
          <a:ln/>
        </p:spPr>
        <p:txBody>
          <a:bodyPr wrap="square" lIns="0" tIns="0" rIns="0" bIns="0" rtlCol="0" anchor="ctr"/>
          <a:lstStyle/>
          <a:p>
            <a:pPr algn="ctr" indent="0" marL="0">
              <a:buNone/>
            </a:pPr>
            <a:r>
              <a:rPr lang="en-US" sz="1200" b="1" dirty="0">
                <a:solidFill>
                  <a:srgbClr val="0B1F3F"/>
                </a:solidFill>
                <a:latin typeface="Calibri" pitchFamily="34" charset="0"/>
                <a:ea typeface="Calibri" pitchFamily="34" charset="-122"/>
                <a:cs typeface="Calibri" pitchFamily="34" charset="-120"/>
              </a:rPr>
              <a:t>Device GPU</a:t>
            </a:r>
            <a:endParaRPr lang="en-US" sz="1200" dirty="0"/>
          </a:p>
        </p:txBody>
      </p:sp>
      <p:sp>
        <p:nvSpPr>
          <p:cNvPr id="26" name="Shape 24"/>
          <p:cNvSpPr/>
          <p:nvPr/>
        </p:nvSpPr>
        <p:spPr>
          <a:xfrm>
            <a:off x="9198864" y="2500884"/>
            <a:ext cx="73152" cy="100584"/>
          </a:xfrm>
          <a:prstGeom prst="rect">
            <a:avLst/>
          </a:prstGeom>
          <a:solidFill>
            <a:srgbClr val="5B6B80"/>
          </a:solidFill>
          <a:ln w="12700">
            <a:solidFill>
              <a:srgbClr val="5B6B80"/>
            </a:solidFill>
            <a:prstDash val="solid"/>
          </a:ln>
        </p:spPr>
      </p:sp>
      <p:sp>
        <p:nvSpPr>
          <p:cNvPr id="27" name="Shape 25"/>
          <p:cNvSpPr/>
          <p:nvPr/>
        </p:nvSpPr>
        <p:spPr>
          <a:xfrm>
            <a:off x="9198864" y="3323844"/>
            <a:ext cx="73152" cy="100584"/>
          </a:xfrm>
          <a:prstGeom prst="rect">
            <a:avLst/>
          </a:prstGeom>
          <a:solidFill>
            <a:srgbClr val="5B6B80"/>
          </a:solidFill>
          <a:ln w="12700">
            <a:solidFill>
              <a:srgbClr val="5B6B80"/>
            </a:solidFill>
            <a:prstDash val="solid"/>
          </a:ln>
        </p:spPr>
      </p:sp>
      <p:sp>
        <p:nvSpPr>
          <p:cNvPr id="28" name="Shape 26"/>
          <p:cNvSpPr/>
          <p:nvPr/>
        </p:nvSpPr>
        <p:spPr>
          <a:xfrm>
            <a:off x="9198864" y="4146804"/>
            <a:ext cx="73152" cy="100584"/>
          </a:xfrm>
          <a:prstGeom prst="rect">
            <a:avLst/>
          </a:prstGeom>
          <a:solidFill>
            <a:srgbClr val="5B6B80"/>
          </a:solidFill>
          <a:ln w="12700">
            <a:solidFill>
              <a:srgbClr val="5B6B80"/>
            </a:solidFill>
            <a:prstDash val="solid"/>
          </a:ln>
        </p:spPr>
      </p:sp>
      <p:sp>
        <p:nvSpPr>
          <p:cNvPr id="29" name="Shape 27"/>
          <p:cNvSpPr/>
          <p:nvPr/>
        </p:nvSpPr>
        <p:spPr>
          <a:xfrm>
            <a:off x="9198864" y="4969764"/>
            <a:ext cx="73152" cy="100584"/>
          </a:xfrm>
          <a:prstGeom prst="rect">
            <a:avLst/>
          </a:prstGeom>
          <a:solidFill>
            <a:srgbClr val="5B6B80"/>
          </a:solidFill>
          <a:ln w="12700">
            <a:solidFill>
              <a:srgbClr val="5B6B80"/>
            </a:solidFill>
            <a:prstDash val="solid"/>
          </a:ln>
        </p:spPr>
      </p:sp>
      <p:sp>
        <p:nvSpPr>
          <p:cNvPr id="30" name="Text 28"/>
          <p:cNvSpPr/>
          <p:nvPr/>
        </p:nvSpPr>
        <p:spPr>
          <a:xfrm>
            <a:off x="5029200" y="6492240"/>
            <a:ext cx="5943600" cy="274320"/>
          </a:xfrm>
          <a:prstGeom prst="rect">
            <a:avLst/>
          </a:prstGeom>
          <a:noFill/>
          <a:ln/>
        </p:spPr>
        <p:txBody>
          <a:bodyPr wrap="square" lIns="0" tIns="0" rIns="0" bIns="0" rtlCol="0" anchor="ctr"/>
          <a:lstStyle/>
          <a:p>
            <a:pPr algn="r" indent="0" marL="0">
              <a:buNone/>
            </a:pPr>
            <a:r>
              <a:rPr lang="en-US" sz="900" i="1" dirty="0">
                <a:solidFill>
                  <a:srgbClr val="5B6B80"/>
                </a:solidFill>
                <a:latin typeface="Calibri" pitchFamily="34" charset="0"/>
                <a:ea typeface="Calibri" pitchFamily="34" charset="-122"/>
                <a:cs typeface="Calibri" pitchFamily="34" charset="-120"/>
              </a:rPr>
              <a:t>Source: CEF 440 Task 1 Report, §3.2 (pp. 9–10)</a:t>
            </a:r>
            <a:endParaRPr lang="en-US" sz="900" dirty="0"/>
          </a:p>
        </p:txBody>
      </p:sp>
      <p:sp>
        <p:nvSpPr>
          <p:cNvPr id="31" name="Text 29"/>
          <p:cNvSpPr/>
          <p:nvPr/>
        </p:nvSpPr>
        <p:spPr>
          <a:xfrm>
            <a:off x="11064240" y="6492240"/>
            <a:ext cx="640080" cy="274320"/>
          </a:xfrm>
          <a:prstGeom prst="rect">
            <a:avLst/>
          </a:prstGeom>
          <a:noFill/>
          <a:ln/>
        </p:spPr>
        <p:txBody>
          <a:bodyPr wrap="square" lIns="0" tIns="0" rIns="0" bIns="0" rtlCol="0" anchor="ctr"/>
          <a:lstStyle/>
          <a:p>
            <a:pPr algn="r" indent="0" marL="0">
              <a:buNone/>
            </a:pPr>
            <a:r>
              <a:rPr lang="en-US" sz="900" dirty="0">
                <a:solidFill>
                  <a:srgbClr val="5B6B80"/>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B1F3F"/>
          </a:solidFill>
          <a:ln w="12700">
            <a:solidFill>
              <a:srgbClr val="0B1F3F"/>
            </a:solidFill>
            <a:prstDash val="solid"/>
          </a:ln>
        </p:spPr>
      </p:sp>
      <p:sp>
        <p:nvSpPr>
          <p:cNvPr id="3" name="Shape 1"/>
          <p:cNvSpPr/>
          <p:nvPr/>
        </p:nvSpPr>
        <p:spPr>
          <a:xfrm>
            <a:off x="457200" y="320040"/>
            <a:ext cx="109728" cy="365760"/>
          </a:xfrm>
          <a:prstGeom prst="rect">
            <a:avLst/>
          </a:prstGeom>
          <a:solidFill>
            <a:srgbClr val="C9A227"/>
          </a:solidFill>
          <a:ln w="12700">
            <a:solidFill>
              <a:srgbClr val="C9A227"/>
            </a:solidFill>
            <a:prstDash val="solid"/>
          </a:ln>
        </p:spPr>
      </p:sp>
      <p:sp>
        <p:nvSpPr>
          <p:cNvPr id="4" name="Text 2"/>
          <p:cNvSpPr/>
          <p:nvPr/>
        </p:nvSpPr>
        <p:spPr>
          <a:xfrm>
            <a:off x="685800" y="256032"/>
            <a:ext cx="7315200" cy="274320"/>
          </a:xfrm>
          <a:prstGeom prst="rect">
            <a:avLst/>
          </a:prstGeom>
          <a:noFill/>
          <a:ln/>
        </p:spPr>
        <p:txBody>
          <a:bodyPr wrap="square" lIns="0" tIns="0" rIns="0" bIns="0" rtlCol="0" anchor="ctr"/>
          <a:lstStyle/>
          <a:p>
            <a:pPr indent="0" marL="0">
              <a:buNone/>
            </a:pPr>
            <a:r>
              <a:rPr lang="en-US" sz="1100" b="1" spc="200" kern="0" dirty="0">
                <a:solidFill>
                  <a:srgbClr val="D6E6F7"/>
                </a:solidFill>
                <a:latin typeface="Calibri" pitchFamily="34" charset="0"/>
                <a:ea typeface="Calibri" pitchFamily="34" charset="-122"/>
                <a:cs typeface="Calibri" pitchFamily="34" charset="-120"/>
              </a:rPr>
              <a:t>04  ·  ARCHITECTURE · OVERVIEW</a:t>
            </a:r>
            <a:endParaRPr lang="en-US" sz="1100" dirty="0"/>
          </a:p>
        </p:txBody>
      </p:sp>
      <p:sp>
        <p:nvSpPr>
          <p:cNvPr id="5" name="Text 3"/>
          <p:cNvSpPr/>
          <p:nvPr/>
        </p:nvSpPr>
        <p:spPr>
          <a:xfrm>
            <a:off x="685800" y="502920"/>
            <a:ext cx="10058400" cy="50292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Architectures &amp; Design Patterns: Six at a Glance</a:t>
            </a:r>
            <a:endParaRPr lang="en-US" sz="24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Group 12  ·  University of Buea  ·  FET</a:t>
            </a:r>
            <a:endParaRPr lang="en-US" sz="900" dirty="0"/>
          </a:p>
        </p:txBody>
      </p:sp>
      <p:sp>
        <p:nvSpPr>
          <p:cNvPr id="7" name="Shape 5"/>
          <p:cNvSpPr/>
          <p:nvPr/>
        </p:nvSpPr>
        <p:spPr>
          <a:xfrm>
            <a:off x="411480" y="1280160"/>
            <a:ext cx="3657600" cy="2331720"/>
          </a:xfrm>
          <a:prstGeom prst="rect">
            <a:avLst/>
          </a:prstGeom>
          <a:solidFill>
            <a:srgbClr val="FFFFFF"/>
          </a:solidFill>
          <a:ln w="12700">
            <a:solidFill>
              <a:srgbClr val="C9D5E3"/>
            </a:solidFill>
            <a:prstDash val="solid"/>
          </a:ln>
        </p:spPr>
      </p:sp>
      <p:sp>
        <p:nvSpPr>
          <p:cNvPr id="8" name="Shape 6"/>
          <p:cNvSpPr/>
          <p:nvPr/>
        </p:nvSpPr>
        <p:spPr>
          <a:xfrm>
            <a:off x="411480" y="1280160"/>
            <a:ext cx="3657600" cy="73152"/>
          </a:xfrm>
          <a:prstGeom prst="rect">
            <a:avLst/>
          </a:prstGeom>
          <a:solidFill>
            <a:srgbClr val="4A90E2"/>
          </a:solidFill>
          <a:ln w="12700">
            <a:solidFill>
              <a:srgbClr val="4A90E2"/>
            </a:solidFill>
            <a:prstDash val="solid"/>
          </a:ln>
        </p:spPr>
      </p:sp>
      <p:sp>
        <p:nvSpPr>
          <p:cNvPr id="9" name="Text 7"/>
          <p:cNvSpPr/>
          <p:nvPr/>
        </p:nvSpPr>
        <p:spPr>
          <a:xfrm>
            <a:off x="640080" y="1444752"/>
            <a:ext cx="3200400" cy="457200"/>
          </a:xfrm>
          <a:prstGeom prst="rect">
            <a:avLst/>
          </a:prstGeom>
          <a:noFill/>
          <a:ln/>
        </p:spPr>
        <p:txBody>
          <a:bodyPr wrap="square" lIns="0" tIns="0" rIns="0" bIns="0" rtlCol="0" anchor="ctr"/>
          <a:lstStyle/>
          <a:p>
            <a:pPr indent="0" marL="0">
              <a:buNone/>
            </a:pPr>
            <a:r>
              <a:rPr lang="en-US" sz="2200" b="1" dirty="0">
                <a:solidFill>
                  <a:srgbClr val="0B1F3F"/>
                </a:solidFill>
                <a:latin typeface="Georgia" pitchFamily="34" charset="0"/>
                <a:ea typeface="Georgia" pitchFamily="34" charset="-122"/>
                <a:cs typeface="Georgia" pitchFamily="34" charset="-120"/>
              </a:rPr>
              <a:t>MVC</a:t>
            </a:r>
            <a:endParaRPr lang="en-US" sz="2200" dirty="0"/>
          </a:p>
        </p:txBody>
      </p:sp>
      <p:sp>
        <p:nvSpPr>
          <p:cNvPr id="10" name="Text 8"/>
          <p:cNvSpPr/>
          <p:nvPr/>
        </p:nvSpPr>
        <p:spPr>
          <a:xfrm>
            <a:off x="640080" y="1874520"/>
            <a:ext cx="3200400" cy="256032"/>
          </a:xfrm>
          <a:prstGeom prst="rect">
            <a:avLst/>
          </a:prstGeom>
          <a:noFill/>
          <a:ln/>
        </p:spPr>
        <p:txBody>
          <a:bodyPr wrap="square" lIns="0" tIns="0" rIns="0" bIns="0" rtlCol="0" anchor="ctr"/>
          <a:lstStyle/>
          <a:p>
            <a:pPr indent="0" marL="0">
              <a:buNone/>
            </a:pPr>
            <a:r>
              <a:rPr lang="en-US" sz="1000" b="1" i="1" dirty="0">
                <a:solidFill>
                  <a:srgbClr val="4A90E2"/>
                </a:solidFill>
                <a:latin typeface="Calibri" pitchFamily="34" charset="0"/>
                <a:ea typeface="Calibri" pitchFamily="34" charset="-122"/>
                <a:cs typeface="Calibri" pitchFamily="34" charset="-120"/>
              </a:rPr>
              <a:t>Model · View · Controller</a:t>
            </a:r>
            <a:endParaRPr lang="en-US" sz="1000" dirty="0"/>
          </a:p>
        </p:txBody>
      </p:sp>
      <p:sp>
        <p:nvSpPr>
          <p:cNvPr id="11" name="Shape 9"/>
          <p:cNvSpPr/>
          <p:nvPr/>
        </p:nvSpPr>
        <p:spPr>
          <a:xfrm>
            <a:off x="640080" y="2148840"/>
            <a:ext cx="3200400" cy="0"/>
          </a:xfrm>
          <a:prstGeom prst="line">
            <a:avLst/>
          </a:prstGeom>
          <a:noFill/>
          <a:ln w="9525">
            <a:solidFill>
              <a:srgbClr val="D6E6F7"/>
            </a:solidFill>
            <a:prstDash val="solid"/>
          </a:ln>
        </p:spPr>
      </p:sp>
      <p:sp>
        <p:nvSpPr>
          <p:cNvPr id="12" name="Text 10"/>
          <p:cNvSpPr/>
          <p:nvPr/>
        </p:nvSpPr>
        <p:spPr>
          <a:xfrm>
            <a:off x="640080" y="2212848"/>
            <a:ext cx="3200400" cy="50292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Three-role split. Controller mediates.</a:t>
            </a:r>
            <a:endParaRPr lang="en-US" sz="1000" dirty="0"/>
          </a:p>
        </p:txBody>
      </p:sp>
      <p:sp>
        <p:nvSpPr>
          <p:cNvPr id="13" name="Text 11"/>
          <p:cNvSpPr/>
          <p:nvPr/>
        </p:nvSpPr>
        <p:spPr>
          <a:xfrm>
            <a:off x="640080" y="2788920"/>
            <a:ext cx="3200400" cy="365760"/>
          </a:xfrm>
          <a:prstGeom prst="rect">
            <a:avLst/>
          </a:prstGeom>
          <a:noFill/>
          <a:ln/>
        </p:spPr>
        <p:txBody>
          <a:bodyPr wrap="square" lIns="0" tIns="0" rIns="0" bIns="0" rtlCol="0" anchor="ctr"/>
          <a:lstStyle/>
          <a:p>
            <a:pPr indent="0" marL="0">
              <a:buNone/>
            </a:pPr>
            <a:r>
              <a:rPr lang="en-US" sz="900" b="1" dirty="0">
                <a:solidFill>
                  <a:srgbClr val="0B1F3F"/>
                </a:solidFill>
                <a:latin typeface="Calibri" pitchFamily="34" charset="0"/>
                <a:ea typeface="Calibri" pitchFamily="34" charset="-122"/>
                <a:cs typeface="Calibri" pitchFamily="34" charset="-120"/>
              </a:rPr>
              <a:t>Best:  </a:t>
            </a:r>
            <a:pPr indent="0" marL="0">
              <a:buNone/>
            </a:pPr>
            <a:r>
              <a:rPr lang="en-US" sz="900" dirty="0">
                <a:solidFill>
                  <a:srgbClr val="1A1A1A"/>
                </a:solidFill>
                <a:latin typeface="Calibri" pitchFamily="34" charset="0"/>
                <a:ea typeface="Calibri" pitchFamily="34" charset="-122"/>
                <a:cs typeface="Calibri" pitchFamily="34" charset="-120"/>
              </a:rPr>
              <a:t>Small apps, prototypes.</a:t>
            </a:r>
            <a:endParaRPr lang="en-US" sz="900" dirty="0"/>
          </a:p>
        </p:txBody>
      </p:sp>
      <p:sp>
        <p:nvSpPr>
          <p:cNvPr id="14" name="Text 12"/>
          <p:cNvSpPr/>
          <p:nvPr/>
        </p:nvSpPr>
        <p:spPr>
          <a:xfrm>
            <a:off x="640080" y="3154680"/>
            <a:ext cx="3200400" cy="365760"/>
          </a:xfrm>
          <a:prstGeom prst="rect">
            <a:avLst/>
          </a:prstGeom>
          <a:noFill/>
          <a:ln/>
        </p:spPr>
        <p:txBody>
          <a:bodyPr wrap="square" lIns="0" tIns="0" rIns="0" bIns="0" rtlCol="0" anchor="ctr"/>
          <a:lstStyle/>
          <a:p>
            <a:pPr indent="0" marL="0">
              <a:buNone/>
            </a:pPr>
            <a:r>
              <a:rPr lang="en-US" sz="900" b="1" dirty="0">
                <a:solidFill>
                  <a:srgbClr val="C9A227"/>
                </a:solidFill>
                <a:latin typeface="Calibri" pitchFamily="34" charset="0"/>
                <a:ea typeface="Calibri" pitchFamily="34" charset="-122"/>
                <a:cs typeface="Calibri" pitchFamily="34" charset="-120"/>
              </a:rPr>
              <a:t>Watch:  </a:t>
            </a:r>
            <a:pPr indent="0" marL="0">
              <a:buNone/>
            </a:pPr>
            <a:r>
              <a:rPr lang="en-US" sz="900" i="1" dirty="0">
                <a:solidFill>
                  <a:srgbClr val="5B6B80"/>
                </a:solidFill>
                <a:latin typeface="Calibri" pitchFamily="34" charset="0"/>
                <a:ea typeface="Calibri" pitchFamily="34" charset="-122"/>
                <a:cs typeface="Calibri" pitchFamily="34" charset="-120"/>
              </a:rPr>
              <a:t>Controller bloats at scale.</a:t>
            </a:r>
            <a:endParaRPr lang="en-US" sz="900" dirty="0"/>
          </a:p>
        </p:txBody>
      </p:sp>
      <p:sp>
        <p:nvSpPr>
          <p:cNvPr id="15" name="Shape 13"/>
          <p:cNvSpPr/>
          <p:nvPr/>
        </p:nvSpPr>
        <p:spPr>
          <a:xfrm>
            <a:off x="4251960" y="1280160"/>
            <a:ext cx="3657600" cy="2331720"/>
          </a:xfrm>
          <a:prstGeom prst="rect">
            <a:avLst/>
          </a:prstGeom>
          <a:solidFill>
            <a:srgbClr val="FFFFFF"/>
          </a:solidFill>
          <a:ln w="12700">
            <a:solidFill>
              <a:srgbClr val="C9D5E3"/>
            </a:solidFill>
            <a:prstDash val="solid"/>
          </a:ln>
        </p:spPr>
      </p:sp>
      <p:sp>
        <p:nvSpPr>
          <p:cNvPr id="16" name="Shape 14"/>
          <p:cNvSpPr/>
          <p:nvPr/>
        </p:nvSpPr>
        <p:spPr>
          <a:xfrm>
            <a:off x="4251960" y="1280160"/>
            <a:ext cx="3657600" cy="73152"/>
          </a:xfrm>
          <a:prstGeom prst="rect">
            <a:avLst/>
          </a:prstGeom>
          <a:solidFill>
            <a:srgbClr val="4A90E2"/>
          </a:solidFill>
          <a:ln w="12700">
            <a:solidFill>
              <a:srgbClr val="4A90E2"/>
            </a:solidFill>
            <a:prstDash val="solid"/>
          </a:ln>
        </p:spPr>
      </p:sp>
      <p:sp>
        <p:nvSpPr>
          <p:cNvPr id="17" name="Text 15"/>
          <p:cNvSpPr/>
          <p:nvPr/>
        </p:nvSpPr>
        <p:spPr>
          <a:xfrm>
            <a:off x="4480560" y="1444752"/>
            <a:ext cx="3200400" cy="457200"/>
          </a:xfrm>
          <a:prstGeom prst="rect">
            <a:avLst/>
          </a:prstGeom>
          <a:noFill/>
          <a:ln/>
        </p:spPr>
        <p:txBody>
          <a:bodyPr wrap="square" lIns="0" tIns="0" rIns="0" bIns="0" rtlCol="0" anchor="ctr"/>
          <a:lstStyle/>
          <a:p>
            <a:pPr indent="0" marL="0">
              <a:buNone/>
            </a:pPr>
            <a:r>
              <a:rPr lang="en-US" sz="2200" b="1" dirty="0">
                <a:solidFill>
                  <a:srgbClr val="0B1F3F"/>
                </a:solidFill>
                <a:latin typeface="Georgia" pitchFamily="34" charset="0"/>
                <a:ea typeface="Georgia" pitchFamily="34" charset="-122"/>
                <a:cs typeface="Georgia" pitchFamily="34" charset="-120"/>
              </a:rPr>
              <a:t>MVP</a:t>
            </a:r>
            <a:endParaRPr lang="en-US" sz="2200" dirty="0"/>
          </a:p>
        </p:txBody>
      </p:sp>
      <p:sp>
        <p:nvSpPr>
          <p:cNvPr id="18" name="Text 16"/>
          <p:cNvSpPr/>
          <p:nvPr/>
        </p:nvSpPr>
        <p:spPr>
          <a:xfrm>
            <a:off x="4480560" y="1874520"/>
            <a:ext cx="3200400" cy="256032"/>
          </a:xfrm>
          <a:prstGeom prst="rect">
            <a:avLst/>
          </a:prstGeom>
          <a:noFill/>
          <a:ln/>
        </p:spPr>
        <p:txBody>
          <a:bodyPr wrap="square" lIns="0" tIns="0" rIns="0" bIns="0" rtlCol="0" anchor="ctr"/>
          <a:lstStyle/>
          <a:p>
            <a:pPr indent="0" marL="0">
              <a:buNone/>
            </a:pPr>
            <a:r>
              <a:rPr lang="en-US" sz="1000" b="1" i="1" dirty="0">
                <a:solidFill>
                  <a:srgbClr val="4A90E2"/>
                </a:solidFill>
                <a:latin typeface="Calibri" pitchFamily="34" charset="0"/>
                <a:ea typeface="Calibri" pitchFamily="34" charset="-122"/>
                <a:cs typeface="Calibri" pitchFamily="34" charset="-120"/>
              </a:rPr>
              <a:t>Model · View · Presenter</a:t>
            </a:r>
            <a:endParaRPr lang="en-US" sz="1000" dirty="0"/>
          </a:p>
        </p:txBody>
      </p:sp>
      <p:sp>
        <p:nvSpPr>
          <p:cNvPr id="19" name="Shape 17"/>
          <p:cNvSpPr/>
          <p:nvPr/>
        </p:nvSpPr>
        <p:spPr>
          <a:xfrm>
            <a:off x="4480560" y="2148840"/>
            <a:ext cx="3200400" cy="0"/>
          </a:xfrm>
          <a:prstGeom prst="line">
            <a:avLst/>
          </a:prstGeom>
          <a:noFill/>
          <a:ln w="9525">
            <a:solidFill>
              <a:srgbClr val="D6E6F7"/>
            </a:solidFill>
            <a:prstDash val="solid"/>
          </a:ln>
        </p:spPr>
      </p:sp>
      <p:sp>
        <p:nvSpPr>
          <p:cNvPr id="20" name="Text 18"/>
          <p:cNvSpPr/>
          <p:nvPr/>
        </p:nvSpPr>
        <p:spPr>
          <a:xfrm>
            <a:off x="4480560" y="2212848"/>
            <a:ext cx="3200400" cy="50292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Passive view; Presenter decides everything.</a:t>
            </a:r>
            <a:endParaRPr lang="en-US" sz="1000" dirty="0"/>
          </a:p>
        </p:txBody>
      </p:sp>
      <p:sp>
        <p:nvSpPr>
          <p:cNvPr id="21" name="Text 19"/>
          <p:cNvSpPr/>
          <p:nvPr/>
        </p:nvSpPr>
        <p:spPr>
          <a:xfrm>
            <a:off x="4480560" y="2788920"/>
            <a:ext cx="3200400" cy="365760"/>
          </a:xfrm>
          <a:prstGeom prst="rect">
            <a:avLst/>
          </a:prstGeom>
          <a:noFill/>
          <a:ln/>
        </p:spPr>
        <p:txBody>
          <a:bodyPr wrap="square" lIns="0" tIns="0" rIns="0" bIns="0" rtlCol="0" anchor="ctr"/>
          <a:lstStyle/>
          <a:p>
            <a:pPr indent="0" marL="0">
              <a:buNone/>
            </a:pPr>
            <a:r>
              <a:rPr lang="en-US" sz="900" b="1" dirty="0">
                <a:solidFill>
                  <a:srgbClr val="0B1F3F"/>
                </a:solidFill>
                <a:latin typeface="Calibri" pitchFamily="34" charset="0"/>
                <a:ea typeface="Calibri" pitchFamily="34" charset="-122"/>
                <a:cs typeface="Calibri" pitchFamily="34" charset="-120"/>
              </a:rPr>
              <a:t>Best:  </a:t>
            </a:r>
            <a:pPr indent="0" marL="0">
              <a:buNone/>
            </a:pPr>
            <a:r>
              <a:rPr lang="en-US" sz="900" dirty="0">
                <a:solidFill>
                  <a:srgbClr val="1A1A1A"/>
                </a:solidFill>
                <a:latin typeface="Calibri" pitchFamily="34" charset="0"/>
                <a:ea typeface="Calibri" pitchFamily="34" charset="-122"/>
                <a:cs typeface="Calibri" pitchFamily="34" charset="-120"/>
              </a:rPr>
              <a:t>High unit-test coverage.</a:t>
            </a:r>
            <a:endParaRPr lang="en-US" sz="900" dirty="0"/>
          </a:p>
        </p:txBody>
      </p:sp>
      <p:sp>
        <p:nvSpPr>
          <p:cNvPr id="22" name="Text 20"/>
          <p:cNvSpPr/>
          <p:nvPr/>
        </p:nvSpPr>
        <p:spPr>
          <a:xfrm>
            <a:off x="4480560" y="3154680"/>
            <a:ext cx="3200400" cy="365760"/>
          </a:xfrm>
          <a:prstGeom prst="rect">
            <a:avLst/>
          </a:prstGeom>
          <a:noFill/>
          <a:ln/>
        </p:spPr>
        <p:txBody>
          <a:bodyPr wrap="square" lIns="0" tIns="0" rIns="0" bIns="0" rtlCol="0" anchor="ctr"/>
          <a:lstStyle/>
          <a:p>
            <a:pPr indent="0" marL="0">
              <a:buNone/>
            </a:pPr>
            <a:r>
              <a:rPr lang="en-US" sz="900" b="1" dirty="0">
                <a:solidFill>
                  <a:srgbClr val="C9A227"/>
                </a:solidFill>
                <a:latin typeface="Calibri" pitchFamily="34" charset="0"/>
                <a:ea typeface="Calibri" pitchFamily="34" charset="-122"/>
                <a:cs typeface="Calibri" pitchFamily="34" charset="-120"/>
              </a:rPr>
              <a:t>Watch:  </a:t>
            </a:r>
            <a:pPr indent="0" marL="0">
              <a:buNone/>
            </a:pPr>
            <a:r>
              <a:rPr lang="en-US" sz="900" i="1" dirty="0">
                <a:solidFill>
                  <a:srgbClr val="5B6B80"/>
                </a:solidFill>
                <a:latin typeface="Calibri" pitchFamily="34" charset="0"/>
                <a:ea typeface="Calibri" pitchFamily="34" charset="-122"/>
                <a:cs typeface="Calibri" pitchFamily="34" charset="-120"/>
              </a:rPr>
              <a:t>Verbose interface boilerplate.</a:t>
            </a:r>
            <a:endParaRPr lang="en-US" sz="900" dirty="0"/>
          </a:p>
        </p:txBody>
      </p:sp>
      <p:sp>
        <p:nvSpPr>
          <p:cNvPr id="23" name="Shape 21"/>
          <p:cNvSpPr/>
          <p:nvPr/>
        </p:nvSpPr>
        <p:spPr>
          <a:xfrm>
            <a:off x="8092440" y="1280160"/>
            <a:ext cx="3657600" cy="2331720"/>
          </a:xfrm>
          <a:prstGeom prst="rect">
            <a:avLst/>
          </a:prstGeom>
          <a:solidFill>
            <a:srgbClr val="FFFFFF"/>
          </a:solidFill>
          <a:ln w="12700">
            <a:solidFill>
              <a:srgbClr val="C9D5E3"/>
            </a:solidFill>
            <a:prstDash val="solid"/>
          </a:ln>
        </p:spPr>
      </p:sp>
      <p:sp>
        <p:nvSpPr>
          <p:cNvPr id="24" name="Shape 22"/>
          <p:cNvSpPr/>
          <p:nvPr/>
        </p:nvSpPr>
        <p:spPr>
          <a:xfrm>
            <a:off x="8092440" y="1280160"/>
            <a:ext cx="3657600" cy="73152"/>
          </a:xfrm>
          <a:prstGeom prst="rect">
            <a:avLst/>
          </a:prstGeom>
          <a:solidFill>
            <a:srgbClr val="C9A227"/>
          </a:solidFill>
          <a:ln w="12700">
            <a:solidFill>
              <a:srgbClr val="C9A227"/>
            </a:solidFill>
            <a:prstDash val="solid"/>
          </a:ln>
        </p:spPr>
      </p:sp>
      <p:sp>
        <p:nvSpPr>
          <p:cNvPr id="25" name="Text 23"/>
          <p:cNvSpPr/>
          <p:nvPr/>
        </p:nvSpPr>
        <p:spPr>
          <a:xfrm>
            <a:off x="8321040" y="1444752"/>
            <a:ext cx="3200400" cy="457200"/>
          </a:xfrm>
          <a:prstGeom prst="rect">
            <a:avLst/>
          </a:prstGeom>
          <a:noFill/>
          <a:ln/>
        </p:spPr>
        <p:txBody>
          <a:bodyPr wrap="square" lIns="0" tIns="0" rIns="0" bIns="0" rtlCol="0" anchor="ctr"/>
          <a:lstStyle/>
          <a:p>
            <a:pPr indent="0" marL="0">
              <a:buNone/>
            </a:pPr>
            <a:r>
              <a:rPr lang="en-US" sz="2200" b="1" dirty="0">
                <a:solidFill>
                  <a:srgbClr val="0B1F3F"/>
                </a:solidFill>
                <a:latin typeface="Georgia" pitchFamily="34" charset="0"/>
                <a:ea typeface="Georgia" pitchFamily="34" charset="-122"/>
                <a:cs typeface="Georgia" pitchFamily="34" charset="-120"/>
              </a:rPr>
              <a:t>MVVM</a:t>
            </a:r>
            <a:endParaRPr lang="en-US" sz="2200" dirty="0"/>
          </a:p>
        </p:txBody>
      </p:sp>
      <p:sp>
        <p:nvSpPr>
          <p:cNvPr id="26" name="Text 24"/>
          <p:cNvSpPr/>
          <p:nvPr/>
        </p:nvSpPr>
        <p:spPr>
          <a:xfrm>
            <a:off x="8321040" y="1874520"/>
            <a:ext cx="3200400" cy="256032"/>
          </a:xfrm>
          <a:prstGeom prst="rect">
            <a:avLst/>
          </a:prstGeom>
          <a:noFill/>
          <a:ln/>
        </p:spPr>
        <p:txBody>
          <a:bodyPr wrap="square" lIns="0" tIns="0" rIns="0" bIns="0" rtlCol="0" anchor="ctr"/>
          <a:lstStyle/>
          <a:p>
            <a:pPr indent="0" marL="0">
              <a:buNone/>
            </a:pPr>
            <a:r>
              <a:rPr lang="en-US" sz="1000" b="1" i="1" dirty="0">
                <a:solidFill>
                  <a:srgbClr val="C9A227"/>
                </a:solidFill>
                <a:latin typeface="Calibri" pitchFamily="34" charset="0"/>
                <a:ea typeface="Calibri" pitchFamily="34" charset="-122"/>
                <a:cs typeface="Calibri" pitchFamily="34" charset="-120"/>
              </a:rPr>
              <a:t>Model · View · ViewModel</a:t>
            </a:r>
            <a:endParaRPr lang="en-US" sz="1000" dirty="0"/>
          </a:p>
        </p:txBody>
      </p:sp>
      <p:sp>
        <p:nvSpPr>
          <p:cNvPr id="27" name="Shape 25"/>
          <p:cNvSpPr/>
          <p:nvPr/>
        </p:nvSpPr>
        <p:spPr>
          <a:xfrm>
            <a:off x="8321040" y="2148840"/>
            <a:ext cx="3200400" cy="0"/>
          </a:xfrm>
          <a:prstGeom prst="line">
            <a:avLst/>
          </a:prstGeom>
          <a:noFill/>
          <a:ln w="9525">
            <a:solidFill>
              <a:srgbClr val="D6E6F7"/>
            </a:solidFill>
            <a:prstDash val="solid"/>
          </a:ln>
        </p:spPr>
      </p:sp>
      <p:sp>
        <p:nvSpPr>
          <p:cNvPr id="28" name="Text 26"/>
          <p:cNvSpPr/>
          <p:nvPr/>
        </p:nvSpPr>
        <p:spPr>
          <a:xfrm>
            <a:off x="8321040" y="2212848"/>
            <a:ext cx="3200400" cy="50292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Reactive binding. ViewModel has no View ref.</a:t>
            </a:r>
            <a:endParaRPr lang="en-US" sz="1000" dirty="0"/>
          </a:p>
        </p:txBody>
      </p:sp>
      <p:sp>
        <p:nvSpPr>
          <p:cNvPr id="29" name="Text 27"/>
          <p:cNvSpPr/>
          <p:nvPr/>
        </p:nvSpPr>
        <p:spPr>
          <a:xfrm>
            <a:off x="8321040" y="2788920"/>
            <a:ext cx="3200400" cy="365760"/>
          </a:xfrm>
          <a:prstGeom prst="rect">
            <a:avLst/>
          </a:prstGeom>
          <a:noFill/>
          <a:ln/>
        </p:spPr>
        <p:txBody>
          <a:bodyPr wrap="square" lIns="0" tIns="0" rIns="0" bIns="0" rtlCol="0" anchor="ctr"/>
          <a:lstStyle/>
          <a:p>
            <a:pPr indent="0" marL="0">
              <a:buNone/>
            </a:pPr>
            <a:r>
              <a:rPr lang="en-US" sz="900" b="1" dirty="0">
                <a:solidFill>
                  <a:srgbClr val="0B1F3F"/>
                </a:solidFill>
                <a:latin typeface="Calibri" pitchFamily="34" charset="0"/>
                <a:ea typeface="Calibri" pitchFamily="34" charset="-122"/>
                <a:cs typeface="Calibri" pitchFamily="34" charset="-120"/>
              </a:rPr>
              <a:t>Best:  </a:t>
            </a:r>
            <a:pPr indent="0" marL="0">
              <a:buNone/>
            </a:pPr>
            <a:r>
              <a:rPr lang="en-US" sz="900" dirty="0">
                <a:solidFill>
                  <a:srgbClr val="1A1A1A"/>
                </a:solidFill>
                <a:latin typeface="Calibri" pitchFamily="34" charset="0"/>
                <a:ea typeface="Calibri" pitchFamily="34" charset="-122"/>
                <a:cs typeface="Calibri" pitchFamily="34" charset="-120"/>
              </a:rPr>
              <a:t>Compose, SwiftUI, Flutter — today's default.</a:t>
            </a:r>
            <a:endParaRPr lang="en-US" sz="900" dirty="0"/>
          </a:p>
        </p:txBody>
      </p:sp>
      <p:sp>
        <p:nvSpPr>
          <p:cNvPr id="30" name="Text 28"/>
          <p:cNvSpPr/>
          <p:nvPr/>
        </p:nvSpPr>
        <p:spPr>
          <a:xfrm>
            <a:off x="8321040" y="3154680"/>
            <a:ext cx="3200400" cy="365760"/>
          </a:xfrm>
          <a:prstGeom prst="rect">
            <a:avLst/>
          </a:prstGeom>
          <a:noFill/>
          <a:ln/>
        </p:spPr>
        <p:txBody>
          <a:bodyPr wrap="square" lIns="0" tIns="0" rIns="0" bIns="0" rtlCol="0" anchor="ctr"/>
          <a:lstStyle/>
          <a:p>
            <a:pPr indent="0" marL="0">
              <a:buNone/>
            </a:pPr>
            <a:r>
              <a:rPr lang="en-US" sz="900" b="1" dirty="0">
                <a:solidFill>
                  <a:srgbClr val="C9A227"/>
                </a:solidFill>
                <a:latin typeface="Calibri" pitchFamily="34" charset="0"/>
                <a:ea typeface="Calibri" pitchFamily="34" charset="-122"/>
                <a:cs typeface="Calibri" pitchFamily="34" charset="-120"/>
              </a:rPr>
              <a:t>Watch:  </a:t>
            </a:r>
            <a:pPr indent="0" marL="0">
              <a:buNone/>
            </a:pPr>
            <a:r>
              <a:rPr lang="en-US" sz="900" i="1" dirty="0">
                <a:solidFill>
                  <a:srgbClr val="5B6B80"/>
                </a:solidFill>
                <a:latin typeface="Calibri" pitchFamily="34" charset="0"/>
                <a:ea typeface="Calibri" pitchFamily="34" charset="-122"/>
                <a:cs typeface="Calibri" pitchFamily="34" charset="-120"/>
              </a:rPr>
              <a:t>Needs reactive framework support.</a:t>
            </a:r>
            <a:endParaRPr lang="en-US" sz="900" dirty="0"/>
          </a:p>
        </p:txBody>
      </p:sp>
      <p:sp>
        <p:nvSpPr>
          <p:cNvPr id="31" name="Shape 29"/>
          <p:cNvSpPr/>
          <p:nvPr/>
        </p:nvSpPr>
        <p:spPr>
          <a:xfrm>
            <a:off x="411480" y="3813048"/>
            <a:ext cx="3657600" cy="2331720"/>
          </a:xfrm>
          <a:prstGeom prst="rect">
            <a:avLst/>
          </a:prstGeom>
          <a:solidFill>
            <a:srgbClr val="FFFFFF"/>
          </a:solidFill>
          <a:ln w="12700">
            <a:solidFill>
              <a:srgbClr val="C9D5E3"/>
            </a:solidFill>
            <a:prstDash val="solid"/>
          </a:ln>
        </p:spPr>
      </p:sp>
      <p:sp>
        <p:nvSpPr>
          <p:cNvPr id="32" name="Shape 30"/>
          <p:cNvSpPr/>
          <p:nvPr/>
        </p:nvSpPr>
        <p:spPr>
          <a:xfrm>
            <a:off x="411480" y="3813048"/>
            <a:ext cx="3657600" cy="73152"/>
          </a:xfrm>
          <a:prstGeom prst="rect">
            <a:avLst/>
          </a:prstGeom>
          <a:solidFill>
            <a:srgbClr val="C9A227"/>
          </a:solidFill>
          <a:ln w="12700">
            <a:solidFill>
              <a:srgbClr val="C9A227"/>
            </a:solidFill>
            <a:prstDash val="solid"/>
          </a:ln>
        </p:spPr>
      </p:sp>
      <p:sp>
        <p:nvSpPr>
          <p:cNvPr id="33" name="Text 31"/>
          <p:cNvSpPr/>
          <p:nvPr/>
        </p:nvSpPr>
        <p:spPr>
          <a:xfrm>
            <a:off x="640080" y="3977640"/>
            <a:ext cx="3200400" cy="457200"/>
          </a:xfrm>
          <a:prstGeom prst="rect">
            <a:avLst/>
          </a:prstGeom>
          <a:noFill/>
          <a:ln/>
        </p:spPr>
        <p:txBody>
          <a:bodyPr wrap="square" lIns="0" tIns="0" rIns="0" bIns="0" rtlCol="0" anchor="ctr"/>
          <a:lstStyle/>
          <a:p>
            <a:pPr indent="0" marL="0">
              <a:buNone/>
            </a:pPr>
            <a:r>
              <a:rPr lang="en-US" sz="2200" b="1" dirty="0">
                <a:solidFill>
                  <a:srgbClr val="0B1F3F"/>
                </a:solidFill>
                <a:latin typeface="Georgia" pitchFamily="34" charset="0"/>
                <a:ea typeface="Georgia" pitchFamily="34" charset="-122"/>
                <a:cs typeface="Georgia" pitchFamily="34" charset="-120"/>
              </a:rPr>
              <a:t>Clean</a:t>
            </a:r>
            <a:endParaRPr lang="en-US" sz="2200" dirty="0"/>
          </a:p>
        </p:txBody>
      </p:sp>
      <p:sp>
        <p:nvSpPr>
          <p:cNvPr id="34" name="Text 32"/>
          <p:cNvSpPr/>
          <p:nvPr/>
        </p:nvSpPr>
        <p:spPr>
          <a:xfrm>
            <a:off x="640080" y="4407408"/>
            <a:ext cx="3200400" cy="256032"/>
          </a:xfrm>
          <a:prstGeom prst="rect">
            <a:avLst/>
          </a:prstGeom>
          <a:noFill/>
          <a:ln/>
        </p:spPr>
        <p:txBody>
          <a:bodyPr wrap="square" lIns="0" tIns="0" rIns="0" bIns="0" rtlCol="0" anchor="ctr"/>
          <a:lstStyle/>
          <a:p>
            <a:pPr indent="0" marL="0">
              <a:buNone/>
            </a:pPr>
            <a:r>
              <a:rPr lang="en-US" sz="1000" b="1" i="1" dirty="0">
                <a:solidFill>
                  <a:srgbClr val="C9A227"/>
                </a:solidFill>
                <a:latin typeface="Calibri" pitchFamily="34" charset="0"/>
                <a:ea typeface="Calibri" pitchFamily="34" charset="-122"/>
                <a:cs typeface="Calibri" pitchFamily="34" charset="-120"/>
              </a:rPr>
              <a:t>Layered, dependencies inward</a:t>
            </a:r>
            <a:endParaRPr lang="en-US" sz="1000" dirty="0"/>
          </a:p>
        </p:txBody>
      </p:sp>
      <p:sp>
        <p:nvSpPr>
          <p:cNvPr id="35" name="Shape 33"/>
          <p:cNvSpPr/>
          <p:nvPr/>
        </p:nvSpPr>
        <p:spPr>
          <a:xfrm>
            <a:off x="640080" y="4681728"/>
            <a:ext cx="3200400" cy="0"/>
          </a:xfrm>
          <a:prstGeom prst="line">
            <a:avLst/>
          </a:prstGeom>
          <a:noFill/>
          <a:ln w="9525">
            <a:solidFill>
              <a:srgbClr val="D6E6F7"/>
            </a:solidFill>
            <a:prstDash val="solid"/>
          </a:ln>
        </p:spPr>
      </p:sp>
      <p:sp>
        <p:nvSpPr>
          <p:cNvPr id="36" name="Text 34"/>
          <p:cNvSpPr/>
          <p:nvPr/>
        </p:nvSpPr>
        <p:spPr>
          <a:xfrm>
            <a:off x="640080" y="4745736"/>
            <a:ext cx="3200400" cy="50292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Domain layer imports nothing platform-specific.</a:t>
            </a:r>
            <a:endParaRPr lang="en-US" sz="1000" dirty="0"/>
          </a:p>
        </p:txBody>
      </p:sp>
      <p:sp>
        <p:nvSpPr>
          <p:cNvPr id="37" name="Text 35"/>
          <p:cNvSpPr/>
          <p:nvPr/>
        </p:nvSpPr>
        <p:spPr>
          <a:xfrm>
            <a:off x="640080" y="5321808"/>
            <a:ext cx="3200400" cy="365760"/>
          </a:xfrm>
          <a:prstGeom prst="rect">
            <a:avLst/>
          </a:prstGeom>
          <a:noFill/>
          <a:ln/>
        </p:spPr>
        <p:txBody>
          <a:bodyPr wrap="square" lIns="0" tIns="0" rIns="0" bIns="0" rtlCol="0" anchor="ctr"/>
          <a:lstStyle/>
          <a:p>
            <a:pPr indent="0" marL="0">
              <a:buNone/>
            </a:pPr>
            <a:r>
              <a:rPr lang="en-US" sz="900" b="1" dirty="0">
                <a:solidFill>
                  <a:srgbClr val="0B1F3F"/>
                </a:solidFill>
                <a:latin typeface="Calibri" pitchFamily="34" charset="0"/>
                <a:ea typeface="Calibri" pitchFamily="34" charset="-122"/>
                <a:cs typeface="Calibri" pitchFamily="34" charset="-120"/>
              </a:rPr>
              <a:t>Best:  </a:t>
            </a:r>
            <a:pPr indent="0" marL="0">
              <a:buNone/>
            </a:pPr>
            <a:r>
              <a:rPr lang="en-US" sz="900" dirty="0">
                <a:solidFill>
                  <a:srgbClr val="1A1A1A"/>
                </a:solidFill>
                <a:latin typeface="Calibri" pitchFamily="34" charset="0"/>
                <a:ea typeface="Calibri" pitchFamily="34" charset="-122"/>
                <a:cs typeface="Calibri" pitchFamily="34" charset="-120"/>
              </a:rPr>
              <a:t>Long-lived multi-developer projects.</a:t>
            </a:r>
            <a:endParaRPr lang="en-US" sz="900" dirty="0"/>
          </a:p>
        </p:txBody>
      </p:sp>
      <p:sp>
        <p:nvSpPr>
          <p:cNvPr id="38" name="Text 36"/>
          <p:cNvSpPr/>
          <p:nvPr/>
        </p:nvSpPr>
        <p:spPr>
          <a:xfrm>
            <a:off x="640080" y="5687568"/>
            <a:ext cx="3200400" cy="365760"/>
          </a:xfrm>
          <a:prstGeom prst="rect">
            <a:avLst/>
          </a:prstGeom>
          <a:noFill/>
          <a:ln/>
        </p:spPr>
        <p:txBody>
          <a:bodyPr wrap="square" lIns="0" tIns="0" rIns="0" bIns="0" rtlCol="0" anchor="ctr"/>
          <a:lstStyle/>
          <a:p>
            <a:pPr indent="0" marL="0">
              <a:buNone/>
            </a:pPr>
            <a:r>
              <a:rPr lang="en-US" sz="900" b="1" dirty="0">
                <a:solidFill>
                  <a:srgbClr val="C9A227"/>
                </a:solidFill>
                <a:latin typeface="Calibri" pitchFamily="34" charset="0"/>
                <a:ea typeface="Calibri" pitchFamily="34" charset="-122"/>
                <a:cs typeface="Calibri" pitchFamily="34" charset="-120"/>
              </a:rPr>
              <a:t>Watch:  </a:t>
            </a:r>
            <a:pPr indent="0" marL="0">
              <a:buNone/>
            </a:pPr>
            <a:r>
              <a:rPr lang="en-US" sz="900" i="1" dirty="0">
                <a:solidFill>
                  <a:srgbClr val="5B6B80"/>
                </a:solidFill>
                <a:latin typeface="Calibri" pitchFamily="34" charset="0"/>
                <a:ea typeface="Calibri" pitchFamily="34" charset="-122"/>
                <a:cs typeface="Calibri" pitchFamily="34" charset="-120"/>
              </a:rPr>
              <a:t>Overkill for small apps.</a:t>
            </a:r>
            <a:endParaRPr lang="en-US" sz="900" dirty="0"/>
          </a:p>
        </p:txBody>
      </p:sp>
      <p:sp>
        <p:nvSpPr>
          <p:cNvPr id="39" name="Shape 37"/>
          <p:cNvSpPr/>
          <p:nvPr/>
        </p:nvSpPr>
        <p:spPr>
          <a:xfrm>
            <a:off x="4251960" y="3813048"/>
            <a:ext cx="3657600" cy="2331720"/>
          </a:xfrm>
          <a:prstGeom prst="rect">
            <a:avLst/>
          </a:prstGeom>
          <a:solidFill>
            <a:srgbClr val="FFFFFF"/>
          </a:solidFill>
          <a:ln w="12700">
            <a:solidFill>
              <a:srgbClr val="C9D5E3"/>
            </a:solidFill>
            <a:prstDash val="solid"/>
          </a:ln>
        </p:spPr>
      </p:sp>
      <p:sp>
        <p:nvSpPr>
          <p:cNvPr id="40" name="Shape 38"/>
          <p:cNvSpPr/>
          <p:nvPr/>
        </p:nvSpPr>
        <p:spPr>
          <a:xfrm>
            <a:off x="4251960" y="3813048"/>
            <a:ext cx="3657600" cy="73152"/>
          </a:xfrm>
          <a:prstGeom prst="rect">
            <a:avLst/>
          </a:prstGeom>
          <a:solidFill>
            <a:srgbClr val="0B1F3F"/>
          </a:solidFill>
          <a:ln w="12700">
            <a:solidFill>
              <a:srgbClr val="0B1F3F"/>
            </a:solidFill>
            <a:prstDash val="solid"/>
          </a:ln>
        </p:spPr>
      </p:sp>
      <p:sp>
        <p:nvSpPr>
          <p:cNvPr id="41" name="Text 39"/>
          <p:cNvSpPr/>
          <p:nvPr/>
        </p:nvSpPr>
        <p:spPr>
          <a:xfrm>
            <a:off x="4480560" y="3977640"/>
            <a:ext cx="3200400" cy="457200"/>
          </a:xfrm>
          <a:prstGeom prst="rect">
            <a:avLst/>
          </a:prstGeom>
          <a:noFill/>
          <a:ln/>
        </p:spPr>
        <p:txBody>
          <a:bodyPr wrap="square" lIns="0" tIns="0" rIns="0" bIns="0" rtlCol="0" anchor="ctr"/>
          <a:lstStyle/>
          <a:p>
            <a:pPr indent="0" marL="0">
              <a:buNone/>
            </a:pPr>
            <a:r>
              <a:rPr lang="en-US" sz="2200" b="1" dirty="0">
                <a:solidFill>
                  <a:srgbClr val="0B1F3F"/>
                </a:solidFill>
                <a:latin typeface="Georgia" pitchFamily="34" charset="0"/>
                <a:ea typeface="Georgia" pitchFamily="34" charset="-122"/>
                <a:cs typeface="Georgia" pitchFamily="34" charset="-120"/>
              </a:rPr>
              <a:t>BLoC</a:t>
            </a:r>
            <a:endParaRPr lang="en-US" sz="2200" dirty="0"/>
          </a:p>
        </p:txBody>
      </p:sp>
      <p:sp>
        <p:nvSpPr>
          <p:cNvPr id="42" name="Text 40"/>
          <p:cNvSpPr/>
          <p:nvPr/>
        </p:nvSpPr>
        <p:spPr>
          <a:xfrm>
            <a:off x="4480560" y="4407408"/>
            <a:ext cx="3200400" cy="256032"/>
          </a:xfrm>
          <a:prstGeom prst="rect">
            <a:avLst/>
          </a:prstGeom>
          <a:noFill/>
          <a:ln/>
        </p:spPr>
        <p:txBody>
          <a:bodyPr wrap="square" lIns="0" tIns="0" rIns="0" bIns="0" rtlCol="0" anchor="ctr"/>
          <a:lstStyle/>
          <a:p>
            <a:pPr indent="0" marL="0">
              <a:buNone/>
            </a:pPr>
            <a:r>
              <a:rPr lang="en-US" sz="1000" b="1" i="1" dirty="0">
                <a:solidFill>
                  <a:srgbClr val="0B1F3F"/>
                </a:solidFill>
                <a:latin typeface="Calibri" pitchFamily="34" charset="0"/>
                <a:ea typeface="Calibri" pitchFamily="34" charset="-122"/>
                <a:cs typeface="Calibri" pitchFamily="34" charset="-120"/>
              </a:rPr>
              <a:t>Business Logic Component</a:t>
            </a:r>
            <a:endParaRPr lang="en-US" sz="1000" dirty="0"/>
          </a:p>
        </p:txBody>
      </p:sp>
      <p:sp>
        <p:nvSpPr>
          <p:cNvPr id="43" name="Shape 41"/>
          <p:cNvSpPr/>
          <p:nvPr/>
        </p:nvSpPr>
        <p:spPr>
          <a:xfrm>
            <a:off x="4480560" y="4681728"/>
            <a:ext cx="3200400" cy="0"/>
          </a:xfrm>
          <a:prstGeom prst="line">
            <a:avLst/>
          </a:prstGeom>
          <a:noFill/>
          <a:ln w="9525">
            <a:solidFill>
              <a:srgbClr val="D6E6F7"/>
            </a:solidFill>
            <a:prstDash val="solid"/>
          </a:ln>
        </p:spPr>
      </p:sp>
      <p:sp>
        <p:nvSpPr>
          <p:cNvPr id="44" name="Text 42"/>
          <p:cNvSpPr/>
          <p:nvPr/>
        </p:nvSpPr>
        <p:spPr>
          <a:xfrm>
            <a:off x="4480560" y="4745736"/>
            <a:ext cx="3200400" cy="50292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Events in → States out. Strict unidirectional flow.</a:t>
            </a:r>
            <a:endParaRPr lang="en-US" sz="1000" dirty="0"/>
          </a:p>
        </p:txBody>
      </p:sp>
      <p:sp>
        <p:nvSpPr>
          <p:cNvPr id="45" name="Text 43"/>
          <p:cNvSpPr/>
          <p:nvPr/>
        </p:nvSpPr>
        <p:spPr>
          <a:xfrm>
            <a:off x="4480560" y="5321808"/>
            <a:ext cx="3200400" cy="365760"/>
          </a:xfrm>
          <a:prstGeom prst="rect">
            <a:avLst/>
          </a:prstGeom>
          <a:noFill/>
          <a:ln/>
        </p:spPr>
        <p:txBody>
          <a:bodyPr wrap="square" lIns="0" tIns="0" rIns="0" bIns="0" rtlCol="0" anchor="ctr"/>
          <a:lstStyle/>
          <a:p>
            <a:pPr indent="0" marL="0">
              <a:buNone/>
            </a:pPr>
            <a:r>
              <a:rPr lang="en-US" sz="900" b="1" dirty="0">
                <a:solidFill>
                  <a:srgbClr val="0B1F3F"/>
                </a:solidFill>
                <a:latin typeface="Calibri" pitchFamily="34" charset="0"/>
                <a:ea typeface="Calibri" pitchFamily="34" charset="-122"/>
                <a:cs typeface="Calibri" pitchFamily="34" charset="-120"/>
              </a:rPr>
              <a:t>Best:  </a:t>
            </a:r>
            <a:pPr indent="0" marL="0">
              <a:buNone/>
            </a:pPr>
            <a:r>
              <a:rPr lang="en-US" sz="900" dirty="0">
                <a:solidFill>
                  <a:srgbClr val="1A1A1A"/>
                </a:solidFill>
                <a:latin typeface="Calibri" pitchFamily="34" charset="0"/>
                <a:ea typeface="Calibri" pitchFamily="34" charset="-122"/>
                <a:cs typeface="Calibri" pitchFamily="34" charset="-120"/>
              </a:rPr>
              <a:t>Flutter apps with complex shared state.</a:t>
            </a:r>
            <a:endParaRPr lang="en-US" sz="900" dirty="0"/>
          </a:p>
        </p:txBody>
      </p:sp>
      <p:sp>
        <p:nvSpPr>
          <p:cNvPr id="46" name="Text 44"/>
          <p:cNvSpPr/>
          <p:nvPr/>
        </p:nvSpPr>
        <p:spPr>
          <a:xfrm>
            <a:off x="4480560" y="5687568"/>
            <a:ext cx="3200400" cy="365760"/>
          </a:xfrm>
          <a:prstGeom prst="rect">
            <a:avLst/>
          </a:prstGeom>
          <a:noFill/>
          <a:ln/>
        </p:spPr>
        <p:txBody>
          <a:bodyPr wrap="square" lIns="0" tIns="0" rIns="0" bIns="0" rtlCol="0" anchor="ctr"/>
          <a:lstStyle/>
          <a:p>
            <a:pPr indent="0" marL="0">
              <a:buNone/>
            </a:pPr>
            <a:r>
              <a:rPr lang="en-US" sz="900" b="1" dirty="0">
                <a:solidFill>
                  <a:srgbClr val="C9A227"/>
                </a:solidFill>
                <a:latin typeface="Calibri" pitchFamily="34" charset="0"/>
                <a:ea typeface="Calibri" pitchFamily="34" charset="-122"/>
                <a:cs typeface="Calibri" pitchFamily="34" charset="-120"/>
              </a:rPr>
              <a:t>Watch:  </a:t>
            </a:r>
            <a:pPr indent="0" marL="0">
              <a:buNone/>
            </a:pPr>
            <a:r>
              <a:rPr lang="en-US" sz="900" i="1" dirty="0">
                <a:solidFill>
                  <a:srgbClr val="5B6B80"/>
                </a:solidFill>
                <a:latin typeface="Calibri" pitchFamily="34" charset="0"/>
                <a:ea typeface="Calibri" pitchFamily="34" charset="-122"/>
                <a:cs typeface="Calibri" pitchFamily="34" charset="-120"/>
              </a:rPr>
              <a:t>Steep learning curve.</a:t>
            </a:r>
            <a:endParaRPr lang="en-US" sz="900" dirty="0"/>
          </a:p>
        </p:txBody>
      </p:sp>
      <p:sp>
        <p:nvSpPr>
          <p:cNvPr id="47" name="Shape 45"/>
          <p:cNvSpPr/>
          <p:nvPr/>
        </p:nvSpPr>
        <p:spPr>
          <a:xfrm>
            <a:off x="8092440" y="3813048"/>
            <a:ext cx="3657600" cy="2331720"/>
          </a:xfrm>
          <a:prstGeom prst="rect">
            <a:avLst/>
          </a:prstGeom>
          <a:solidFill>
            <a:srgbClr val="FFFFFF"/>
          </a:solidFill>
          <a:ln w="12700">
            <a:solidFill>
              <a:srgbClr val="C9D5E3"/>
            </a:solidFill>
            <a:prstDash val="solid"/>
          </a:ln>
        </p:spPr>
      </p:sp>
      <p:sp>
        <p:nvSpPr>
          <p:cNvPr id="48" name="Shape 46"/>
          <p:cNvSpPr/>
          <p:nvPr/>
        </p:nvSpPr>
        <p:spPr>
          <a:xfrm>
            <a:off x="8092440" y="3813048"/>
            <a:ext cx="3657600" cy="73152"/>
          </a:xfrm>
          <a:prstGeom prst="rect">
            <a:avLst/>
          </a:prstGeom>
          <a:solidFill>
            <a:srgbClr val="0B1F3F"/>
          </a:solidFill>
          <a:ln w="12700">
            <a:solidFill>
              <a:srgbClr val="0B1F3F"/>
            </a:solidFill>
            <a:prstDash val="solid"/>
          </a:ln>
        </p:spPr>
      </p:sp>
      <p:sp>
        <p:nvSpPr>
          <p:cNvPr id="49" name="Text 47"/>
          <p:cNvSpPr/>
          <p:nvPr/>
        </p:nvSpPr>
        <p:spPr>
          <a:xfrm>
            <a:off x="8321040" y="3977640"/>
            <a:ext cx="3200400" cy="457200"/>
          </a:xfrm>
          <a:prstGeom prst="rect">
            <a:avLst/>
          </a:prstGeom>
          <a:noFill/>
          <a:ln/>
        </p:spPr>
        <p:txBody>
          <a:bodyPr wrap="square" lIns="0" tIns="0" rIns="0" bIns="0" rtlCol="0" anchor="ctr"/>
          <a:lstStyle/>
          <a:p>
            <a:pPr indent="0" marL="0">
              <a:buNone/>
            </a:pPr>
            <a:r>
              <a:rPr lang="en-US" sz="2200" b="1" dirty="0">
                <a:solidFill>
                  <a:srgbClr val="0B1F3F"/>
                </a:solidFill>
                <a:latin typeface="Georgia" pitchFamily="34" charset="0"/>
                <a:ea typeface="Georgia" pitchFamily="34" charset="-122"/>
                <a:cs typeface="Georgia" pitchFamily="34" charset="-120"/>
              </a:rPr>
              <a:t>Redux</a:t>
            </a:r>
            <a:endParaRPr lang="en-US" sz="2200" dirty="0"/>
          </a:p>
        </p:txBody>
      </p:sp>
      <p:sp>
        <p:nvSpPr>
          <p:cNvPr id="50" name="Text 48"/>
          <p:cNvSpPr/>
          <p:nvPr/>
        </p:nvSpPr>
        <p:spPr>
          <a:xfrm>
            <a:off x="8321040" y="4407408"/>
            <a:ext cx="3200400" cy="256032"/>
          </a:xfrm>
          <a:prstGeom prst="rect">
            <a:avLst/>
          </a:prstGeom>
          <a:noFill/>
          <a:ln/>
        </p:spPr>
        <p:txBody>
          <a:bodyPr wrap="square" lIns="0" tIns="0" rIns="0" bIns="0" rtlCol="0" anchor="ctr"/>
          <a:lstStyle/>
          <a:p>
            <a:pPr indent="0" marL="0">
              <a:buNone/>
            </a:pPr>
            <a:r>
              <a:rPr lang="en-US" sz="1000" b="1" i="1" dirty="0">
                <a:solidFill>
                  <a:srgbClr val="0B1F3F"/>
                </a:solidFill>
                <a:latin typeface="Calibri" pitchFamily="34" charset="0"/>
                <a:ea typeface="Calibri" pitchFamily="34" charset="-122"/>
                <a:cs typeface="Calibri" pitchFamily="34" charset="-120"/>
              </a:rPr>
              <a:t>Single immutable store</a:t>
            </a:r>
            <a:endParaRPr lang="en-US" sz="1000" dirty="0"/>
          </a:p>
        </p:txBody>
      </p:sp>
      <p:sp>
        <p:nvSpPr>
          <p:cNvPr id="51" name="Shape 49"/>
          <p:cNvSpPr/>
          <p:nvPr/>
        </p:nvSpPr>
        <p:spPr>
          <a:xfrm>
            <a:off x="8321040" y="4681728"/>
            <a:ext cx="3200400" cy="0"/>
          </a:xfrm>
          <a:prstGeom prst="line">
            <a:avLst/>
          </a:prstGeom>
          <a:noFill/>
          <a:ln w="9525">
            <a:solidFill>
              <a:srgbClr val="D6E6F7"/>
            </a:solidFill>
            <a:prstDash val="solid"/>
          </a:ln>
        </p:spPr>
      </p:sp>
      <p:sp>
        <p:nvSpPr>
          <p:cNvPr id="52" name="Text 50"/>
          <p:cNvSpPr/>
          <p:nvPr/>
        </p:nvSpPr>
        <p:spPr>
          <a:xfrm>
            <a:off x="8321040" y="4745736"/>
            <a:ext cx="3200400" cy="50292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Actions → Reducers → new state. Time-travel debugging.</a:t>
            </a:r>
            <a:endParaRPr lang="en-US" sz="1000" dirty="0"/>
          </a:p>
        </p:txBody>
      </p:sp>
      <p:sp>
        <p:nvSpPr>
          <p:cNvPr id="53" name="Text 51"/>
          <p:cNvSpPr/>
          <p:nvPr/>
        </p:nvSpPr>
        <p:spPr>
          <a:xfrm>
            <a:off x="8321040" y="5321808"/>
            <a:ext cx="3200400" cy="365760"/>
          </a:xfrm>
          <a:prstGeom prst="rect">
            <a:avLst/>
          </a:prstGeom>
          <a:noFill/>
          <a:ln/>
        </p:spPr>
        <p:txBody>
          <a:bodyPr wrap="square" lIns="0" tIns="0" rIns="0" bIns="0" rtlCol="0" anchor="ctr"/>
          <a:lstStyle/>
          <a:p>
            <a:pPr indent="0" marL="0">
              <a:buNone/>
            </a:pPr>
            <a:r>
              <a:rPr lang="en-US" sz="900" b="1" dirty="0">
                <a:solidFill>
                  <a:srgbClr val="0B1F3F"/>
                </a:solidFill>
                <a:latin typeface="Calibri" pitchFamily="34" charset="0"/>
                <a:ea typeface="Calibri" pitchFamily="34" charset="-122"/>
                <a:cs typeface="Calibri" pitchFamily="34" charset="-120"/>
              </a:rPr>
              <a:t>Best:  </a:t>
            </a:r>
            <a:pPr indent="0" marL="0">
              <a:buNone/>
            </a:pPr>
            <a:r>
              <a:rPr lang="en-US" sz="900" dirty="0">
                <a:solidFill>
                  <a:srgbClr val="1A1A1A"/>
                </a:solidFill>
                <a:latin typeface="Calibri" pitchFamily="34" charset="0"/>
                <a:ea typeface="Calibri" pitchFamily="34" charset="-122"/>
                <a:cs typeface="Calibri" pitchFamily="34" charset="-120"/>
              </a:rPr>
              <a:t>Large React Native apps.</a:t>
            </a:r>
            <a:endParaRPr lang="en-US" sz="900" dirty="0"/>
          </a:p>
        </p:txBody>
      </p:sp>
      <p:sp>
        <p:nvSpPr>
          <p:cNvPr id="54" name="Text 52"/>
          <p:cNvSpPr/>
          <p:nvPr/>
        </p:nvSpPr>
        <p:spPr>
          <a:xfrm>
            <a:off x="8321040" y="5687568"/>
            <a:ext cx="3200400" cy="365760"/>
          </a:xfrm>
          <a:prstGeom prst="rect">
            <a:avLst/>
          </a:prstGeom>
          <a:noFill/>
          <a:ln/>
        </p:spPr>
        <p:txBody>
          <a:bodyPr wrap="square" lIns="0" tIns="0" rIns="0" bIns="0" rtlCol="0" anchor="ctr"/>
          <a:lstStyle/>
          <a:p>
            <a:pPr indent="0" marL="0">
              <a:buNone/>
            </a:pPr>
            <a:r>
              <a:rPr lang="en-US" sz="900" b="1" dirty="0">
                <a:solidFill>
                  <a:srgbClr val="C9A227"/>
                </a:solidFill>
                <a:latin typeface="Calibri" pitchFamily="34" charset="0"/>
                <a:ea typeface="Calibri" pitchFamily="34" charset="-122"/>
                <a:cs typeface="Calibri" pitchFamily="34" charset="-120"/>
              </a:rPr>
              <a:t>Watch:  </a:t>
            </a:r>
            <a:pPr indent="0" marL="0">
              <a:buNone/>
            </a:pPr>
            <a:r>
              <a:rPr lang="en-US" sz="900" i="1" dirty="0">
                <a:solidFill>
                  <a:srgbClr val="5B6B80"/>
                </a:solidFill>
                <a:latin typeface="Calibri" pitchFamily="34" charset="0"/>
                <a:ea typeface="Calibri" pitchFamily="34" charset="-122"/>
                <a:cs typeface="Calibri" pitchFamily="34" charset="-120"/>
              </a:rPr>
              <a:t>Heavy boilerplate for small apps.</a:t>
            </a:r>
            <a:endParaRPr lang="en-US" sz="900" dirty="0"/>
          </a:p>
        </p:txBody>
      </p:sp>
      <p:sp>
        <p:nvSpPr>
          <p:cNvPr id="55" name="Text 53"/>
          <p:cNvSpPr/>
          <p:nvPr/>
        </p:nvSpPr>
        <p:spPr>
          <a:xfrm>
            <a:off x="548640" y="6355080"/>
            <a:ext cx="11064240" cy="274320"/>
          </a:xfrm>
          <a:prstGeom prst="rect">
            <a:avLst/>
          </a:prstGeom>
          <a:noFill/>
          <a:ln/>
        </p:spPr>
        <p:txBody>
          <a:bodyPr wrap="square" lIns="0" tIns="0" rIns="0" bIns="0" rtlCol="0" anchor="ctr"/>
          <a:lstStyle/>
          <a:p>
            <a:pPr algn="ctr" indent="0" marL="0">
              <a:buNone/>
            </a:pPr>
            <a:r>
              <a:rPr lang="en-US" sz="1000" i="1" dirty="0">
                <a:solidFill>
                  <a:srgbClr val="0B1F3F"/>
                </a:solidFill>
                <a:latin typeface="Calibri" pitchFamily="34" charset="0"/>
                <a:ea typeface="Calibri" pitchFamily="34" charset="-122"/>
                <a:cs typeface="Calibri" pitchFamily="34" charset="-120"/>
              </a:rPr>
              <a:t>Next two slides  →  MVVM and Clean Architecture deep-dives.</a:t>
            </a:r>
            <a:endParaRPr lang="en-US" sz="1000" dirty="0"/>
          </a:p>
        </p:txBody>
      </p:sp>
      <p:sp>
        <p:nvSpPr>
          <p:cNvPr id="56" name="Text 54"/>
          <p:cNvSpPr/>
          <p:nvPr/>
        </p:nvSpPr>
        <p:spPr>
          <a:xfrm>
            <a:off x="11064240" y="6492240"/>
            <a:ext cx="640080" cy="274320"/>
          </a:xfrm>
          <a:prstGeom prst="rect">
            <a:avLst/>
          </a:prstGeom>
          <a:noFill/>
          <a:ln/>
        </p:spPr>
        <p:txBody>
          <a:bodyPr wrap="square" lIns="0" tIns="0" rIns="0" bIns="0" rtlCol="0" anchor="ctr"/>
          <a:lstStyle/>
          <a:p>
            <a:pPr algn="r" indent="0" marL="0">
              <a:buNone/>
            </a:pPr>
            <a:r>
              <a:rPr lang="en-US" sz="900" dirty="0">
                <a:solidFill>
                  <a:srgbClr val="5B6B80"/>
                </a:solidFill>
                <a:latin typeface="Calibri" pitchFamily="34" charset="0"/>
                <a:ea typeface="Calibri" pitchFamily="34" charset="-122"/>
                <a:cs typeface="Calibr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B1F3F"/>
          </a:solidFill>
          <a:ln w="12700">
            <a:solidFill>
              <a:srgbClr val="0B1F3F"/>
            </a:solidFill>
            <a:prstDash val="solid"/>
          </a:ln>
        </p:spPr>
      </p:sp>
      <p:sp>
        <p:nvSpPr>
          <p:cNvPr id="3" name="Shape 1"/>
          <p:cNvSpPr/>
          <p:nvPr/>
        </p:nvSpPr>
        <p:spPr>
          <a:xfrm>
            <a:off x="457200" y="320040"/>
            <a:ext cx="109728" cy="365760"/>
          </a:xfrm>
          <a:prstGeom prst="rect">
            <a:avLst/>
          </a:prstGeom>
          <a:solidFill>
            <a:srgbClr val="C9A227"/>
          </a:solidFill>
          <a:ln w="12700">
            <a:solidFill>
              <a:srgbClr val="C9A227"/>
            </a:solidFill>
            <a:prstDash val="solid"/>
          </a:ln>
        </p:spPr>
      </p:sp>
      <p:sp>
        <p:nvSpPr>
          <p:cNvPr id="4" name="Text 2"/>
          <p:cNvSpPr/>
          <p:nvPr/>
        </p:nvSpPr>
        <p:spPr>
          <a:xfrm>
            <a:off x="685800" y="256032"/>
            <a:ext cx="7315200" cy="274320"/>
          </a:xfrm>
          <a:prstGeom prst="rect">
            <a:avLst/>
          </a:prstGeom>
          <a:noFill/>
          <a:ln/>
        </p:spPr>
        <p:txBody>
          <a:bodyPr wrap="square" lIns="0" tIns="0" rIns="0" bIns="0" rtlCol="0" anchor="ctr"/>
          <a:lstStyle/>
          <a:p>
            <a:pPr indent="0" marL="0">
              <a:buNone/>
            </a:pPr>
            <a:r>
              <a:rPr lang="en-US" sz="1100" b="1" spc="200" kern="0" dirty="0">
                <a:solidFill>
                  <a:srgbClr val="D6E6F7"/>
                </a:solidFill>
                <a:latin typeface="Calibri" pitchFamily="34" charset="0"/>
                <a:ea typeface="Calibri" pitchFamily="34" charset="-122"/>
                <a:cs typeface="Calibri" pitchFamily="34" charset="-120"/>
              </a:rPr>
              <a:t>04  ·  ARCHITECTURE</a:t>
            </a:r>
            <a:endParaRPr lang="en-US" sz="1100" dirty="0"/>
          </a:p>
        </p:txBody>
      </p:sp>
      <p:sp>
        <p:nvSpPr>
          <p:cNvPr id="5" name="Text 3"/>
          <p:cNvSpPr/>
          <p:nvPr/>
        </p:nvSpPr>
        <p:spPr>
          <a:xfrm>
            <a:off x="685800" y="502920"/>
            <a:ext cx="10058400" cy="50292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MVVM: The Current Default</a:t>
            </a:r>
            <a:endParaRPr lang="en-US" sz="24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Group 12  ·  University of Buea  ·  FET</a:t>
            </a:r>
            <a:endParaRPr lang="en-US" sz="900" dirty="0"/>
          </a:p>
        </p:txBody>
      </p:sp>
      <p:sp>
        <p:nvSpPr>
          <p:cNvPr id="7" name="Text 5"/>
          <p:cNvSpPr/>
          <p:nvPr/>
        </p:nvSpPr>
        <p:spPr>
          <a:xfrm>
            <a:off x="548640" y="1280160"/>
            <a:ext cx="5943600" cy="274320"/>
          </a:xfrm>
          <a:prstGeom prst="rect">
            <a:avLst/>
          </a:prstGeom>
          <a:noFill/>
          <a:ln/>
        </p:spPr>
        <p:txBody>
          <a:bodyPr wrap="square" lIns="0" tIns="0" rIns="0" bIns="0" rtlCol="0" anchor="ctr"/>
          <a:lstStyle/>
          <a:p>
            <a:pPr indent="0" marL="0">
              <a:buNone/>
            </a:pPr>
            <a:r>
              <a:rPr lang="en-US" sz="1000" b="1" spc="200" kern="0" dirty="0">
                <a:solidFill>
                  <a:srgbClr val="C9A227"/>
                </a:solidFill>
                <a:latin typeface="Calibri" pitchFamily="34" charset="0"/>
                <a:ea typeface="Calibri" pitchFamily="34" charset="-122"/>
                <a:cs typeface="Calibri" pitchFamily="34" charset="-120"/>
              </a:rPr>
              <a:t>WHY MVVM WON</a:t>
            </a:r>
            <a:endParaRPr lang="en-US" sz="1000" dirty="0"/>
          </a:p>
        </p:txBody>
      </p:sp>
      <p:sp>
        <p:nvSpPr>
          <p:cNvPr id="8" name="Text 6"/>
          <p:cNvSpPr/>
          <p:nvPr/>
        </p:nvSpPr>
        <p:spPr>
          <a:xfrm>
            <a:off x="548640" y="1554480"/>
            <a:ext cx="5943600" cy="457200"/>
          </a:xfrm>
          <a:prstGeom prst="rect">
            <a:avLst/>
          </a:prstGeom>
          <a:noFill/>
          <a:ln/>
        </p:spPr>
        <p:txBody>
          <a:bodyPr wrap="square" lIns="0" tIns="0" rIns="0" bIns="0" rtlCol="0" anchor="ctr"/>
          <a:lstStyle/>
          <a:p>
            <a:pPr indent="0" marL="0">
              <a:buNone/>
            </a:pPr>
            <a:r>
              <a:rPr lang="en-US" sz="1800" b="1" dirty="0">
                <a:solidFill>
                  <a:srgbClr val="0B1F3F"/>
                </a:solidFill>
                <a:latin typeface="Georgia" pitchFamily="34" charset="0"/>
                <a:ea typeface="Georgia" pitchFamily="34" charset="-122"/>
                <a:cs typeface="Georgia" pitchFamily="34" charset="-120"/>
              </a:rPr>
              <a:t>Reactive data binding eliminates manual sync.</a:t>
            </a:r>
            <a:endParaRPr lang="en-US" sz="1800" dirty="0"/>
          </a:p>
        </p:txBody>
      </p:sp>
      <p:sp>
        <p:nvSpPr>
          <p:cNvPr id="9" name="Text 7"/>
          <p:cNvSpPr/>
          <p:nvPr/>
        </p:nvSpPr>
        <p:spPr>
          <a:xfrm>
            <a:off x="548640" y="2194560"/>
            <a:ext cx="5943600" cy="1828800"/>
          </a:xfrm>
          <a:prstGeom prst="rect">
            <a:avLst/>
          </a:prstGeom>
          <a:noFill/>
          <a:ln/>
        </p:spPr>
        <p:txBody>
          <a:bodyPr wrap="square" lIns="0" tIns="0" rIns="0" bIns="0" rtlCol="0" anchor="ctr"/>
          <a:lstStyle/>
          <a:p>
            <a:pPr indent="0" marL="0">
              <a:spcAft>
                <a:spcPts val="600"/>
              </a:spcAft>
              <a:buNone/>
            </a:pPr>
            <a:r>
              <a:rPr lang="en-US" sz="1300" b="1" dirty="0">
                <a:solidFill>
                  <a:srgbClr val="0B1F3F"/>
                </a:solidFill>
                <a:latin typeface="Calibri" pitchFamily="34" charset="0"/>
                <a:ea typeface="Calibri" pitchFamily="34" charset="-122"/>
                <a:cs typeface="Calibri" pitchFamily="34" charset="-120"/>
              </a:rPr>
              <a:t>Model — </a:t>
            </a:r>
            <a:pPr indent="0" marL="0">
              <a:spcAft>
                <a:spcPts val="600"/>
              </a:spcAft>
              <a:buNone/>
            </a:pPr>
            <a:r>
              <a:rPr lang="en-US" sz="1300" dirty="0">
                <a:solidFill>
                  <a:srgbClr val="1A1A1A"/>
                </a:solidFill>
                <a:latin typeface="Calibri" pitchFamily="34" charset="0"/>
                <a:ea typeface="Calibri" pitchFamily="34" charset="-122"/>
                <a:cs typeface="Calibri" pitchFamily="34" charset="-120"/>
              </a:rPr>
              <a:t>owns the data and the rules that govern it.</a:t>
            </a:r>
            <a:endParaRPr lang="en-US" sz="1300" dirty="0"/>
          </a:p>
          <a:p>
            <a:pPr indent="0" marL="0">
              <a:spcAft>
                <a:spcPts val="600"/>
              </a:spcAft>
              <a:buNone/>
            </a:pPr>
            <a:r>
              <a:rPr lang="en-US" sz="1300" b="1" dirty="0">
                <a:solidFill>
                  <a:srgbClr val="0B1F3F"/>
                </a:solidFill>
                <a:latin typeface="Calibri" pitchFamily="34" charset="0"/>
                <a:ea typeface="Calibri" pitchFamily="34" charset="-122"/>
                <a:cs typeface="Calibri" pitchFamily="34" charset="-120"/>
              </a:rPr>
              <a:t>View — </a:t>
            </a:r>
            <a:pPr indent="0" marL="0">
              <a:spcAft>
                <a:spcPts val="600"/>
              </a:spcAft>
              <a:buNone/>
            </a:pPr>
            <a:r>
              <a:rPr lang="en-US" sz="1300" dirty="0">
                <a:solidFill>
                  <a:srgbClr val="1A1A1A"/>
                </a:solidFill>
                <a:latin typeface="Calibri" pitchFamily="34" charset="0"/>
                <a:ea typeface="Calibri" pitchFamily="34" charset="-122"/>
                <a:cs typeface="Calibri" pitchFamily="34" charset="-120"/>
              </a:rPr>
              <a:t>renders state. Subscribes to ViewModel observables.</a:t>
            </a:r>
            <a:endParaRPr lang="en-US" sz="1300" dirty="0"/>
          </a:p>
          <a:p>
            <a:pPr indent="0" marL="0">
              <a:spcAft>
                <a:spcPts val="600"/>
              </a:spcAft>
              <a:buNone/>
            </a:pPr>
            <a:r>
              <a:rPr lang="en-US" sz="1300" b="1" dirty="0">
                <a:solidFill>
                  <a:srgbClr val="0B1F3F"/>
                </a:solidFill>
                <a:latin typeface="Calibri" pitchFamily="34" charset="0"/>
                <a:ea typeface="Calibri" pitchFamily="34" charset="-122"/>
                <a:cs typeface="Calibri" pitchFamily="34" charset="-120"/>
              </a:rPr>
              <a:t>ViewModel — </a:t>
            </a:r>
            <a:pPr indent="0" marL="0">
              <a:spcAft>
                <a:spcPts val="600"/>
              </a:spcAft>
              <a:buNone/>
            </a:pPr>
            <a:r>
              <a:rPr lang="en-US" sz="1300" dirty="0">
                <a:solidFill>
                  <a:srgbClr val="1A1A1A"/>
                </a:solidFill>
                <a:latin typeface="Calibri" pitchFamily="34" charset="0"/>
                <a:ea typeface="Calibri" pitchFamily="34" charset="-122"/>
                <a:cs typeface="Calibri" pitchFamily="34" charset="-120"/>
              </a:rPr>
              <a:t>exposes observable state. Holds no reference to the View.</a:t>
            </a:r>
            <a:endParaRPr lang="en-US" sz="1300" dirty="0"/>
          </a:p>
        </p:txBody>
      </p:sp>
      <p:sp>
        <p:nvSpPr>
          <p:cNvPr id="10" name="Shape 8"/>
          <p:cNvSpPr/>
          <p:nvPr/>
        </p:nvSpPr>
        <p:spPr>
          <a:xfrm>
            <a:off x="548640" y="4114800"/>
            <a:ext cx="5943600" cy="2011680"/>
          </a:xfrm>
          <a:prstGeom prst="rect">
            <a:avLst/>
          </a:prstGeom>
          <a:solidFill>
            <a:srgbClr val="D6E6F7"/>
          </a:solidFill>
          <a:ln w="12700">
            <a:solidFill>
              <a:srgbClr val="D6E6F7"/>
            </a:solidFill>
            <a:prstDash val="solid"/>
          </a:ln>
        </p:spPr>
      </p:sp>
      <p:sp>
        <p:nvSpPr>
          <p:cNvPr id="11" name="Shape 9"/>
          <p:cNvSpPr/>
          <p:nvPr/>
        </p:nvSpPr>
        <p:spPr>
          <a:xfrm>
            <a:off x="548640" y="4114800"/>
            <a:ext cx="109728" cy="2011680"/>
          </a:xfrm>
          <a:prstGeom prst="rect">
            <a:avLst/>
          </a:prstGeom>
          <a:solidFill>
            <a:srgbClr val="C9A227"/>
          </a:solidFill>
          <a:ln w="12700">
            <a:solidFill>
              <a:srgbClr val="C9A227"/>
            </a:solidFill>
            <a:prstDash val="solid"/>
          </a:ln>
        </p:spPr>
      </p:sp>
      <p:sp>
        <p:nvSpPr>
          <p:cNvPr id="12" name="Text 10"/>
          <p:cNvSpPr/>
          <p:nvPr/>
        </p:nvSpPr>
        <p:spPr>
          <a:xfrm>
            <a:off x="777240" y="4206240"/>
            <a:ext cx="5669280" cy="274320"/>
          </a:xfrm>
          <a:prstGeom prst="rect">
            <a:avLst/>
          </a:prstGeom>
          <a:noFill/>
          <a:ln/>
        </p:spPr>
        <p:txBody>
          <a:bodyPr wrap="square" lIns="0" tIns="0" rIns="0" bIns="0" rtlCol="0" anchor="ctr"/>
          <a:lstStyle/>
          <a:p>
            <a:pPr indent="0" marL="0">
              <a:buNone/>
            </a:pPr>
            <a:r>
              <a:rPr lang="en-US" sz="1000" b="1" spc="200" kern="0" dirty="0">
                <a:solidFill>
                  <a:srgbClr val="0B1F3F"/>
                </a:solidFill>
                <a:latin typeface="Calibri" pitchFamily="34" charset="0"/>
                <a:ea typeface="Calibri" pitchFamily="34" charset="-122"/>
                <a:cs typeface="Calibri" pitchFamily="34" charset="-120"/>
              </a:rPr>
              <a:t>THE KEY CONSTRAINT</a:t>
            </a:r>
            <a:endParaRPr lang="en-US" sz="1000" dirty="0"/>
          </a:p>
        </p:txBody>
      </p:sp>
      <p:sp>
        <p:nvSpPr>
          <p:cNvPr id="13" name="Text 11"/>
          <p:cNvSpPr/>
          <p:nvPr/>
        </p:nvSpPr>
        <p:spPr>
          <a:xfrm>
            <a:off x="777240" y="4480560"/>
            <a:ext cx="5669280" cy="1554480"/>
          </a:xfrm>
          <a:prstGeom prst="rect">
            <a:avLst/>
          </a:prstGeom>
          <a:noFill/>
          <a:ln/>
        </p:spPr>
        <p:txBody>
          <a:bodyPr wrap="square" lIns="0" tIns="0" rIns="0" bIns="0"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The ViewModel cannot import any UI class. This makes its logic unit-testable without an emulator — and kills the entire class of bugs caused by UI and data drifting out of sync.</a:t>
            </a:r>
            <a:endParaRPr lang="en-US" sz="1200" dirty="0"/>
          </a:p>
        </p:txBody>
      </p:sp>
      <p:sp>
        <p:nvSpPr>
          <p:cNvPr id="14" name="Shape 12"/>
          <p:cNvSpPr/>
          <p:nvPr/>
        </p:nvSpPr>
        <p:spPr>
          <a:xfrm>
            <a:off x="6858000" y="1371600"/>
            <a:ext cx="4754880" cy="4846320"/>
          </a:xfrm>
          <a:prstGeom prst="rect">
            <a:avLst/>
          </a:prstGeom>
          <a:solidFill>
            <a:srgbClr val="FFFFFF"/>
          </a:solidFill>
          <a:ln w="12700">
            <a:solidFill>
              <a:srgbClr val="C9D5E3"/>
            </a:solidFill>
            <a:prstDash val="solid"/>
          </a:ln>
        </p:spPr>
      </p:sp>
      <p:sp>
        <p:nvSpPr>
          <p:cNvPr id="15" name="Text 13"/>
          <p:cNvSpPr/>
          <p:nvPr/>
        </p:nvSpPr>
        <p:spPr>
          <a:xfrm>
            <a:off x="6858000" y="1508760"/>
            <a:ext cx="4754880" cy="274320"/>
          </a:xfrm>
          <a:prstGeom prst="rect">
            <a:avLst/>
          </a:prstGeom>
          <a:noFill/>
          <a:ln/>
        </p:spPr>
        <p:txBody>
          <a:bodyPr wrap="square" lIns="0" tIns="0" rIns="0" bIns="0" rtlCol="0" anchor="ctr"/>
          <a:lstStyle/>
          <a:p>
            <a:pPr algn="ctr" indent="0" marL="0">
              <a:buNone/>
            </a:pPr>
            <a:r>
              <a:rPr lang="en-US" sz="1000" b="1" spc="200" kern="0" dirty="0">
                <a:solidFill>
                  <a:srgbClr val="5B6B80"/>
                </a:solidFill>
                <a:latin typeface="Calibri" pitchFamily="34" charset="0"/>
                <a:ea typeface="Calibri" pitchFamily="34" charset="-122"/>
                <a:cs typeface="Calibri" pitchFamily="34" charset="-120"/>
              </a:rPr>
              <a:t>DATA FLOW</a:t>
            </a:r>
            <a:endParaRPr lang="en-US" sz="1000" dirty="0"/>
          </a:p>
        </p:txBody>
      </p:sp>
      <p:sp>
        <p:nvSpPr>
          <p:cNvPr id="16" name="Shape 14"/>
          <p:cNvSpPr/>
          <p:nvPr/>
        </p:nvSpPr>
        <p:spPr>
          <a:xfrm>
            <a:off x="7589520" y="1920240"/>
            <a:ext cx="3291840" cy="1051560"/>
          </a:xfrm>
          <a:prstGeom prst="rect">
            <a:avLst/>
          </a:prstGeom>
          <a:solidFill>
            <a:srgbClr val="0B1F3F"/>
          </a:solidFill>
          <a:ln w="12700">
            <a:solidFill>
              <a:srgbClr val="0B1F3F"/>
            </a:solidFill>
            <a:prstDash val="solid"/>
          </a:ln>
        </p:spPr>
      </p:sp>
      <p:sp>
        <p:nvSpPr>
          <p:cNvPr id="17" name="Text 15"/>
          <p:cNvSpPr/>
          <p:nvPr/>
        </p:nvSpPr>
        <p:spPr>
          <a:xfrm>
            <a:off x="7589520" y="2103120"/>
            <a:ext cx="32918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VIEW</a:t>
            </a:r>
            <a:endParaRPr lang="en-US" sz="1600" dirty="0"/>
          </a:p>
        </p:txBody>
      </p:sp>
      <p:sp>
        <p:nvSpPr>
          <p:cNvPr id="18" name="Text 16"/>
          <p:cNvSpPr/>
          <p:nvPr/>
        </p:nvSpPr>
        <p:spPr>
          <a:xfrm>
            <a:off x="7589520" y="2468880"/>
            <a:ext cx="3291840" cy="365760"/>
          </a:xfrm>
          <a:prstGeom prst="rect">
            <a:avLst/>
          </a:prstGeom>
          <a:noFill/>
          <a:ln/>
        </p:spPr>
        <p:txBody>
          <a:bodyPr wrap="square" lIns="0" tIns="0" rIns="0" bIns="0"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Compose / SwiftUI</a:t>
            </a:r>
            <a:endParaRPr lang="en-US" sz="1000" dirty="0"/>
          </a:p>
        </p:txBody>
      </p:sp>
      <p:sp>
        <p:nvSpPr>
          <p:cNvPr id="19" name="Shape 17"/>
          <p:cNvSpPr/>
          <p:nvPr/>
        </p:nvSpPr>
        <p:spPr>
          <a:xfrm>
            <a:off x="7589520" y="3246120"/>
            <a:ext cx="3291840" cy="1051560"/>
          </a:xfrm>
          <a:prstGeom prst="rect">
            <a:avLst/>
          </a:prstGeom>
          <a:solidFill>
            <a:srgbClr val="C9A227"/>
          </a:solidFill>
          <a:ln w="12700">
            <a:solidFill>
              <a:srgbClr val="C9A227"/>
            </a:solidFill>
            <a:prstDash val="solid"/>
          </a:ln>
        </p:spPr>
      </p:sp>
      <p:sp>
        <p:nvSpPr>
          <p:cNvPr id="20" name="Text 18"/>
          <p:cNvSpPr/>
          <p:nvPr/>
        </p:nvSpPr>
        <p:spPr>
          <a:xfrm>
            <a:off x="7589520" y="3429000"/>
            <a:ext cx="32918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VIEWMODEL</a:t>
            </a:r>
            <a:endParaRPr lang="en-US" sz="1600" dirty="0"/>
          </a:p>
        </p:txBody>
      </p:sp>
      <p:sp>
        <p:nvSpPr>
          <p:cNvPr id="21" name="Text 19"/>
          <p:cNvSpPr/>
          <p:nvPr/>
        </p:nvSpPr>
        <p:spPr>
          <a:xfrm>
            <a:off x="7589520" y="3794760"/>
            <a:ext cx="3291840" cy="365760"/>
          </a:xfrm>
          <a:prstGeom prst="rect">
            <a:avLst/>
          </a:prstGeom>
          <a:noFill/>
          <a:ln/>
        </p:spPr>
        <p:txBody>
          <a:bodyPr wrap="square" lIns="0" tIns="0" rIns="0" bIns="0"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Observable state</a:t>
            </a:r>
            <a:endParaRPr lang="en-US" sz="1000" dirty="0"/>
          </a:p>
        </p:txBody>
      </p:sp>
      <p:sp>
        <p:nvSpPr>
          <p:cNvPr id="22" name="Shape 20"/>
          <p:cNvSpPr/>
          <p:nvPr/>
        </p:nvSpPr>
        <p:spPr>
          <a:xfrm>
            <a:off x="7589520" y="4572000"/>
            <a:ext cx="3291840" cy="1051560"/>
          </a:xfrm>
          <a:prstGeom prst="rect">
            <a:avLst/>
          </a:prstGeom>
          <a:solidFill>
            <a:srgbClr val="4A90E2"/>
          </a:solidFill>
          <a:ln w="12700">
            <a:solidFill>
              <a:srgbClr val="4A90E2"/>
            </a:solidFill>
            <a:prstDash val="solid"/>
          </a:ln>
        </p:spPr>
      </p:sp>
      <p:sp>
        <p:nvSpPr>
          <p:cNvPr id="23" name="Text 21"/>
          <p:cNvSpPr/>
          <p:nvPr/>
        </p:nvSpPr>
        <p:spPr>
          <a:xfrm>
            <a:off x="7589520" y="4754880"/>
            <a:ext cx="32918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MODEL</a:t>
            </a:r>
            <a:endParaRPr lang="en-US" sz="1600" dirty="0"/>
          </a:p>
        </p:txBody>
      </p:sp>
      <p:sp>
        <p:nvSpPr>
          <p:cNvPr id="24" name="Text 22"/>
          <p:cNvSpPr/>
          <p:nvPr/>
        </p:nvSpPr>
        <p:spPr>
          <a:xfrm>
            <a:off x="7589520" y="5120640"/>
            <a:ext cx="3291840" cy="365760"/>
          </a:xfrm>
          <a:prstGeom prst="rect">
            <a:avLst/>
          </a:prstGeom>
          <a:noFill/>
          <a:ln/>
        </p:spPr>
        <p:txBody>
          <a:bodyPr wrap="square" lIns="0" tIns="0" rIns="0" bIns="0"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Repositories / data</a:t>
            </a:r>
            <a:endParaRPr lang="en-US" sz="1000" dirty="0"/>
          </a:p>
        </p:txBody>
      </p:sp>
      <p:sp>
        <p:nvSpPr>
          <p:cNvPr id="25" name="Text 23"/>
          <p:cNvSpPr/>
          <p:nvPr/>
        </p:nvSpPr>
        <p:spPr>
          <a:xfrm>
            <a:off x="7589520" y="2999232"/>
            <a:ext cx="3291840" cy="228600"/>
          </a:xfrm>
          <a:prstGeom prst="rect">
            <a:avLst/>
          </a:prstGeom>
          <a:noFill/>
          <a:ln/>
        </p:spPr>
        <p:txBody>
          <a:bodyPr wrap="square" lIns="0" tIns="0" rIns="0" bIns="0" rtlCol="0" anchor="ctr"/>
          <a:lstStyle/>
          <a:p>
            <a:pPr algn="ctr" indent="0" marL="0">
              <a:buNone/>
            </a:pPr>
            <a:r>
              <a:rPr lang="en-US" sz="1000" i="1" dirty="0">
                <a:solidFill>
                  <a:srgbClr val="5B6B80"/>
                </a:solidFill>
                <a:latin typeface="Calibri" pitchFamily="34" charset="0"/>
                <a:ea typeface="Calibri" pitchFamily="34" charset="-122"/>
                <a:cs typeface="Calibri" pitchFamily="34" charset="-120"/>
              </a:rPr>
              <a:t>⇅  observes</a:t>
            </a:r>
            <a:endParaRPr lang="en-US" sz="1000" dirty="0"/>
          </a:p>
        </p:txBody>
      </p:sp>
      <p:sp>
        <p:nvSpPr>
          <p:cNvPr id="26" name="Text 24"/>
          <p:cNvSpPr/>
          <p:nvPr/>
        </p:nvSpPr>
        <p:spPr>
          <a:xfrm>
            <a:off x="7589520" y="4325112"/>
            <a:ext cx="3291840" cy="228600"/>
          </a:xfrm>
          <a:prstGeom prst="rect">
            <a:avLst/>
          </a:prstGeom>
          <a:noFill/>
          <a:ln/>
        </p:spPr>
        <p:txBody>
          <a:bodyPr wrap="square" lIns="0" tIns="0" rIns="0" bIns="0" rtlCol="0" anchor="ctr"/>
          <a:lstStyle/>
          <a:p>
            <a:pPr algn="ctr" indent="0" marL="0">
              <a:buNone/>
            </a:pPr>
            <a:r>
              <a:rPr lang="en-US" sz="1000" i="1" dirty="0">
                <a:solidFill>
                  <a:srgbClr val="5B6B80"/>
                </a:solidFill>
                <a:latin typeface="Calibri" pitchFamily="34" charset="0"/>
                <a:ea typeface="Calibri" pitchFamily="34" charset="-122"/>
                <a:cs typeface="Calibri" pitchFamily="34" charset="-120"/>
              </a:rPr>
              <a:t>⇅  queries</a:t>
            </a:r>
            <a:endParaRPr lang="en-US" sz="1000" dirty="0"/>
          </a:p>
        </p:txBody>
      </p:sp>
      <p:sp>
        <p:nvSpPr>
          <p:cNvPr id="27" name="Text 25"/>
          <p:cNvSpPr/>
          <p:nvPr/>
        </p:nvSpPr>
        <p:spPr>
          <a:xfrm>
            <a:off x="6858000" y="5760720"/>
            <a:ext cx="4754880" cy="274320"/>
          </a:xfrm>
          <a:prstGeom prst="rect">
            <a:avLst/>
          </a:prstGeom>
          <a:noFill/>
          <a:ln/>
        </p:spPr>
        <p:txBody>
          <a:bodyPr wrap="square" lIns="0" tIns="0" rIns="0" bIns="0" rtlCol="0" anchor="ctr"/>
          <a:lstStyle/>
          <a:p>
            <a:pPr algn="ctr" indent="0" marL="0">
              <a:buNone/>
            </a:pPr>
            <a:r>
              <a:rPr lang="en-US" sz="1000" b="1" i="1" dirty="0">
                <a:solidFill>
                  <a:srgbClr val="0B1F3F"/>
                </a:solidFill>
                <a:latin typeface="Calibri" pitchFamily="34" charset="0"/>
                <a:ea typeface="Calibri" pitchFamily="34" charset="-122"/>
                <a:cs typeface="Calibri" pitchFamily="34" charset="-120"/>
              </a:rPr>
              <a:t>Default in Flutter, Compose, SwiftUI</a:t>
            </a:r>
            <a:endParaRPr lang="en-US" sz="1000" dirty="0"/>
          </a:p>
        </p:txBody>
      </p:sp>
      <p:sp>
        <p:nvSpPr>
          <p:cNvPr id="28" name="Text 26"/>
          <p:cNvSpPr/>
          <p:nvPr/>
        </p:nvSpPr>
        <p:spPr>
          <a:xfrm>
            <a:off x="11064240" y="6492240"/>
            <a:ext cx="640080" cy="274320"/>
          </a:xfrm>
          <a:prstGeom prst="rect">
            <a:avLst/>
          </a:prstGeom>
          <a:noFill/>
          <a:ln/>
        </p:spPr>
        <p:txBody>
          <a:bodyPr wrap="square" lIns="0" tIns="0" rIns="0" bIns="0" rtlCol="0" anchor="ctr"/>
          <a:lstStyle/>
          <a:p>
            <a:pPr algn="r" indent="0" marL="0">
              <a:buNone/>
            </a:pPr>
            <a:r>
              <a:rPr lang="en-US" sz="900" dirty="0">
                <a:solidFill>
                  <a:srgbClr val="5B6B80"/>
                </a:solidFill>
                <a:latin typeface="Calibri" pitchFamily="34" charset="0"/>
                <a:ea typeface="Calibri" pitchFamily="34" charset="-122"/>
                <a:cs typeface="Calibri"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B1F3F"/>
          </a:solidFill>
          <a:ln w="12700">
            <a:solidFill>
              <a:srgbClr val="0B1F3F"/>
            </a:solidFill>
            <a:prstDash val="solid"/>
          </a:ln>
        </p:spPr>
      </p:sp>
      <p:sp>
        <p:nvSpPr>
          <p:cNvPr id="3" name="Shape 1"/>
          <p:cNvSpPr/>
          <p:nvPr/>
        </p:nvSpPr>
        <p:spPr>
          <a:xfrm>
            <a:off x="457200" y="320040"/>
            <a:ext cx="109728" cy="365760"/>
          </a:xfrm>
          <a:prstGeom prst="rect">
            <a:avLst/>
          </a:prstGeom>
          <a:solidFill>
            <a:srgbClr val="C9A227"/>
          </a:solidFill>
          <a:ln w="12700">
            <a:solidFill>
              <a:srgbClr val="C9A227"/>
            </a:solidFill>
            <a:prstDash val="solid"/>
          </a:ln>
        </p:spPr>
      </p:sp>
      <p:sp>
        <p:nvSpPr>
          <p:cNvPr id="4" name="Text 2"/>
          <p:cNvSpPr/>
          <p:nvPr/>
        </p:nvSpPr>
        <p:spPr>
          <a:xfrm>
            <a:off x="685800" y="256032"/>
            <a:ext cx="7315200" cy="274320"/>
          </a:xfrm>
          <a:prstGeom prst="rect">
            <a:avLst/>
          </a:prstGeom>
          <a:noFill/>
          <a:ln/>
        </p:spPr>
        <p:txBody>
          <a:bodyPr wrap="square" lIns="0" tIns="0" rIns="0" bIns="0" rtlCol="0" anchor="ctr"/>
          <a:lstStyle/>
          <a:p>
            <a:pPr indent="0" marL="0">
              <a:buNone/>
            </a:pPr>
            <a:r>
              <a:rPr lang="en-US" sz="1100" b="1" spc="200" kern="0" dirty="0">
                <a:solidFill>
                  <a:srgbClr val="D6E6F7"/>
                </a:solidFill>
                <a:latin typeface="Calibri" pitchFamily="34" charset="0"/>
                <a:ea typeface="Calibri" pitchFamily="34" charset="-122"/>
                <a:cs typeface="Calibri" pitchFamily="34" charset="-120"/>
              </a:rPr>
              <a:t>04  ·  ARCHITECTURE</a:t>
            </a:r>
            <a:endParaRPr lang="en-US" sz="1100" dirty="0"/>
          </a:p>
        </p:txBody>
      </p:sp>
      <p:sp>
        <p:nvSpPr>
          <p:cNvPr id="5" name="Text 3"/>
          <p:cNvSpPr/>
          <p:nvPr/>
        </p:nvSpPr>
        <p:spPr>
          <a:xfrm>
            <a:off x="685800" y="502920"/>
            <a:ext cx="10058400" cy="50292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Clean Architecture: The Inward Dependency Rule</a:t>
            </a:r>
            <a:endParaRPr lang="en-US" sz="24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Group 12  ·  University of Buea  ·  FET</a:t>
            </a:r>
            <a:endParaRPr lang="en-US" sz="900" dirty="0"/>
          </a:p>
        </p:txBody>
      </p:sp>
      <p:sp>
        <p:nvSpPr>
          <p:cNvPr id="7" name="Text 5"/>
          <p:cNvSpPr/>
          <p:nvPr/>
        </p:nvSpPr>
        <p:spPr>
          <a:xfrm>
            <a:off x="548640" y="1280160"/>
            <a:ext cx="5760720" cy="274320"/>
          </a:xfrm>
          <a:prstGeom prst="rect">
            <a:avLst/>
          </a:prstGeom>
          <a:noFill/>
          <a:ln/>
        </p:spPr>
        <p:txBody>
          <a:bodyPr wrap="square" lIns="0" tIns="0" rIns="0" bIns="0" rtlCol="0" anchor="ctr"/>
          <a:lstStyle/>
          <a:p>
            <a:pPr indent="0" marL="0">
              <a:buNone/>
            </a:pPr>
            <a:r>
              <a:rPr lang="en-US" sz="1000" b="1" spc="200" kern="0" dirty="0">
                <a:solidFill>
                  <a:srgbClr val="C9A227"/>
                </a:solidFill>
                <a:latin typeface="Calibri" pitchFamily="34" charset="0"/>
                <a:ea typeface="Calibri" pitchFamily="34" charset="-122"/>
                <a:cs typeface="Calibri" pitchFamily="34" charset="-120"/>
              </a:rPr>
              <a:t>ONE RULE</a:t>
            </a:r>
            <a:endParaRPr lang="en-US" sz="1000" dirty="0"/>
          </a:p>
        </p:txBody>
      </p:sp>
      <p:sp>
        <p:nvSpPr>
          <p:cNvPr id="8" name="Text 6"/>
          <p:cNvSpPr/>
          <p:nvPr/>
        </p:nvSpPr>
        <p:spPr>
          <a:xfrm>
            <a:off x="548640" y="1554480"/>
            <a:ext cx="5760720" cy="502920"/>
          </a:xfrm>
          <a:prstGeom prst="rect">
            <a:avLst/>
          </a:prstGeom>
          <a:noFill/>
          <a:ln/>
        </p:spPr>
        <p:txBody>
          <a:bodyPr wrap="square" lIns="0" tIns="0" rIns="0" bIns="0" rtlCol="0" anchor="ctr"/>
          <a:lstStyle/>
          <a:p>
            <a:pPr indent="0" marL="0">
              <a:buNone/>
            </a:pPr>
            <a:r>
              <a:rPr lang="en-US" sz="2000" b="1" dirty="0">
                <a:solidFill>
                  <a:srgbClr val="0B1F3F"/>
                </a:solidFill>
                <a:latin typeface="Georgia" pitchFamily="34" charset="0"/>
                <a:ea typeface="Georgia" pitchFamily="34" charset="-122"/>
                <a:cs typeface="Georgia" pitchFamily="34" charset="-120"/>
              </a:rPr>
              <a:t>Dependencies point inward. Always.</a:t>
            </a:r>
            <a:endParaRPr lang="en-US" sz="2000" dirty="0"/>
          </a:p>
        </p:txBody>
      </p:sp>
      <p:sp>
        <p:nvSpPr>
          <p:cNvPr id="9" name="Text 7"/>
          <p:cNvSpPr/>
          <p:nvPr/>
        </p:nvSpPr>
        <p:spPr>
          <a:xfrm>
            <a:off x="548640" y="2148840"/>
            <a:ext cx="5760720" cy="109728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Outer layers depend on inner layers. Inner layers know nothing about outer ones. The Domain layer imports nothing from Android, iOS, your database, or your HTTP client.</a:t>
            </a:r>
            <a:endParaRPr lang="en-US" sz="1300" dirty="0"/>
          </a:p>
        </p:txBody>
      </p:sp>
      <p:sp>
        <p:nvSpPr>
          <p:cNvPr id="10" name="Shape 8"/>
          <p:cNvSpPr/>
          <p:nvPr/>
        </p:nvSpPr>
        <p:spPr>
          <a:xfrm>
            <a:off x="548640" y="3383280"/>
            <a:ext cx="5760720" cy="822960"/>
          </a:xfrm>
          <a:prstGeom prst="rect">
            <a:avLst/>
          </a:prstGeom>
          <a:solidFill>
            <a:srgbClr val="FFFFFF"/>
          </a:solidFill>
          <a:ln w="12700">
            <a:solidFill>
              <a:srgbClr val="C9D5E3"/>
            </a:solidFill>
            <a:prstDash val="solid"/>
          </a:ln>
        </p:spPr>
      </p:sp>
      <p:sp>
        <p:nvSpPr>
          <p:cNvPr id="11" name="Shape 9"/>
          <p:cNvSpPr/>
          <p:nvPr/>
        </p:nvSpPr>
        <p:spPr>
          <a:xfrm>
            <a:off x="548640" y="3383280"/>
            <a:ext cx="137160" cy="822960"/>
          </a:xfrm>
          <a:prstGeom prst="rect">
            <a:avLst/>
          </a:prstGeom>
          <a:solidFill>
            <a:srgbClr val="4A90E2"/>
          </a:solidFill>
          <a:ln w="12700">
            <a:solidFill>
              <a:srgbClr val="4A90E2"/>
            </a:solidFill>
            <a:prstDash val="solid"/>
          </a:ln>
        </p:spPr>
      </p:sp>
      <p:sp>
        <p:nvSpPr>
          <p:cNvPr id="12" name="Text 10"/>
          <p:cNvSpPr/>
          <p:nvPr/>
        </p:nvSpPr>
        <p:spPr>
          <a:xfrm>
            <a:off x="822960" y="3474720"/>
            <a:ext cx="5486400" cy="320040"/>
          </a:xfrm>
          <a:prstGeom prst="rect">
            <a:avLst/>
          </a:prstGeom>
          <a:noFill/>
          <a:ln/>
        </p:spPr>
        <p:txBody>
          <a:bodyPr wrap="square" lIns="0" tIns="0" rIns="0" bIns="0" rtlCol="0" anchor="ctr"/>
          <a:lstStyle/>
          <a:p>
            <a:pPr indent="0" marL="0">
              <a:buNone/>
            </a:pPr>
            <a:r>
              <a:rPr lang="en-US" sz="1200" b="1" spc="100" kern="0" dirty="0">
                <a:solidFill>
                  <a:srgbClr val="0B1F3F"/>
                </a:solidFill>
                <a:latin typeface="Calibri" pitchFamily="34" charset="0"/>
                <a:ea typeface="Calibri" pitchFamily="34" charset="-122"/>
                <a:cs typeface="Calibri" pitchFamily="34" charset="-120"/>
              </a:rPr>
              <a:t>PRESENTATION</a:t>
            </a:r>
            <a:endParaRPr lang="en-US" sz="1200" dirty="0"/>
          </a:p>
        </p:txBody>
      </p:sp>
      <p:sp>
        <p:nvSpPr>
          <p:cNvPr id="13" name="Text 11"/>
          <p:cNvSpPr/>
          <p:nvPr/>
        </p:nvSpPr>
        <p:spPr>
          <a:xfrm>
            <a:off x="822960" y="3767328"/>
            <a:ext cx="5486400" cy="4114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ViewModels, UI components. Changes often.</a:t>
            </a:r>
            <a:endParaRPr lang="en-US" sz="1100" dirty="0"/>
          </a:p>
        </p:txBody>
      </p:sp>
      <p:sp>
        <p:nvSpPr>
          <p:cNvPr id="14" name="Shape 12"/>
          <p:cNvSpPr/>
          <p:nvPr/>
        </p:nvSpPr>
        <p:spPr>
          <a:xfrm>
            <a:off x="548640" y="4343400"/>
            <a:ext cx="5760720" cy="822960"/>
          </a:xfrm>
          <a:prstGeom prst="rect">
            <a:avLst/>
          </a:prstGeom>
          <a:solidFill>
            <a:srgbClr val="FFFFFF"/>
          </a:solidFill>
          <a:ln w="12700">
            <a:solidFill>
              <a:srgbClr val="C9D5E3"/>
            </a:solidFill>
            <a:prstDash val="solid"/>
          </a:ln>
        </p:spPr>
      </p:sp>
      <p:sp>
        <p:nvSpPr>
          <p:cNvPr id="15" name="Shape 13"/>
          <p:cNvSpPr/>
          <p:nvPr/>
        </p:nvSpPr>
        <p:spPr>
          <a:xfrm>
            <a:off x="548640" y="4343400"/>
            <a:ext cx="137160" cy="822960"/>
          </a:xfrm>
          <a:prstGeom prst="rect">
            <a:avLst/>
          </a:prstGeom>
          <a:solidFill>
            <a:srgbClr val="C9A227"/>
          </a:solidFill>
          <a:ln w="12700">
            <a:solidFill>
              <a:srgbClr val="C9A227"/>
            </a:solidFill>
            <a:prstDash val="solid"/>
          </a:ln>
        </p:spPr>
      </p:sp>
      <p:sp>
        <p:nvSpPr>
          <p:cNvPr id="16" name="Text 14"/>
          <p:cNvSpPr/>
          <p:nvPr/>
        </p:nvSpPr>
        <p:spPr>
          <a:xfrm>
            <a:off x="822960" y="4434840"/>
            <a:ext cx="5486400" cy="320040"/>
          </a:xfrm>
          <a:prstGeom prst="rect">
            <a:avLst/>
          </a:prstGeom>
          <a:noFill/>
          <a:ln/>
        </p:spPr>
        <p:txBody>
          <a:bodyPr wrap="square" lIns="0" tIns="0" rIns="0" bIns="0" rtlCol="0" anchor="ctr"/>
          <a:lstStyle/>
          <a:p>
            <a:pPr indent="0" marL="0">
              <a:buNone/>
            </a:pPr>
            <a:r>
              <a:rPr lang="en-US" sz="1200" b="1" spc="100" kern="0" dirty="0">
                <a:solidFill>
                  <a:srgbClr val="0B1F3F"/>
                </a:solidFill>
                <a:latin typeface="Calibri" pitchFamily="34" charset="0"/>
                <a:ea typeface="Calibri" pitchFamily="34" charset="-122"/>
                <a:cs typeface="Calibri" pitchFamily="34" charset="-120"/>
              </a:rPr>
              <a:t>DOMAIN</a:t>
            </a:r>
            <a:endParaRPr lang="en-US" sz="1200" dirty="0"/>
          </a:p>
        </p:txBody>
      </p:sp>
      <p:sp>
        <p:nvSpPr>
          <p:cNvPr id="17" name="Text 15"/>
          <p:cNvSpPr/>
          <p:nvPr/>
        </p:nvSpPr>
        <p:spPr>
          <a:xfrm>
            <a:off x="822960" y="4727448"/>
            <a:ext cx="5486400" cy="4114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Use cases, business rules. Pure logic, zero dependencies.</a:t>
            </a:r>
            <a:endParaRPr lang="en-US" sz="1100" dirty="0"/>
          </a:p>
        </p:txBody>
      </p:sp>
      <p:sp>
        <p:nvSpPr>
          <p:cNvPr id="18" name="Shape 16"/>
          <p:cNvSpPr/>
          <p:nvPr/>
        </p:nvSpPr>
        <p:spPr>
          <a:xfrm>
            <a:off x="548640" y="5303520"/>
            <a:ext cx="5760720" cy="822960"/>
          </a:xfrm>
          <a:prstGeom prst="rect">
            <a:avLst/>
          </a:prstGeom>
          <a:solidFill>
            <a:srgbClr val="FFFFFF"/>
          </a:solidFill>
          <a:ln w="12700">
            <a:solidFill>
              <a:srgbClr val="C9D5E3"/>
            </a:solidFill>
            <a:prstDash val="solid"/>
          </a:ln>
        </p:spPr>
      </p:sp>
      <p:sp>
        <p:nvSpPr>
          <p:cNvPr id="19" name="Shape 17"/>
          <p:cNvSpPr/>
          <p:nvPr/>
        </p:nvSpPr>
        <p:spPr>
          <a:xfrm>
            <a:off x="548640" y="5303520"/>
            <a:ext cx="137160" cy="822960"/>
          </a:xfrm>
          <a:prstGeom prst="rect">
            <a:avLst/>
          </a:prstGeom>
          <a:solidFill>
            <a:srgbClr val="0B1F3F"/>
          </a:solidFill>
          <a:ln w="12700">
            <a:solidFill>
              <a:srgbClr val="0B1F3F"/>
            </a:solidFill>
            <a:prstDash val="solid"/>
          </a:ln>
        </p:spPr>
      </p:sp>
      <p:sp>
        <p:nvSpPr>
          <p:cNvPr id="20" name="Text 18"/>
          <p:cNvSpPr/>
          <p:nvPr/>
        </p:nvSpPr>
        <p:spPr>
          <a:xfrm>
            <a:off x="822960" y="5394960"/>
            <a:ext cx="5486400" cy="320040"/>
          </a:xfrm>
          <a:prstGeom prst="rect">
            <a:avLst/>
          </a:prstGeom>
          <a:noFill/>
          <a:ln/>
        </p:spPr>
        <p:txBody>
          <a:bodyPr wrap="square" lIns="0" tIns="0" rIns="0" bIns="0" rtlCol="0" anchor="ctr"/>
          <a:lstStyle/>
          <a:p>
            <a:pPr indent="0" marL="0">
              <a:buNone/>
            </a:pPr>
            <a:r>
              <a:rPr lang="en-US" sz="1200" b="1" spc="100" kern="0" dirty="0">
                <a:solidFill>
                  <a:srgbClr val="0B1F3F"/>
                </a:solidFill>
                <a:latin typeface="Calibri" pitchFamily="34" charset="0"/>
                <a:ea typeface="Calibri" pitchFamily="34" charset="-122"/>
                <a:cs typeface="Calibri" pitchFamily="34" charset="-120"/>
              </a:rPr>
              <a:t>DATA</a:t>
            </a:r>
            <a:endParaRPr lang="en-US" sz="1200" dirty="0"/>
          </a:p>
        </p:txBody>
      </p:sp>
      <p:sp>
        <p:nvSpPr>
          <p:cNvPr id="21" name="Text 19"/>
          <p:cNvSpPr/>
          <p:nvPr/>
        </p:nvSpPr>
        <p:spPr>
          <a:xfrm>
            <a:off x="822960" y="5687568"/>
            <a:ext cx="5486400" cy="4114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Repositories, APIs, databases — implements Domain interfaces.</a:t>
            </a:r>
            <a:endParaRPr lang="en-US" sz="1100" dirty="0"/>
          </a:p>
        </p:txBody>
      </p:sp>
      <p:sp>
        <p:nvSpPr>
          <p:cNvPr id="22" name="Shape 20"/>
          <p:cNvSpPr/>
          <p:nvPr/>
        </p:nvSpPr>
        <p:spPr>
          <a:xfrm>
            <a:off x="7315200" y="1737360"/>
            <a:ext cx="4206240" cy="4206240"/>
          </a:xfrm>
          <a:prstGeom prst="ellipse">
            <a:avLst/>
          </a:prstGeom>
          <a:solidFill>
            <a:srgbClr val="4A90E2"/>
          </a:solidFill>
          <a:ln w="25400">
            <a:solidFill>
              <a:srgbClr val="FFFFFF"/>
            </a:solidFill>
            <a:prstDash val="solid"/>
          </a:ln>
        </p:spPr>
      </p:sp>
      <p:sp>
        <p:nvSpPr>
          <p:cNvPr id="23" name="Shape 21"/>
          <p:cNvSpPr/>
          <p:nvPr/>
        </p:nvSpPr>
        <p:spPr>
          <a:xfrm>
            <a:off x="7863840" y="2286000"/>
            <a:ext cx="3108960" cy="3108960"/>
          </a:xfrm>
          <a:prstGeom prst="ellipse">
            <a:avLst/>
          </a:prstGeom>
          <a:solidFill>
            <a:srgbClr val="C9A227"/>
          </a:solidFill>
          <a:ln w="25400">
            <a:solidFill>
              <a:srgbClr val="FFFFFF"/>
            </a:solidFill>
            <a:prstDash val="solid"/>
          </a:ln>
        </p:spPr>
      </p:sp>
      <p:sp>
        <p:nvSpPr>
          <p:cNvPr id="24" name="Shape 22"/>
          <p:cNvSpPr/>
          <p:nvPr/>
        </p:nvSpPr>
        <p:spPr>
          <a:xfrm>
            <a:off x="8412480" y="2834640"/>
            <a:ext cx="2011680" cy="2011680"/>
          </a:xfrm>
          <a:prstGeom prst="ellipse">
            <a:avLst/>
          </a:prstGeom>
          <a:solidFill>
            <a:srgbClr val="0B1F3F"/>
          </a:solidFill>
          <a:ln w="25400">
            <a:solidFill>
              <a:srgbClr val="FFFFFF"/>
            </a:solidFill>
            <a:prstDash val="solid"/>
          </a:ln>
        </p:spPr>
      </p:sp>
      <p:sp>
        <p:nvSpPr>
          <p:cNvPr id="25" name="Text 23"/>
          <p:cNvSpPr/>
          <p:nvPr/>
        </p:nvSpPr>
        <p:spPr>
          <a:xfrm>
            <a:off x="8503920" y="3611880"/>
            <a:ext cx="18288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DOMAIN</a:t>
            </a:r>
            <a:endParaRPr lang="en-US" sz="1400" dirty="0"/>
          </a:p>
        </p:txBody>
      </p:sp>
      <p:sp>
        <p:nvSpPr>
          <p:cNvPr id="26" name="Text 24"/>
          <p:cNvSpPr/>
          <p:nvPr/>
        </p:nvSpPr>
        <p:spPr>
          <a:xfrm>
            <a:off x="8503920" y="3931920"/>
            <a:ext cx="1828800" cy="274320"/>
          </a:xfrm>
          <a:prstGeom prst="rect">
            <a:avLst/>
          </a:prstGeom>
          <a:noFill/>
          <a:ln/>
        </p:spPr>
        <p:txBody>
          <a:bodyPr wrap="square" lIns="0" tIns="0" rIns="0" bIns="0" rtlCol="0" anchor="ctr"/>
          <a:lstStyle/>
          <a:p>
            <a:pPr algn="ctr" indent="0" marL="0">
              <a:buNone/>
            </a:pPr>
            <a:r>
              <a:rPr lang="en-US" sz="900" i="1" dirty="0">
                <a:solidFill>
                  <a:srgbClr val="FFFFFF"/>
                </a:solidFill>
                <a:latin typeface="Calibri" pitchFamily="34" charset="0"/>
                <a:ea typeface="Calibri" pitchFamily="34" charset="-122"/>
                <a:cs typeface="Calibri" pitchFamily="34" charset="-120"/>
              </a:rPr>
              <a:t>pure logic</a:t>
            </a:r>
            <a:endParaRPr lang="en-US" sz="900" dirty="0"/>
          </a:p>
        </p:txBody>
      </p:sp>
      <p:sp>
        <p:nvSpPr>
          <p:cNvPr id="27" name="Text 25"/>
          <p:cNvSpPr/>
          <p:nvPr/>
        </p:nvSpPr>
        <p:spPr>
          <a:xfrm>
            <a:off x="7955280" y="2514600"/>
            <a:ext cx="2926080"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DATA</a:t>
            </a:r>
            <a:endParaRPr lang="en-US" sz="1000" dirty="0"/>
          </a:p>
        </p:txBody>
      </p:sp>
      <p:sp>
        <p:nvSpPr>
          <p:cNvPr id="28" name="Text 26"/>
          <p:cNvSpPr/>
          <p:nvPr/>
        </p:nvSpPr>
        <p:spPr>
          <a:xfrm>
            <a:off x="7315200" y="1965960"/>
            <a:ext cx="4206240" cy="27432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PRESENTATION</a:t>
            </a:r>
            <a:endParaRPr lang="en-US" sz="1000" dirty="0"/>
          </a:p>
        </p:txBody>
      </p:sp>
      <p:sp>
        <p:nvSpPr>
          <p:cNvPr id="29" name="Text 27"/>
          <p:cNvSpPr/>
          <p:nvPr/>
        </p:nvSpPr>
        <p:spPr>
          <a:xfrm>
            <a:off x="7223760" y="6080760"/>
            <a:ext cx="4389120" cy="274320"/>
          </a:xfrm>
          <a:prstGeom prst="rect">
            <a:avLst/>
          </a:prstGeom>
          <a:noFill/>
          <a:ln/>
        </p:spPr>
        <p:txBody>
          <a:bodyPr wrap="square" lIns="0" tIns="0" rIns="0" bIns="0" rtlCol="0" anchor="ctr"/>
          <a:lstStyle/>
          <a:p>
            <a:pPr algn="ctr" indent="0" marL="0">
              <a:buNone/>
            </a:pPr>
            <a:r>
              <a:rPr lang="en-US" sz="1000" b="1" i="1" dirty="0">
                <a:solidFill>
                  <a:srgbClr val="0B1F3F"/>
                </a:solidFill>
                <a:latin typeface="Calibri" pitchFamily="34" charset="0"/>
                <a:ea typeface="Calibri" pitchFamily="34" charset="-122"/>
                <a:cs typeface="Calibri" pitchFamily="34" charset="-120"/>
              </a:rPr>
              <a:t>→  dependencies point inward  →</a:t>
            </a:r>
            <a:endParaRPr lang="en-US" sz="1000" dirty="0"/>
          </a:p>
        </p:txBody>
      </p:sp>
      <p:sp>
        <p:nvSpPr>
          <p:cNvPr id="30" name="Text 28"/>
          <p:cNvSpPr/>
          <p:nvPr/>
        </p:nvSpPr>
        <p:spPr>
          <a:xfrm>
            <a:off x="11064240" y="6492240"/>
            <a:ext cx="640080" cy="274320"/>
          </a:xfrm>
          <a:prstGeom prst="rect">
            <a:avLst/>
          </a:prstGeom>
          <a:noFill/>
          <a:ln/>
        </p:spPr>
        <p:txBody>
          <a:bodyPr wrap="square" lIns="0" tIns="0" rIns="0" bIns="0" rtlCol="0" anchor="ctr"/>
          <a:lstStyle/>
          <a:p>
            <a:pPr algn="r" indent="0" marL="0">
              <a:buNone/>
            </a:pPr>
            <a:r>
              <a:rPr lang="en-US" sz="900" dirty="0">
                <a:solidFill>
                  <a:srgbClr val="5B6B80"/>
                </a:solidFill>
                <a:latin typeface="Calibri" pitchFamily="34" charset="0"/>
                <a:ea typeface="Calibri" pitchFamily="34" charset="-122"/>
                <a:cs typeface="Calibri"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B1F3F"/>
          </a:solidFill>
          <a:ln w="12700">
            <a:solidFill>
              <a:srgbClr val="0B1F3F"/>
            </a:solidFill>
            <a:prstDash val="solid"/>
          </a:ln>
        </p:spPr>
      </p:sp>
      <p:sp>
        <p:nvSpPr>
          <p:cNvPr id="3" name="Shape 1"/>
          <p:cNvSpPr/>
          <p:nvPr/>
        </p:nvSpPr>
        <p:spPr>
          <a:xfrm>
            <a:off x="457200" y="320040"/>
            <a:ext cx="109728" cy="365760"/>
          </a:xfrm>
          <a:prstGeom prst="rect">
            <a:avLst/>
          </a:prstGeom>
          <a:solidFill>
            <a:srgbClr val="C9A227"/>
          </a:solidFill>
          <a:ln w="12700">
            <a:solidFill>
              <a:srgbClr val="C9A227"/>
            </a:solidFill>
            <a:prstDash val="solid"/>
          </a:ln>
        </p:spPr>
      </p:sp>
      <p:sp>
        <p:nvSpPr>
          <p:cNvPr id="4" name="Text 2"/>
          <p:cNvSpPr/>
          <p:nvPr/>
        </p:nvSpPr>
        <p:spPr>
          <a:xfrm>
            <a:off x="685800" y="256032"/>
            <a:ext cx="7315200" cy="274320"/>
          </a:xfrm>
          <a:prstGeom prst="rect">
            <a:avLst/>
          </a:prstGeom>
          <a:noFill/>
          <a:ln/>
        </p:spPr>
        <p:txBody>
          <a:bodyPr wrap="square" lIns="0" tIns="0" rIns="0" bIns="0" rtlCol="0" anchor="ctr"/>
          <a:lstStyle/>
          <a:p>
            <a:pPr indent="0" marL="0">
              <a:buNone/>
            </a:pPr>
            <a:r>
              <a:rPr lang="en-US" sz="1100" b="1" spc="200" kern="0" dirty="0">
                <a:solidFill>
                  <a:srgbClr val="D6E6F7"/>
                </a:solidFill>
                <a:latin typeface="Calibri" pitchFamily="34" charset="0"/>
                <a:ea typeface="Calibri" pitchFamily="34" charset="-122"/>
                <a:cs typeface="Calibri" pitchFamily="34" charset="-120"/>
              </a:rPr>
              <a:t>05  ·  PROCESS</a:t>
            </a:r>
            <a:endParaRPr lang="en-US" sz="1100" dirty="0"/>
          </a:p>
        </p:txBody>
      </p:sp>
      <p:sp>
        <p:nvSpPr>
          <p:cNvPr id="5" name="Text 3"/>
          <p:cNvSpPr/>
          <p:nvPr/>
        </p:nvSpPr>
        <p:spPr>
          <a:xfrm>
            <a:off x="685800" y="502920"/>
            <a:ext cx="10058400" cy="50292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Requirement Engineering: Surfacing the Unsaid</a:t>
            </a:r>
            <a:endParaRPr lang="en-US" sz="24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Group 12  ·  University of Buea  ·  FET</a:t>
            </a:r>
            <a:endParaRPr lang="en-US" sz="900" dirty="0"/>
          </a:p>
        </p:txBody>
      </p:sp>
      <p:sp>
        <p:nvSpPr>
          <p:cNvPr id="7" name="Text 5"/>
          <p:cNvSpPr/>
          <p:nvPr/>
        </p:nvSpPr>
        <p:spPr>
          <a:xfrm>
            <a:off x="548640" y="1280160"/>
            <a:ext cx="11064240" cy="548640"/>
          </a:xfrm>
          <a:prstGeom prst="rect">
            <a:avLst/>
          </a:prstGeom>
          <a:noFill/>
          <a:ln/>
        </p:spPr>
        <p:txBody>
          <a:bodyPr wrap="square" lIns="0" tIns="0" rIns="0" bIns="0" rtlCol="0" anchor="ctr"/>
          <a:lstStyle/>
          <a:p>
            <a:pPr indent="0" marL="0">
              <a:buNone/>
            </a:pPr>
            <a:r>
              <a:rPr lang="en-US" sz="1300" i="1" dirty="0">
                <a:solidFill>
                  <a:srgbClr val="5B6B80"/>
                </a:solidFill>
                <a:latin typeface="Calibri" pitchFamily="34" charset="0"/>
                <a:ea typeface="Calibri" pitchFamily="34" charset="-122"/>
                <a:cs typeface="Calibri" pitchFamily="34" charset="-120"/>
              </a:rPr>
              <a:t>Requirements caught in elicitation are hundreds of times cheaper to fix than the same defect caught after release.</a:t>
            </a:r>
            <a:endParaRPr lang="en-US" sz="1300" dirty="0"/>
          </a:p>
        </p:txBody>
      </p:sp>
      <p:sp>
        <p:nvSpPr>
          <p:cNvPr id="8" name="Shape 6"/>
          <p:cNvSpPr/>
          <p:nvPr/>
        </p:nvSpPr>
        <p:spPr>
          <a:xfrm>
            <a:off x="411480" y="2011680"/>
            <a:ext cx="3657600" cy="1371600"/>
          </a:xfrm>
          <a:prstGeom prst="rect">
            <a:avLst/>
          </a:prstGeom>
          <a:solidFill>
            <a:srgbClr val="FFFFFF"/>
          </a:solidFill>
          <a:ln w="12700">
            <a:solidFill>
              <a:srgbClr val="C9D5E3"/>
            </a:solidFill>
            <a:prstDash val="solid"/>
          </a:ln>
        </p:spPr>
      </p:sp>
      <p:sp>
        <p:nvSpPr>
          <p:cNvPr id="9" name="Shape 7"/>
          <p:cNvSpPr/>
          <p:nvPr/>
        </p:nvSpPr>
        <p:spPr>
          <a:xfrm>
            <a:off x="411480" y="2011680"/>
            <a:ext cx="3657600" cy="54864"/>
          </a:xfrm>
          <a:prstGeom prst="rect">
            <a:avLst/>
          </a:prstGeom>
          <a:solidFill>
            <a:srgbClr val="C9A227"/>
          </a:solidFill>
          <a:ln w="12700">
            <a:solidFill>
              <a:srgbClr val="C9A227"/>
            </a:solidFill>
            <a:prstDash val="solid"/>
          </a:ln>
        </p:spPr>
      </p:sp>
      <p:sp>
        <p:nvSpPr>
          <p:cNvPr id="10" name="Text 8"/>
          <p:cNvSpPr/>
          <p:nvPr/>
        </p:nvSpPr>
        <p:spPr>
          <a:xfrm>
            <a:off x="594360" y="2176272"/>
            <a:ext cx="548640" cy="320040"/>
          </a:xfrm>
          <a:prstGeom prst="rect">
            <a:avLst/>
          </a:prstGeom>
          <a:noFill/>
          <a:ln/>
        </p:spPr>
        <p:txBody>
          <a:bodyPr wrap="square" lIns="0" tIns="0" rIns="0" bIns="0" rtlCol="0" anchor="ctr"/>
          <a:lstStyle/>
          <a:p>
            <a:pPr indent="0" marL="0">
              <a:buNone/>
            </a:pPr>
            <a:r>
              <a:rPr lang="en-US" sz="1400" b="1" dirty="0">
                <a:solidFill>
                  <a:srgbClr val="C9A227"/>
                </a:solidFill>
                <a:latin typeface="Georgia" pitchFamily="34" charset="0"/>
                <a:ea typeface="Georgia" pitchFamily="34" charset="-122"/>
                <a:cs typeface="Georgia" pitchFamily="34" charset="-120"/>
              </a:rPr>
              <a:t>01</a:t>
            </a:r>
            <a:endParaRPr lang="en-US" sz="1400" dirty="0"/>
          </a:p>
        </p:txBody>
      </p:sp>
      <p:sp>
        <p:nvSpPr>
          <p:cNvPr id="11" name="Text 9"/>
          <p:cNvSpPr/>
          <p:nvPr/>
        </p:nvSpPr>
        <p:spPr>
          <a:xfrm>
            <a:off x="594360" y="2468880"/>
            <a:ext cx="3291840" cy="320040"/>
          </a:xfrm>
          <a:prstGeom prst="rect">
            <a:avLst/>
          </a:prstGeom>
          <a:noFill/>
          <a:ln/>
        </p:spPr>
        <p:txBody>
          <a:bodyPr wrap="square" lIns="0" tIns="0" rIns="0" bIns="0" rtlCol="0" anchor="ctr"/>
          <a:lstStyle/>
          <a:p>
            <a:pPr indent="0" marL="0">
              <a:buNone/>
            </a:pPr>
            <a:r>
              <a:rPr lang="en-US" sz="1300" b="1" dirty="0">
                <a:solidFill>
                  <a:srgbClr val="0B1F3F"/>
                </a:solidFill>
                <a:latin typeface="Calibri" pitchFamily="34" charset="0"/>
                <a:ea typeface="Calibri" pitchFamily="34" charset="-122"/>
                <a:cs typeface="Calibri" pitchFamily="34" charset="-120"/>
              </a:rPr>
              <a:t>Structured Interviews</a:t>
            </a:r>
            <a:endParaRPr lang="en-US" sz="1300" dirty="0"/>
          </a:p>
        </p:txBody>
      </p:sp>
      <p:sp>
        <p:nvSpPr>
          <p:cNvPr id="12" name="Text 10"/>
          <p:cNvSpPr/>
          <p:nvPr/>
        </p:nvSpPr>
        <p:spPr>
          <a:xfrm>
            <a:off x="594360" y="2788920"/>
            <a:ext cx="3291840" cy="54864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1:1 with stakeholders. Best for decision rules and business logic.</a:t>
            </a:r>
            <a:endParaRPr lang="en-US" sz="1000" dirty="0"/>
          </a:p>
        </p:txBody>
      </p:sp>
      <p:sp>
        <p:nvSpPr>
          <p:cNvPr id="13" name="Shape 11"/>
          <p:cNvSpPr/>
          <p:nvPr/>
        </p:nvSpPr>
        <p:spPr>
          <a:xfrm>
            <a:off x="4251960" y="2011680"/>
            <a:ext cx="3657600" cy="1371600"/>
          </a:xfrm>
          <a:prstGeom prst="rect">
            <a:avLst/>
          </a:prstGeom>
          <a:solidFill>
            <a:srgbClr val="FFFFFF"/>
          </a:solidFill>
          <a:ln w="12700">
            <a:solidFill>
              <a:srgbClr val="C9D5E3"/>
            </a:solidFill>
            <a:prstDash val="solid"/>
          </a:ln>
        </p:spPr>
      </p:sp>
      <p:sp>
        <p:nvSpPr>
          <p:cNvPr id="14" name="Shape 12"/>
          <p:cNvSpPr/>
          <p:nvPr/>
        </p:nvSpPr>
        <p:spPr>
          <a:xfrm>
            <a:off x="4251960" y="2011680"/>
            <a:ext cx="3657600" cy="54864"/>
          </a:xfrm>
          <a:prstGeom prst="rect">
            <a:avLst/>
          </a:prstGeom>
          <a:solidFill>
            <a:srgbClr val="C9A227"/>
          </a:solidFill>
          <a:ln w="12700">
            <a:solidFill>
              <a:srgbClr val="C9A227"/>
            </a:solidFill>
            <a:prstDash val="solid"/>
          </a:ln>
        </p:spPr>
      </p:sp>
      <p:sp>
        <p:nvSpPr>
          <p:cNvPr id="15" name="Text 13"/>
          <p:cNvSpPr/>
          <p:nvPr/>
        </p:nvSpPr>
        <p:spPr>
          <a:xfrm>
            <a:off x="4434840" y="2176272"/>
            <a:ext cx="548640" cy="320040"/>
          </a:xfrm>
          <a:prstGeom prst="rect">
            <a:avLst/>
          </a:prstGeom>
          <a:noFill/>
          <a:ln/>
        </p:spPr>
        <p:txBody>
          <a:bodyPr wrap="square" lIns="0" tIns="0" rIns="0" bIns="0" rtlCol="0" anchor="ctr"/>
          <a:lstStyle/>
          <a:p>
            <a:pPr indent="0" marL="0">
              <a:buNone/>
            </a:pPr>
            <a:r>
              <a:rPr lang="en-US" sz="1400" b="1" dirty="0">
                <a:solidFill>
                  <a:srgbClr val="C9A227"/>
                </a:solidFill>
                <a:latin typeface="Georgia" pitchFamily="34" charset="0"/>
                <a:ea typeface="Georgia" pitchFamily="34" charset="-122"/>
                <a:cs typeface="Georgia" pitchFamily="34" charset="-120"/>
              </a:rPr>
              <a:t>02</a:t>
            </a:r>
            <a:endParaRPr lang="en-US" sz="1400" dirty="0"/>
          </a:p>
        </p:txBody>
      </p:sp>
      <p:sp>
        <p:nvSpPr>
          <p:cNvPr id="16" name="Text 14"/>
          <p:cNvSpPr/>
          <p:nvPr/>
        </p:nvSpPr>
        <p:spPr>
          <a:xfrm>
            <a:off x="4434840" y="2468880"/>
            <a:ext cx="3291840" cy="320040"/>
          </a:xfrm>
          <a:prstGeom prst="rect">
            <a:avLst/>
          </a:prstGeom>
          <a:noFill/>
          <a:ln/>
        </p:spPr>
        <p:txBody>
          <a:bodyPr wrap="square" lIns="0" tIns="0" rIns="0" bIns="0" rtlCol="0" anchor="ctr"/>
          <a:lstStyle/>
          <a:p>
            <a:pPr indent="0" marL="0">
              <a:buNone/>
            </a:pPr>
            <a:r>
              <a:rPr lang="en-US" sz="1300" b="1" dirty="0">
                <a:solidFill>
                  <a:srgbClr val="0B1F3F"/>
                </a:solidFill>
                <a:latin typeface="Calibri" pitchFamily="34" charset="0"/>
                <a:ea typeface="Calibri" pitchFamily="34" charset="-122"/>
                <a:cs typeface="Calibri" pitchFamily="34" charset="-120"/>
              </a:rPr>
              <a:t>Surveys</a:t>
            </a:r>
            <a:endParaRPr lang="en-US" sz="1300" dirty="0"/>
          </a:p>
        </p:txBody>
      </p:sp>
      <p:sp>
        <p:nvSpPr>
          <p:cNvPr id="17" name="Text 15"/>
          <p:cNvSpPr/>
          <p:nvPr/>
        </p:nvSpPr>
        <p:spPr>
          <a:xfrm>
            <a:off x="4434840" y="2788920"/>
            <a:ext cx="3291840" cy="54864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Distributed broadly. Captures usage patterns and priorities.</a:t>
            </a:r>
            <a:endParaRPr lang="en-US" sz="1000" dirty="0"/>
          </a:p>
        </p:txBody>
      </p:sp>
      <p:sp>
        <p:nvSpPr>
          <p:cNvPr id="18" name="Shape 16"/>
          <p:cNvSpPr/>
          <p:nvPr/>
        </p:nvSpPr>
        <p:spPr>
          <a:xfrm>
            <a:off x="8092440" y="2011680"/>
            <a:ext cx="3657600" cy="1371600"/>
          </a:xfrm>
          <a:prstGeom prst="rect">
            <a:avLst/>
          </a:prstGeom>
          <a:solidFill>
            <a:srgbClr val="FFFFFF"/>
          </a:solidFill>
          <a:ln w="12700">
            <a:solidFill>
              <a:srgbClr val="C9D5E3"/>
            </a:solidFill>
            <a:prstDash val="solid"/>
          </a:ln>
        </p:spPr>
      </p:sp>
      <p:sp>
        <p:nvSpPr>
          <p:cNvPr id="19" name="Shape 17"/>
          <p:cNvSpPr/>
          <p:nvPr/>
        </p:nvSpPr>
        <p:spPr>
          <a:xfrm>
            <a:off x="8092440" y="2011680"/>
            <a:ext cx="3657600" cy="54864"/>
          </a:xfrm>
          <a:prstGeom prst="rect">
            <a:avLst/>
          </a:prstGeom>
          <a:solidFill>
            <a:srgbClr val="C9A227"/>
          </a:solidFill>
          <a:ln w="12700">
            <a:solidFill>
              <a:srgbClr val="C9A227"/>
            </a:solidFill>
            <a:prstDash val="solid"/>
          </a:ln>
        </p:spPr>
      </p:sp>
      <p:sp>
        <p:nvSpPr>
          <p:cNvPr id="20" name="Text 18"/>
          <p:cNvSpPr/>
          <p:nvPr/>
        </p:nvSpPr>
        <p:spPr>
          <a:xfrm>
            <a:off x="8275320" y="2176272"/>
            <a:ext cx="548640" cy="320040"/>
          </a:xfrm>
          <a:prstGeom prst="rect">
            <a:avLst/>
          </a:prstGeom>
          <a:noFill/>
          <a:ln/>
        </p:spPr>
        <p:txBody>
          <a:bodyPr wrap="square" lIns="0" tIns="0" rIns="0" bIns="0" rtlCol="0" anchor="ctr"/>
          <a:lstStyle/>
          <a:p>
            <a:pPr indent="0" marL="0">
              <a:buNone/>
            </a:pPr>
            <a:r>
              <a:rPr lang="en-US" sz="1400" b="1" dirty="0">
                <a:solidFill>
                  <a:srgbClr val="C9A227"/>
                </a:solidFill>
                <a:latin typeface="Georgia" pitchFamily="34" charset="0"/>
                <a:ea typeface="Georgia" pitchFamily="34" charset="-122"/>
                <a:cs typeface="Georgia" pitchFamily="34" charset="-120"/>
              </a:rPr>
              <a:t>03</a:t>
            </a:r>
            <a:endParaRPr lang="en-US" sz="1400" dirty="0"/>
          </a:p>
        </p:txBody>
      </p:sp>
      <p:sp>
        <p:nvSpPr>
          <p:cNvPr id="21" name="Text 19"/>
          <p:cNvSpPr/>
          <p:nvPr/>
        </p:nvSpPr>
        <p:spPr>
          <a:xfrm>
            <a:off x="8275320" y="2468880"/>
            <a:ext cx="3291840" cy="320040"/>
          </a:xfrm>
          <a:prstGeom prst="rect">
            <a:avLst/>
          </a:prstGeom>
          <a:noFill/>
          <a:ln/>
        </p:spPr>
        <p:txBody>
          <a:bodyPr wrap="square" lIns="0" tIns="0" rIns="0" bIns="0" rtlCol="0" anchor="ctr"/>
          <a:lstStyle/>
          <a:p>
            <a:pPr indent="0" marL="0">
              <a:buNone/>
            </a:pPr>
            <a:r>
              <a:rPr lang="en-US" sz="1300" b="1" dirty="0">
                <a:solidFill>
                  <a:srgbClr val="0B1F3F"/>
                </a:solidFill>
                <a:latin typeface="Calibri" pitchFamily="34" charset="0"/>
                <a:ea typeface="Calibri" pitchFamily="34" charset="-122"/>
                <a:cs typeface="Calibri" pitchFamily="34" charset="-120"/>
              </a:rPr>
              <a:t>Observation</a:t>
            </a:r>
            <a:endParaRPr lang="en-US" sz="1300" dirty="0"/>
          </a:p>
        </p:txBody>
      </p:sp>
      <p:sp>
        <p:nvSpPr>
          <p:cNvPr id="22" name="Text 20"/>
          <p:cNvSpPr/>
          <p:nvPr/>
        </p:nvSpPr>
        <p:spPr>
          <a:xfrm>
            <a:off x="8275320" y="2788920"/>
            <a:ext cx="3291840" cy="54864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Watch users at work. Surfaces workarounds invisible in interviews.</a:t>
            </a:r>
            <a:endParaRPr lang="en-US" sz="1000" dirty="0"/>
          </a:p>
        </p:txBody>
      </p:sp>
      <p:sp>
        <p:nvSpPr>
          <p:cNvPr id="23" name="Shape 21"/>
          <p:cNvSpPr/>
          <p:nvPr/>
        </p:nvSpPr>
        <p:spPr>
          <a:xfrm>
            <a:off x="411480" y="3547872"/>
            <a:ext cx="3657600" cy="1371600"/>
          </a:xfrm>
          <a:prstGeom prst="rect">
            <a:avLst/>
          </a:prstGeom>
          <a:solidFill>
            <a:srgbClr val="FFFFFF"/>
          </a:solidFill>
          <a:ln w="12700">
            <a:solidFill>
              <a:srgbClr val="C9D5E3"/>
            </a:solidFill>
            <a:prstDash val="solid"/>
          </a:ln>
        </p:spPr>
      </p:sp>
      <p:sp>
        <p:nvSpPr>
          <p:cNvPr id="24" name="Shape 22"/>
          <p:cNvSpPr/>
          <p:nvPr/>
        </p:nvSpPr>
        <p:spPr>
          <a:xfrm>
            <a:off x="411480" y="3547872"/>
            <a:ext cx="3657600" cy="54864"/>
          </a:xfrm>
          <a:prstGeom prst="rect">
            <a:avLst/>
          </a:prstGeom>
          <a:solidFill>
            <a:srgbClr val="C9A227"/>
          </a:solidFill>
          <a:ln w="12700">
            <a:solidFill>
              <a:srgbClr val="C9A227"/>
            </a:solidFill>
            <a:prstDash val="solid"/>
          </a:ln>
        </p:spPr>
      </p:sp>
      <p:sp>
        <p:nvSpPr>
          <p:cNvPr id="25" name="Text 23"/>
          <p:cNvSpPr/>
          <p:nvPr/>
        </p:nvSpPr>
        <p:spPr>
          <a:xfrm>
            <a:off x="594360" y="3712464"/>
            <a:ext cx="548640" cy="320040"/>
          </a:xfrm>
          <a:prstGeom prst="rect">
            <a:avLst/>
          </a:prstGeom>
          <a:noFill/>
          <a:ln/>
        </p:spPr>
        <p:txBody>
          <a:bodyPr wrap="square" lIns="0" tIns="0" rIns="0" bIns="0" rtlCol="0" anchor="ctr"/>
          <a:lstStyle/>
          <a:p>
            <a:pPr indent="0" marL="0">
              <a:buNone/>
            </a:pPr>
            <a:r>
              <a:rPr lang="en-US" sz="1400" b="1" dirty="0">
                <a:solidFill>
                  <a:srgbClr val="C9A227"/>
                </a:solidFill>
                <a:latin typeface="Georgia" pitchFamily="34" charset="0"/>
                <a:ea typeface="Georgia" pitchFamily="34" charset="-122"/>
                <a:cs typeface="Georgia" pitchFamily="34" charset="-120"/>
              </a:rPr>
              <a:t>04</a:t>
            </a:r>
            <a:endParaRPr lang="en-US" sz="1400" dirty="0"/>
          </a:p>
        </p:txBody>
      </p:sp>
      <p:sp>
        <p:nvSpPr>
          <p:cNvPr id="26" name="Text 24"/>
          <p:cNvSpPr/>
          <p:nvPr/>
        </p:nvSpPr>
        <p:spPr>
          <a:xfrm>
            <a:off x="594360" y="4005072"/>
            <a:ext cx="3291840" cy="320040"/>
          </a:xfrm>
          <a:prstGeom prst="rect">
            <a:avLst/>
          </a:prstGeom>
          <a:noFill/>
          <a:ln/>
        </p:spPr>
        <p:txBody>
          <a:bodyPr wrap="square" lIns="0" tIns="0" rIns="0" bIns="0" rtlCol="0" anchor="ctr"/>
          <a:lstStyle/>
          <a:p>
            <a:pPr indent="0" marL="0">
              <a:buNone/>
            </a:pPr>
            <a:r>
              <a:rPr lang="en-US" sz="1300" b="1" dirty="0">
                <a:solidFill>
                  <a:srgbClr val="0B1F3F"/>
                </a:solidFill>
                <a:latin typeface="Calibri" pitchFamily="34" charset="0"/>
                <a:ea typeface="Calibri" pitchFamily="34" charset="-122"/>
                <a:cs typeface="Calibri" pitchFamily="34" charset="-120"/>
              </a:rPr>
              <a:t>Workshops</a:t>
            </a:r>
            <a:endParaRPr lang="en-US" sz="1300" dirty="0"/>
          </a:p>
        </p:txBody>
      </p:sp>
      <p:sp>
        <p:nvSpPr>
          <p:cNvPr id="27" name="Text 25"/>
          <p:cNvSpPr/>
          <p:nvPr/>
        </p:nvSpPr>
        <p:spPr>
          <a:xfrm>
            <a:off x="594360" y="4325112"/>
            <a:ext cx="3291840" cy="54864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Group sessions. Generate requirements and expose conflicts early.</a:t>
            </a:r>
            <a:endParaRPr lang="en-US" sz="1000" dirty="0"/>
          </a:p>
        </p:txBody>
      </p:sp>
      <p:sp>
        <p:nvSpPr>
          <p:cNvPr id="28" name="Shape 26"/>
          <p:cNvSpPr/>
          <p:nvPr/>
        </p:nvSpPr>
        <p:spPr>
          <a:xfrm>
            <a:off x="4251960" y="3547872"/>
            <a:ext cx="3657600" cy="1371600"/>
          </a:xfrm>
          <a:prstGeom prst="rect">
            <a:avLst/>
          </a:prstGeom>
          <a:solidFill>
            <a:srgbClr val="FFFFFF"/>
          </a:solidFill>
          <a:ln w="12700">
            <a:solidFill>
              <a:srgbClr val="C9D5E3"/>
            </a:solidFill>
            <a:prstDash val="solid"/>
          </a:ln>
        </p:spPr>
      </p:sp>
      <p:sp>
        <p:nvSpPr>
          <p:cNvPr id="29" name="Shape 27"/>
          <p:cNvSpPr/>
          <p:nvPr/>
        </p:nvSpPr>
        <p:spPr>
          <a:xfrm>
            <a:off x="4251960" y="3547872"/>
            <a:ext cx="3657600" cy="54864"/>
          </a:xfrm>
          <a:prstGeom prst="rect">
            <a:avLst/>
          </a:prstGeom>
          <a:solidFill>
            <a:srgbClr val="C9A227"/>
          </a:solidFill>
          <a:ln w="12700">
            <a:solidFill>
              <a:srgbClr val="C9A227"/>
            </a:solidFill>
            <a:prstDash val="solid"/>
          </a:ln>
        </p:spPr>
      </p:sp>
      <p:sp>
        <p:nvSpPr>
          <p:cNvPr id="30" name="Text 28"/>
          <p:cNvSpPr/>
          <p:nvPr/>
        </p:nvSpPr>
        <p:spPr>
          <a:xfrm>
            <a:off x="4434840" y="3712464"/>
            <a:ext cx="548640" cy="320040"/>
          </a:xfrm>
          <a:prstGeom prst="rect">
            <a:avLst/>
          </a:prstGeom>
          <a:noFill/>
          <a:ln/>
        </p:spPr>
        <p:txBody>
          <a:bodyPr wrap="square" lIns="0" tIns="0" rIns="0" bIns="0" rtlCol="0" anchor="ctr"/>
          <a:lstStyle/>
          <a:p>
            <a:pPr indent="0" marL="0">
              <a:buNone/>
            </a:pPr>
            <a:r>
              <a:rPr lang="en-US" sz="1400" b="1" dirty="0">
                <a:solidFill>
                  <a:srgbClr val="C9A227"/>
                </a:solidFill>
                <a:latin typeface="Georgia" pitchFamily="34" charset="0"/>
                <a:ea typeface="Georgia" pitchFamily="34" charset="-122"/>
                <a:cs typeface="Georgia" pitchFamily="34" charset="-120"/>
              </a:rPr>
              <a:t>05</a:t>
            </a:r>
            <a:endParaRPr lang="en-US" sz="1400" dirty="0"/>
          </a:p>
        </p:txBody>
      </p:sp>
      <p:sp>
        <p:nvSpPr>
          <p:cNvPr id="31" name="Text 29"/>
          <p:cNvSpPr/>
          <p:nvPr/>
        </p:nvSpPr>
        <p:spPr>
          <a:xfrm>
            <a:off x="4434840" y="4005072"/>
            <a:ext cx="3291840" cy="320040"/>
          </a:xfrm>
          <a:prstGeom prst="rect">
            <a:avLst/>
          </a:prstGeom>
          <a:noFill/>
          <a:ln/>
        </p:spPr>
        <p:txBody>
          <a:bodyPr wrap="square" lIns="0" tIns="0" rIns="0" bIns="0" rtlCol="0" anchor="ctr"/>
          <a:lstStyle/>
          <a:p>
            <a:pPr indent="0" marL="0">
              <a:buNone/>
            </a:pPr>
            <a:r>
              <a:rPr lang="en-US" sz="1300" b="1" dirty="0">
                <a:solidFill>
                  <a:srgbClr val="0B1F3F"/>
                </a:solidFill>
                <a:latin typeface="Calibri" pitchFamily="34" charset="0"/>
                <a:ea typeface="Calibri" pitchFamily="34" charset="-122"/>
                <a:cs typeface="Calibri" pitchFamily="34" charset="-120"/>
              </a:rPr>
              <a:t>Reverse Engineering</a:t>
            </a:r>
            <a:endParaRPr lang="en-US" sz="1300" dirty="0"/>
          </a:p>
        </p:txBody>
      </p:sp>
      <p:sp>
        <p:nvSpPr>
          <p:cNvPr id="32" name="Text 30"/>
          <p:cNvSpPr/>
          <p:nvPr/>
        </p:nvSpPr>
        <p:spPr>
          <a:xfrm>
            <a:off x="4434840" y="4325112"/>
            <a:ext cx="3291840" cy="54864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Analyse competing apps. Establishes the expected baseline.</a:t>
            </a:r>
            <a:endParaRPr lang="en-US" sz="1000" dirty="0"/>
          </a:p>
        </p:txBody>
      </p:sp>
      <p:sp>
        <p:nvSpPr>
          <p:cNvPr id="33" name="Shape 31"/>
          <p:cNvSpPr/>
          <p:nvPr/>
        </p:nvSpPr>
        <p:spPr>
          <a:xfrm>
            <a:off x="8092440" y="3547872"/>
            <a:ext cx="3657600" cy="1371600"/>
          </a:xfrm>
          <a:prstGeom prst="rect">
            <a:avLst/>
          </a:prstGeom>
          <a:solidFill>
            <a:srgbClr val="FFFFFF"/>
          </a:solidFill>
          <a:ln w="12700">
            <a:solidFill>
              <a:srgbClr val="C9D5E3"/>
            </a:solidFill>
            <a:prstDash val="solid"/>
          </a:ln>
        </p:spPr>
      </p:sp>
      <p:sp>
        <p:nvSpPr>
          <p:cNvPr id="34" name="Shape 32"/>
          <p:cNvSpPr/>
          <p:nvPr/>
        </p:nvSpPr>
        <p:spPr>
          <a:xfrm>
            <a:off x="8092440" y="3547872"/>
            <a:ext cx="3657600" cy="54864"/>
          </a:xfrm>
          <a:prstGeom prst="rect">
            <a:avLst/>
          </a:prstGeom>
          <a:solidFill>
            <a:srgbClr val="C9A227"/>
          </a:solidFill>
          <a:ln w="12700">
            <a:solidFill>
              <a:srgbClr val="C9A227"/>
            </a:solidFill>
            <a:prstDash val="solid"/>
          </a:ln>
        </p:spPr>
      </p:sp>
      <p:sp>
        <p:nvSpPr>
          <p:cNvPr id="35" name="Text 33"/>
          <p:cNvSpPr/>
          <p:nvPr/>
        </p:nvSpPr>
        <p:spPr>
          <a:xfrm>
            <a:off x="8275320" y="3712464"/>
            <a:ext cx="548640" cy="320040"/>
          </a:xfrm>
          <a:prstGeom prst="rect">
            <a:avLst/>
          </a:prstGeom>
          <a:noFill/>
          <a:ln/>
        </p:spPr>
        <p:txBody>
          <a:bodyPr wrap="square" lIns="0" tIns="0" rIns="0" bIns="0" rtlCol="0" anchor="ctr"/>
          <a:lstStyle/>
          <a:p>
            <a:pPr indent="0" marL="0">
              <a:buNone/>
            </a:pPr>
            <a:r>
              <a:rPr lang="en-US" sz="1400" b="1" dirty="0">
                <a:solidFill>
                  <a:srgbClr val="C9A227"/>
                </a:solidFill>
                <a:latin typeface="Georgia" pitchFamily="34" charset="0"/>
                <a:ea typeface="Georgia" pitchFamily="34" charset="-122"/>
                <a:cs typeface="Georgia" pitchFamily="34" charset="-120"/>
              </a:rPr>
              <a:t>06</a:t>
            </a:r>
            <a:endParaRPr lang="en-US" sz="1400" dirty="0"/>
          </a:p>
        </p:txBody>
      </p:sp>
      <p:sp>
        <p:nvSpPr>
          <p:cNvPr id="36" name="Text 34"/>
          <p:cNvSpPr/>
          <p:nvPr/>
        </p:nvSpPr>
        <p:spPr>
          <a:xfrm>
            <a:off x="8275320" y="4005072"/>
            <a:ext cx="3291840" cy="320040"/>
          </a:xfrm>
          <a:prstGeom prst="rect">
            <a:avLst/>
          </a:prstGeom>
          <a:noFill/>
          <a:ln/>
        </p:spPr>
        <p:txBody>
          <a:bodyPr wrap="square" lIns="0" tIns="0" rIns="0" bIns="0" rtlCol="0" anchor="ctr"/>
          <a:lstStyle/>
          <a:p>
            <a:pPr indent="0" marL="0">
              <a:buNone/>
            </a:pPr>
            <a:r>
              <a:rPr lang="en-US" sz="1300" b="1" dirty="0">
                <a:solidFill>
                  <a:srgbClr val="0B1F3F"/>
                </a:solidFill>
                <a:latin typeface="Calibri" pitchFamily="34" charset="0"/>
                <a:ea typeface="Calibri" pitchFamily="34" charset="-122"/>
                <a:cs typeface="Calibri" pitchFamily="34" charset="-120"/>
              </a:rPr>
              <a:t>Prototyping</a:t>
            </a:r>
            <a:endParaRPr lang="en-US" sz="1300" dirty="0"/>
          </a:p>
        </p:txBody>
      </p:sp>
      <p:sp>
        <p:nvSpPr>
          <p:cNvPr id="37" name="Text 35"/>
          <p:cNvSpPr/>
          <p:nvPr/>
        </p:nvSpPr>
        <p:spPr>
          <a:xfrm>
            <a:off x="8275320" y="4325112"/>
            <a:ext cx="3291840" cy="54864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Clickable mockups. Turn abstract requirements into concrete reactions.</a:t>
            </a:r>
            <a:endParaRPr lang="en-US" sz="1000" dirty="0"/>
          </a:p>
        </p:txBody>
      </p:sp>
      <p:sp>
        <p:nvSpPr>
          <p:cNvPr id="38" name="Text 36"/>
          <p:cNvSpPr/>
          <p:nvPr/>
        </p:nvSpPr>
        <p:spPr>
          <a:xfrm>
            <a:off x="548640" y="5440680"/>
            <a:ext cx="11064240" cy="365760"/>
          </a:xfrm>
          <a:prstGeom prst="rect">
            <a:avLst/>
          </a:prstGeom>
          <a:noFill/>
          <a:ln/>
        </p:spPr>
        <p:txBody>
          <a:bodyPr wrap="square" lIns="0" tIns="0" rIns="0" bIns="0" rtlCol="0" anchor="ctr"/>
          <a:lstStyle/>
          <a:p>
            <a:pPr algn="ctr" indent="0" marL="0">
              <a:buNone/>
            </a:pPr>
            <a:r>
              <a:rPr lang="en-US" sz="1200" b="1" i="1" dirty="0">
                <a:solidFill>
                  <a:srgbClr val="0B1F3F"/>
                </a:solidFill>
                <a:latin typeface="Calibri" pitchFamily="34" charset="0"/>
                <a:ea typeface="Calibri" pitchFamily="34" charset="-122"/>
                <a:cs typeface="Calibri" pitchFamily="34" charset="-120"/>
              </a:rPr>
              <a:t>Output: a Software Requirements Specification (SRS) — the contract between team and client.</a:t>
            </a:r>
            <a:endParaRPr lang="en-US" sz="1200" dirty="0"/>
          </a:p>
        </p:txBody>
      </p:sp>
      <p:sp>
        <p:nvSpPr>
          <p:cNvPr id="39" name="Text 37"/>
          <p:cNvSpPr/>
          <p:nvPr/>
        </p:nvSpPr>
        <p:spPr>
          <a:xfrm>
            <a:off x="5029200" y="6492240"/>
            <a:ext cx="5943600" cy="274320"/>
          </a:xfrm>
          <a:prstGeom prst="rect">
            <a:avLst/>
          </a:prstGeom>
          <a:noFill/>
          <a:ln/>
        </p:spPr>
        <p:txBody>
          <a:bodyPr wrap="square" lIns="0" tIns="0" rIns="0" bIns="0" rtlCol="0" anchor="ctr"/>
          <a:lstStyle/>
          <a:p>
            <a:pPr algn="r" indent="0" marL="0">
              <a:buNone/>
            </a:pPr>
            <a:r>
              <a:rPr lang="en-US" sz="900" i="1" dirty="0">
                <a:solidFill>
                  <a:srgbClr val="5B6B80"/>
                </a:solidFill>
                <a:latin typeface="Calibri" pitchFamily="34" charset="0"/>
                <a:ea typeface="Calibri" pitchFamily="34" charset="-122"/>
                <a:cs typeface="Calibri" pitchFamily="34" charset="-120"/>
              </a:rPr>
              <a:t>Source: CEF 440 Task 1 Report, §5 (p. 15)</a:t>
            </a:r>
            <a:endParaRPr lang="en-US" sz="900" dirty="0"/>
          </a:p>
        </p:txBody>
      </p:sp>
      <p:sp>
        <p:nvSpPr>
          <p:cNvPr id="40" name="Text 38"/>
          <p:cNvSpPr/>
          <p:nvPr/>
        </p:nvSpPr>
        <p:spPr>
          <a:xfrm>
            <a:off x="11064240" y="6492240"/>
            <a:ext cx="640080" cy="274320"/>
          </a:xfrm>
          <a:prstGeom prst="rect">
            <a:avLst/>
          </a:prstGeom>
          <a:noFill/>
          <a:ln/>
        </p:spPr>
        <p:txBody>
          <a:bodyPr wrap="square" lIns="0" tIns="0" rIns="0" bIns="0" rtlCol="0" anchor="ctr"/>
          <a:lstStyle/>
          <a:p>
            <a:pPr algn="r" indent="0" marL="0">
              <a:buNone/>
            </a:pPr>
            <a:r>
              <a:rPr lang="en-US" sz="900" dirty="0">
                <a:solidFill>
                  <a:srgbClr val="5B6B80"/>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B1F3F"/>
          </a:solidFill>
          <a:ln w="12700">
            <a:solidFill>
              <a:srgbClr val="0B1F3F"/>
            </a:solidFill>
            <a:prstDash val="solid"/>
          </a:ln>
        </p:spPr>
      </p:sp>
      <p:sp>
        <p:nvSpPr>
          <p:cNvPr id="3" name="Shape 1"/>
          <p:cNvSpPr/>
          <p:nvPr/>
        </p:nvSpPr>
        <p:spPr>
          <a:xfrm>
            <a:off x="457200" y="320040"/>
            <a:ext cx="109728" cy="365760"/>
          </a:xfrm>
          <a:prstGeom prst="rect">
            <a:avLst/>
          </a:prstGeom>
          <a:solidFill>
            <a:srgbClr val="C9A227"/>
          </a:solidFill>
          <a:ln w="12700">
            <a:solidFill>
              <a:srgbClr val="C9A227"/>
            </a:solidFill>
            <a:prstDash val="solid"/>
          </a:ln>
        </p:spPr>
      </p:sp>
      <p:sp>
        <p:nvSpPr>
          <p:cNvPr id="4" name="Text 2"/>
          <p:cNvSpPr/>
          <p:nvPr/>
        </p:nvSpPr>
        <p:spPr>
          <a:xfrm>
            <a:off x="685800" y="256032"/>
            <a:ext cx="7315200" cy="274320"/>
          </a:xfrm>
          <a:prstGeom prst="rect">
            <a:avLst/>
          </a:prstGeom>
          <a:noFill/>
          <a:ln/>
        </p:spPr>
        <p:txBody>
          <a:bodyPr wrap="square" lIns="0" tIns="0" rIns="0" bIns="0" rtlCol="0" anchor="ctr"/>
          <a:lstStyle/>
          <a:p>
            <a:pPr indent="0" marL="0">
              <a:buNone/>
            </a:pPr>
            <a:r>
              <a:rPr lang="en-US" sz="1100" b="1" spc="200" kern="0" dirty="0">
                <a:solidFill>
                  <a:srgbClr val="D6E6F7"/>
                </a:solidFill>
                <a:latin typeface="Calibri" pitchFamily="34" charset="0"/>
                <a:ea typeface="Calibri" pitchFamily="34" charset="-122"/>
                <a:cs typeface="Calibri" pitchFamily="34" charset="-120"/>
              </a:rPr>
              <a:t>06  ·  FINANCE</a:t>
            </a:r>
            <a:endParaRPr lang="en-US" sz="1100" dirty="0"/>
          </a:p>
        </p:txBody>
      </p:sp>
      <p:sp>
        <p:nvSpPr>
          <p:cNvPr id="5" name="Text 3"/>
          <p:cNvSpPr/>
          <p:nvPr/>
        </p:nvSpPr>
        <p:spPr>
          <a:xfrm>
            <a:off x="685800" y="502920"/>
            <a:ext cx="10058400" cy="50292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Cost Estimation: The Realistic Total Cost Formula</a:t>
            </a:r>
            <a:endParaRPr lang="en-US" sz="24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Group 12  ·  University of Buea  ·  FET</a:t>
            </a:r>
            <a:endParaRPr lang="en-US" sz="900" dirty="0"/>
          </a:p>
        </p:txBody>
      </p:sp>
      <p:sp>
        <p:nvSpPr>
          <p:cNvPr id="7" name="Text 5"/>
          <p:cNvSpPr/>
          <p:nvPr/>
        </p:nvSpPr>
        <p:spPr>
          <a:xfrm>
            <a:off x="548640" y="1280160"/>
            <a:ext cx="5760720" cy="274320"/>
          </a:xfrm>
          <a:prstGeom prst="rect">
            <a:avLst/>
          </a:prstGeom>
          <a:noFill/>
          <a:ln/>
        </p:spPr>
        <p:txBody>
          <a:bodyPr wrap="square" lIns="0" tIns="0" rIns="0" bIns="0" rtlCol="0" anchor="ctr"/>
          <a:lstStyle/>
          <a:p>
            <a:pPr indent="0" marL="0">
              <a:buNone/>
            </a:pPr>
            <a:r>
              <a:rPr lang="en-US" sz="1000" b="1" spc="200" kern="0" dirty="0">
                <a:solidFill>
                  <a:srgbClr val="C9A227"/>
                </a:solidFill>
                <a:latin typeface="Calibri" pitchFamily="34" charset="0"/>
                <a:ea typeface="Calibri" pitchFamily="34" charset="-122"/>
                <a:cs typeface="Calibri" pitchFamily="34" charset="-120"/>
              </a:rPr>
              <a:t>STEP 1 — DECOMPOSE BY COMPLEXITY</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760720" cy="914400"/>
        </p:xfrm>
        <a:graphic>
          <a:graphicData uri="http://schemas.openxmlformats.org/drawingml/2006/table">
            <a:tbl>
              <a:tblPr/>
              <a:tblGrid>
                <a:gridCol w="1097280"/>
                <a:gridCol w="1097280"/>
                <a:gridCol w="3566160"/>
              </a:tblGrid>
              <a:tr h="41148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Band</a:t>
                      </a:r>
                      <a:endParaRPr lang="en-US" sz="10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0B1F3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Hours</a:t>
                      </a:r>
                      <a:endParaRPr lang="en-US" sz="10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0B1F3F"/>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Examples</a:t>
                      </a:r>
                      <a:endParaRPr lang="en-US" sz="10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0B1F3F"/>
                    </a:solidFill>
                  </a:tcPr>
                </a:tc>
              </a:tr>
              <a:tr h="411480">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Simple</a:t>
                      </a:r>
                      <a:endParaRPr lang="en-US" sz="10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20–40</a:t>
                      </a:r>
                      <a:endParaRPr lang="en-US" sz="10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Static screens, login, basic nav</a:t>
                      </a:r>
                      <a:endParaRPr lang="en-US" sz="10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r>
              <a:tr h="411480">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40–80</a:t>
                      </a:r>
                      <a:endParaRPr lang="en-US" sz="10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Profiles, push, search, maps</a:t>
                      </a:r>
                      <a:endParaRPr lang="en-US" sz="10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r>
              <a:tr h="411480">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Complex</a:t>
                      </a:r>
                      <a:endParaRPr lang="en-US" sz="10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Real-time chat, payments, ML, sync</a:t>
                      </a:r>
                      <a:endParaRPr lang="en-US" sz="1000" dirty="0">
                        <a:latin typeface="Calibri" charset="0"/>
                        <a:ea typeface="Calibri" charset="0"/>
                        <a:cs typeface="Calibri" charset="0"/>
                      </a:endParaRPr>
                    </a:p>
                  </a:txBody>
                  <a:tcPr marL="91440" marR="91440" marT="45720" marB="45720" anchor="ctr">
                    <a:lnL w="6350" cap="flat" cmpd="sng" algn="ctr">
                      <a:solidFill>
                        <a:srgbClr val="C9D5E3"/>
                      </a:solidFill>
                      <a:prstDash val="solid"/>
                      <a:round/>
                      <a:headEnd type="none" w="med" len="med"/>
                      <a:tailEnd type="none" w="med" len="med"/>
                    </a:lnL>
                    <a:lnR w="6350" cap="flat" cmpd="sng" algn="ctr">
                      <a:solidFill>
                        <a:srgbClr val="C9D5E3"/>
                      </a:solidFill>
                      <a:prstDash val="solid"/>
                      <a:round/>
                      <a:headEnd type="none" w="med" len="med"/>
                      <a:tailEnd type="none" w="med" len="med"/>
                    </a:lnR>
                    <a:lnT w="6350" cap="flat" cmpd="sng" algn="ctr">
                      <a:solidFill>
                        <a:srgbClr val="C9D5E3"/>
                      </a:solidFill>
                      <a:prstDash val="solid"/>
                      <a:round/>
                      <a:headEnd type="none" w="med" len="med"/>
                      <a:tailEnd type="none" w="med" len="med"/>
                    </a:lnT>
                    <a:lnB w="6350" cap="flat" cmpd="sng" algn="ctr">
                      <a:solidFill>
                        <a:srgbClr val="C9D5E3"/>
                      </a:solidFill>
                      <a:prstDash val="solid"/>
                      <a:round/>
                      <a:headEnd type="none" w="med" len="med"/>
                      <a:tailEnd type="none" w="med" len="med"/>
                    </a:lnB>
                    <a:solidFill>
                      <a:srgbClr val="FFFFFF"/>
                    </a:solidFill>
                  </a:tcPr>
                </a:tc>
              </a:tr>
            </a:tbl>
          </a:graphicData>
        </a:graphic>
      </p:graphicFrame>
      <p:sp>
        <p:nvSpPr>
          <p:cNvPr id="9" name="Text 6"/>
          <p:cNvSpPr/>
          <p:nvPr/>
        </p:nvSpPr>
        <p:spPr>
          <a:xfrm>
            <a:off x="548640" y="3840480"/>
            <a:ext cx="5760720" cy="274320"/>
          </a:xfrm>
          <a:prstGeom prst="rect">
            <a:avLst/>
          </a:prstGeom>
          <a:noFill/>
          <a:ln/>
        </p:spPr>
        <p:txBody>
          <a:bodyPr wrap="square" lIns="0" tIns="0" rIns="0" bIns="0" rtlCol="0" anchor="ctr"/>
          <a:lstStyle/>
          <a:p>
            <a:pPr indent="0" marL="0">
              <a:buNone/>
            </a:pPr>
            <a:r>
              <a:rPr lang="en-US" sz="1000" b="1" spc="200" kern="0" dirty="0">
                <a:solidFill>
                  <a:srgbClr val="C9A227"/>
                </a:solidFill>
                <a:latin typeface="Calibri" pitchFamily="34" charset="0"/>
                <a:ea typeface="Calibri" pitchFamily="34" charset="-122"/>
                <a:cs typeface="Calibri" pitchFamily="34" charset="-120"/>
              </a:rPr>
              <a:t>STEP 2 — ADD OVERHEADS</a:t>
            </a:r>
            <a:endParaRPr lang="en-US" sz="1000" dirty="0"/>
          </a:p>
        </p:txBody>
      </p:sp>
      <p:sp>
        <p:nvSpPr>
          <p:cNvPr id="10" name="Shape 7"/>
          <p:cNvSpPr/>
          <p:nvPr/>
        </p:nvSpPr>
        <p:spPr>
          <a:xfrm>
            <a:off x="548640" y="4160520"/>
            <a:ext cx="5760720" cy="329184"/>
          </a:xfrm>
          <a:prstGeom prst="rect">
            <a:avLst/>
          </a:prstGeom>
          <a:solidFill>
            <a:srgbClr val="FFFFFF"/>
          </a:solidFill>
          <a:ln w="6350">
            <a:solidFill>
              <a:srgbClr val="C9D5E3"/>
            </a:solidFill>
            <a:prstDash val="solid"/>
          </a:ln>
        </p:spPr>
      </p:sp>
      <p:sp>
        <p:nvSpPr>
          <p:cNvPr id="11" name="Text 8"/>
          <p:cNvSpPr/>
          <p:nvPr/>
        </p:nvSpPr>
        <p:spPr>
          <a:xfrm>
            <a:off x="685800" y="4197096"/>
            <a:ext cx="4114800" cy="256032"/>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Project management</a:t>
            </a:r>
            <a:endParaRPr lang="en-US" sz="1100" dirty="0"/>
          </a:p>
        </p:txBody>
      </p:sp>
      <p:sp>
        <p:nvSpPr>
          <p:cNvPr id="12" name="Text 9"/>
          <p:cNvSpPr/>
          <p:nvPr/>
        </p:nvSpPr>
        <p:spPr>
          <a:xfrm>
            <a:off x="4846320" y="4197096"/>
            <a:ext cx="1371600" cy="256032"/>
          </a:xfrm>
          <a:prstGeom prst="rect">
            <a:avLst/>
          </a:prstGeom>
          <a:noFill/>
          <a:ln/>
        </p:spPr>
        <p:txBody>
          <a:bodyPr wrap="square" lIns="0" tIns="0" rIns="0" bIns="0" rtlCol="0" anchor="ctr"/>
          <a:lstStyle/>
          <a:p>
            <a:pPr algn="r" indent="0" marL="0">
              <a:buNone/>
            </a:pPr>
            <a:r>
              <a:rPr lang="en-US" sz="1100" b="1" dirty="0">
                <a:solidFill>
                  <a:srgbClr val="0B1F3F"/>
                </a:solidFill>
                <a:latin typeface="Calibri" pitchFamily="34" charset="0"/>
                <a:ea typeface="Calibri" pitchFamily="34" charset="-122"/>
                <a:cs typeface="Calibri" pitchFamily="34" charset="-120"/>
              </a:rPr>
              <a:t>+10–15%</a:t>
            </a:r>
            <a:endParaRPr lang="en-US" sz="1100" dirty="0"/>
          </a:p>
        </p:txBody>
      </p:sp>
      <p:sp>
        <p:nvSpPr>
          <p:cNvPr id="13" name="Shape 10"/>
          <p:cNvSpPr/>
          <p:nvPr/>
        </p:nvSpPr>
        <p:spPr>
          <a:xfrm>
            <a:off x="548640" y="4544568"/>
            <a:ext cx="5760720" cy="329184"/>
          </a:xfrm>
          <a:prstGeom prst="rect">
            <a:avLst/>
          </a:prstGeom>
          <a:solidFill>
            <a:srgbClr val="EEF3FA"/>
          </a:solidFill>
          <a:ln w="6350">
            <a:solidFill>
              <a:srgbClr val="C9D5E3"/>
            </a:solidFill>
            <a:prstDash val="solid"/>
          </a:ln>
        </p:spPr>
      </p:sp>
      <p:sp>
        <p:nvSpPr>
          <p:cNvPr id="14" name="Text 11"/>
          <p:cNvSpPr/>
          <p:nvPr/>
        </p:nvSpPr>
        <p:spPr>
          <a:xfrm>
            <a:off x="685800" y="4581144"/>
            <a:ext cx="4114800" cy="256032"/>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Testing &amp; QA</a:t>
            </a:r>
            <a:endParaRPr lang="en-US" sz="1100" dirty="0"/>
          </a:p>
        </p:txBody>
      </p:sp>
      <p:sp>
        <p:nvSpPr>
          <p:cNvPr id="15" name="Text 12"/>
          <p:cNvSpPr/>
          <p:nvPr/>
        </p:nvSpPr>
        <p:spPr>
          <a:xfrm>
            <a:off x="4846320" y="4581144"/>
            <a:ext cx="1371600" cy="256032"/>
          </a:xfrm>
          <a:prstGeom prst="rect">
            <a:avLst/>
          </a:prstGeom>
          <a:noFill/>
          <a:ln/>
        </p:spPr>
        <p:txBody>
          <a:bodyPr wrap="square" lIns="0" tIns="0" rIns="0" bIns="0" rtlCol="0" anchor="ctr"/>
          <a:lstStyle/>
          <a:p>
            <a:pPr algn="r" indent="0" marL="0">
              <a:buNone/>
            </a:pPr>
            <a:r>
              <a:rPr lang="en-US" sz="1100" b="1" dirty="0">
                <a:solidFill>
                  <a:srgbClr val="0B1F3F"/>
                </a:solidFill>
                <a:latin typeface="Calibri" pitchFamily="34" charset="0"/>
                <a:ea typeface="Calibri" pitchFamily="34" charset="-122"/>
                <a:cs typeface="Calibri" pitchFamily="34" charset="-120"/>
              </a:rPr>
              <a:t>+10–15%</a:t>
            </a:r>
            <a:endParaRPr lang="en-US" sz="1100" dirty="0"/>
          </a:p>
        </p:txBody>
      </p:sp>
      <p:sp>
        <p:nvSpPr>
          <p:cNvPr id="16" name="Shape 13"/>
          <p:cNvSpPr/>
          <p:nvPr/>
        </p:nvSpPr>
        <p:spPr>
          <a:xfrm>
            <a:off x="548640" y="4928616"/>
            <a:ext cx="5760720" cy="329184"/>
          </a:xfrm>
          <a:prstGeom prst="rect">
            <a:avLst/>
          </a:prstGeom>
          <a:solidFill>
            <a:srgbClr val="FFFFFF"/>
          </a:solidFill>
          <a:ln w="6350">
            <a:solidFill>
              <a:srgbClr val="C9D5E3"/>
            </a:solidFill>
            <a:prstDash val="solid"/>
          </a:ln>
        </p:spPr>
      </p:sp>
      <p:sp>
        <p:nvSpPr>
          <p:cNvPr id="17" name="Text 14"/>
          <p:cNvSpPr/>
          <p:nvPr/>
        </p:nvSpPr>
        <p:spPr>
          <a:xfrm>
            <a:off x="685800" y="4965192"/>
            <a:ext cx="4114800" cy="256032"/>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UI / UX design</a:t>
            </a:r>
            <a:endParaRPr lang="en-US" sz="1100" dirty="0"/>
          </a:p>
        </p:txBody>
      </p:sp>
      <p:sp>
        <p:nvSpPr>
          <p:cNvPr id="18" name="Text 15"/>
          <p:cNvSpPr/>
          <p:nvPr/>
        </p:nvSpPr>
        <p:spPr>
          <a:xfrm>
            <a:off x="4846320" y="4965192"/>
            <a:ext cx="1371600" cy="256032"/>
          </a:xfrm>
          <a:prstGeom prst="rect">
            <a:avLst/>
          </a:prstGeom>
          <a:noFill/>
          <a:ln/>
        </p:spPr>
        <p:txBody>
          <a:bodyPr wrap="square" lIns="0" tIns="0" rIns="0" bIns="0" rtlCol="0" anchor="ctr"/>
          <a:lstStyle/>
          <a:p>
            <a:pPr algn="r" indent="0" marL="0">
              <a:buNone/>
            </a:pPr>
            <a:r>
              <a:rPr lang="en-US" sz="1100" b="1" dirty="0">
                <a:solidFill>
                  <a:srgbClr val="0B1F3F"/>
                </a:solidFill>
                <a:latin typeface="Calibri" pitchFamily="34" charset="0"/>
                <a:ea typeface="Calibri" pitchFamily="34" charset="-122"/>
                <a:cs typeface="Calibri" pitchFamily="34" charset="-120"/>
              </a:rPr>
              <a:t>+10–20%</a:t>
            </a:r>
            <a:endParaRPr lang="en-US" sz="1100" dirty="0"/>
          </a:p>
        </p:txBody>
      </p:sp>
      <p:sp>
        <p:nvSpPr>
          <p:cNvPr id="19" name="Shape 16"/>
          <p:cNvSpPr/>
          <p:nvPr/>
        </p:nvSpPr>
        <p:spPr>
          <a:xfrm>
            <a:off x="548640" y="5312664"/>
            <a:ext cx="5760720" cy="329184"/>
          </a:xfrm>
          <a:prstGeom prst="rect">
            <a:avLst/>
          </a:prstGeom>
          <a:solidFill>
            <a:srgbClr val="EEF3FA"/>
          </a:solidFill>
          <a:ln w="6350">
            <a:solidFill>
              <a:srgbClr val="C9D5E3"/>
            </a:solidFill>
            <a:prstDash val="solid"/>
          </a:ln>
        </p:spPr>
      </p:sp>
      <p:sp>
        <p:nvSpPr>
          <p:cNvPr id="20" name="Text 17"/>
          <p:cNvSpPr/>
          <p:nvPr/>
        </p:nvSpPr>
        <p:spPr>
          <a:xfrm>
            <a:off x="685800" y="5349240"/>
            <a:ext cx="4114800" cy="256032"/>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Contingency buffer</a:t>
            </a:r>
            <a:endParaRPr lang="en-US" sz="1100" dirty="0"/>
          </a:p>
        </p:txBody>
      </p:sp>
      <p:sp>
        <p:nvSpPr>
          <p:cNvPr id="21" name="Text 18"/>
          <p:cNvSpPr/>
          <p:nvPr/>
        </p:nvSpPr>
        <p:spPr>
          <a:xfrm>
            <a:off x="4846320" y="5349240"/>
            <a:ext cx="1371600" cy="256032"/>
          </a:xfrm>
          <a:prstGeom prst="rect">
            <a:avLst/>
          </a:prstGeom>
          <a:noFill/>
          <a:ln/>
        </p:spPr>
        <p:txBody>
          <a:bodyPr wrap="square" lIns="0" tIns="0" rIns="0" bIns="0" rtlCol="0" anchor="ctr"/>
          <a:lstStyle/>
          <a:p>
            <a:pPr algn="r" indent="0" marL="0">
              <a:buNone/>
            </a:pPr>
            <a:r>
              <a:rPr lang="en-US" sz="1100" b="1" dirty="0">
                <a:solidFill>
                  <a:srgbClr val="0B1F3F"/>
                </a:solidFill>
                <a:latin typeface="Calibri" pitchFamily="34" charset="0"/>
                <a:ea typeface="Calibri" pitchFamily="34" charset="-122"/>
                <a:cs typeface="Calibri" pitchFamily="34" charset="-120"/>
              </a:rPr>
              <a:t>+10–20%</a:t>
            </a:r>
            <a:endParaRPr lang="en-US" sz="1100" dirty="0"/>
          </a:p>
        </p:txBody>
      </p:sp>
      <p:sp>
        <p:nvSpPr>
          <p:cNvPr id="22" name="Shape 19"/>
          <p:cNvSpPr/>
          <p:nvPr/>
        </p:nvSpPr>
        <p:spPr>
          <a:xfrm>
            <a:off x="6675120" y="1280160"/>
            <a:ext cx="4937760" cy="4937760"/>
          </a:xfrm>
          <a:prstGeom prst="rect">
            <a:avLst/>
          </a:prstGeom>
          <a:solidFill>
            <a:srgbClr val="0B1F3F"/>
          </a:solidFill>
          <a:ln w="12700">
            <a:solidFill>
              <a:srgbClr val="0B1F3F"/>
            </a:solidFill>
            <a:prstDash val="solid"/>
          </a:ln>
        </p:spPr>
      </p:sp>
      <p:sp>
        <p:nvSpPr>
          <p:cNvPr id="23" name="Shape 20"/>
          <p:cNvSpPr/>
          <p:nvPr/>
        </p:nvSpPr>
        <p:spPr>
          <a:xfrm>
            <a:off x="6675120" y="1280160"/>
            <a:ext cx="4937760" cy="73152"/>
          </a:xfrm>
          <a:prstGeom prst="rect">
            <a:avLst/>
          </a:prstGeom>
          <a:solidFill>
            <a:srgbClr val="C9A227"/>
          </a:solidFill>
          <a:ln w="12700">
            <a:solidFill>
              <a:srgbClr val="C9A227"/>
            </a:solidFill>
            <a:prstDash val="solid"/>
          </a:ln>
        </p:spPr>
      </p:sp>
      <p:sp>
        <p:nvSpPr>
          <p:cNvPr id="24" name="Text 21"/>
          <p:cNvSpPr/>
          <p:nvPr/>
        </p:nvSpPr>
        <p:spPr>
          <a:xfrm>
            <a:off x="6858000" y="1508760"/>
            <a:ext cx="4572000" cy="320040"/>
          </a:xfrm>
          <a:prstGeom prst="rect">
            <a:avLst/>
          </a:prstGeom>
          <a:noFill/>
          <a:ln/>
        </p:spPr>
        <p:txBody>
          <a:bodyPr wrap="square" lIns="0" tIns="0" rIns="0" bIns="0"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THE FORMULA</a:t>
            </a:r>
            <a:endParaRPr lang="en-US" sz="1100" dirty="0"/>
          </a:p>
        </p:txBody>
      </p:sp>
      <p:sp>
        <p:nvSpPr>
          <p:cNvPr id="25" name="Text 22"/>
          <p:cNvSpPr/>
          <p:nvPr/>
        </p:nvSpPr>
        <p:spPr>
          <a:xfrm>
            <a:off x="6858000" y="196596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Base Cost</a:t>
            </a:r>
            <a:endParaRPr lang="en-US" sz="1600" dirty="0"/>
          </a:p>
        </p:txBody>
      </p:sp>
      <p:sp>
        <p:nvSpPr>
          <p:cNvPr id="26" name="Text 23"/>
          <p:cNvSpPr/>
          <p:nvPr/>
        </p:nvSpPr>
        <p:spPr>
          <a:xfrm>
            <a:off x="6858000" y="2331720"/>
            <a:ext cx="4572000" cy="365760"/>
          </a:xfrm>
          <a:prstGeom prst="rect">
            <a:avLst/>
          </a:prstGeom>
          <a:noFill/>
          <a:ln/>
        </p:spPr>
        <p:txBody>
          <a:bodyPr wrap="square" lIns="0" tIns="0" rIns="0" bIns="0" rtlCol="0" anchor="ctr"/>
          <a:lstStyle/>
          <a:p>
            <a:pPr indent="0" marL="0">
              <a:buNone/>
            </a:pPr>
            <a:r>
              <a:rPr lang="en-US" sz="1400" i="1" dirty="0">
                <a:solidFill>
                  <a:srgbClr val="D6E6F7"/>
                </a:solidFill>
                <a:latin typeface="Calibri" pitchFamily="34" charset="0"/>
                <a:ea typeface="Calibri" pitchFamily="34" charset="-122"/>
                <a:cs typeface="Calibri" pitchFamily="34" charset="-120"/>
              </a:rPr>
              <a:t>=  Hours  ×  Hourly Rate</a:t>
            </a:r>
            <a:endParaRPr lang="en-US" sz="1400" dirty="0"/>
          </a:p>
        </p:txBody>
      </p:sp>
      <p:sp>
        <p:nvSpPr>
          <p:cNvPr id="27" name="Shape 24"/>
          <p:cNvSpPr/>
          <p:nvPr/>
        </p:nvSpPr>
        <p:spPr>
          <a:xfrm>
            <a:off x="6858000" y="2926080"/>
            <a:ext cx="4572000" cy="0"/>
          </a:xfrm>
          <a:prstGeom prst="line">
            <a:avLst/>
          </a:prstGeom>
          <a:noFill/>
          <a:ln w="12700">
            <a:solidFill>
              <a:srgbClr val="C9A227"/>
            </a:solidFill>
            <a:prstDash val="solid"/>
          </a:ln>
        </p:spPr>
      </p:sp>
      <p:sp>
        <p:nvSpPr>
          <p:cNvPr id="28" name="Text 25"/>
          <p:cNvSpPr/>
          <p:nvPr/>
        </p:nvSpPr>
        <p:spPr>
          <a:xfrm>
            <a:off x="6858000" y="310896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Realistic Total</a:t>
            </a:r>
            <a:endParaRPr lang="en-US" sz="1600" dirty="0"/>
          </a:p>
        </p:txBody>
      </p:sp>
      <p:sp>
        <p:nvSpPr>
          <p:cNvPr id="29" name="Text 26"/>
          <p:cNvSpPr/>
          <p:nvPr/>
        </p:nvSpPr>
        <p:spPr>
          <a:xfrm>
            <a:off x="6858000" y="3474720"/>
            <a:ext cx="4572000" cy="365760"/>
          </a:xfrm>
          <a:prstGeom prst="rect">
            <a:avLst/>
          </a:prstGeom>
          <a:noFill/>
          <a:ln/>
        </p:spPr>
        <p:txBody>
          <a:bodyPr wrap="square" lIns="0" tIns="0" rIns="0" bIns="0" rtlCol="0" anchor="ctr"/>
          <a:lstStyle/>
          <a:p>
            <a:pPr indent="0" marL="0">
              <a:buNone/>
            </a:pPr>
            <a:r>
              <a:rPr lang="en-US" sz="1400" i="1" dirty="0">
                <a:solidFill>
                  <a:srgbClr val="D6E6F7"/>
                </a:solidFill>
                <a:latin typeface="Calibri" pitchFamily="34" charset="0"/>
                <a:ea typeface="Calibri" pitchFamily="34" charset="-122"/>
                <a:cs typeface="Calibri" pitchFamily="34" charset="-120"/>
              </a:rPr>
              <a:t>=  Base Cost  ×  1.40 to 1.50</a:t>
            </a:r>
            <a:endParaRPr lang="en-US" sz="1400" dirty="0"/>
          </a:p>
        </p:txBody>
      </p:sp>
      <p:sp>
        <p:nvSpPr>
          <p:cNvPr id="30" name="Shape 27"/>
          <p:cNvSpPr/>
          <p:nvPr/>
        </p:nvSpPr>
        <p:spPr>
          <a:xfrm>
            <a:off x="6858000" y="4023360"/>
            <a:ext cx="4572000" cy="0"/>
          </a:xfrm>
          <a:prstGeom prst="line">
            <a:avLst/>
          </a:prstGeom>
          <a:noFill/>
          <a:ln w="12700">
            <a:solidFill>
              <a:srgbClr val="C9A227"/>
            </a:solidFill>
            <a:prstDash val="solid"/>
          </a:ln>
        </p:spPr>
      </p:sp>
      <p:sp>
        <p:nvSpPr>
          <p:cNvPr id="31" name="Text 28"/>
          <p:cNvSpPr/>
          <p:nvPr/>
        </p:nvSpPr>
        <p:spPr>
          <a:xfrm>
            <a:off x="6858000" y="4160520"/>
            <a:ext cx="4572000" cy="274320"/>
          </a:xfrm>
          <a:prstGeom prst="rect">
            <a:avLst/>
          </a:prstGeom>
          <a:noFill/>
          <a:ln/>
        </p:spPr>
        <p:txBody>
          <a:bodyPr wrap="square" lIns="0" tIns="0" rIns="0" bIns="0" rtlCol="0" anchor="ctr"/>
          <a:lstStyle/>
          <a:p>
            <a:pPr indent="0" marL="0">
              <a:buNone/>
            </a:pPr>
            <a:r>
              <a:rPr lang="en-US" sz="1000" b="1" spc="200" kern="0" dirty="0">
                <a:solidFill>
                  <a:srgbClr val="C9A227"/>
                </a:solidFill>
                <a:latin typeface="Calibri" pitchFamily="34" charset="0"/>
                <a:ea typeface="Calibri" pitchFamily="34" charset="-122"/>
                <a:cs typeface="Calibri" pitchFamily="34" charset="-120"/>
              </a:rPr>
              <a:t>WORKED EXAMPLE</a:t>
            </a:r>
            <a:endParaRPr lang="en-US" sz="1000" dirty="0"/>
          </a:p>
        </p:txBody>
      </p:sp>
      <p:sp>
        <p:nvSpPr>
          <p:cNvPr id="32" name="Text 29"/>
          <p:cNvSpPr/>
          <p:nvPr/>
        </p:nvSpPr>
        <p:spPr>
          <a:xfrm>
            <a:off x="6858000" y="4434840"/>
            <a:ext cx="4572000" cy="1645920"/>
          </a:xfrm>
          <a:prstGeom prst="rect">
            <a:avLst/>
          </a:prstGeom>
          <a:noFill/>
          <a:ln/>
        </p:spPr>
        <p:txBody>
          <a:bodyPr wrap="square" lIns="0" tIns="0" rIns="0" bIns="0" rtlCol="0" anchor="ctr"/>
          <a:lstStyle/>
          <a:p>
            <a:pPr indent="0" marL="0">
              <a:spcAft>
                <a:spcPts val="200"/>
              </a:spcAft>
              <a:buNone/>
            </a:pPr>
            <a:r>
              <a:rPr lang="en-US" sz="1200" dirty="0">
                <a:solidFill>
                  <a:srgbClr val="FFFFFF"/>
                </a:solidFill>
                <a:latin typeface="Calibri" pitchFamily="34" charset="0"/>
                <a:ea typeface="Calibri" pitchFamily="34" charset="-122"/>
                <a:cs typeface="Calibri" pitchFamily="34" charset="-120"/>
              </a:rPr>
              <a:t>350 hours  ×  $70/hr</a:t>
            </a:r>
            <a:endParaRPr lang="en-US" sz="1200" dirty="0"/>
          </a:p>
          <a:p>
            <a:pPr indent="0" marL="0">
              <a:spcAft>
                <a:spcPts val="200"/>
              </a:spcAft>
              <a:buNone/>
            </a:pPr>
            <a:r>
              <a:rPr lang="en-US" sz="1200" i="1" dirty="0">
                <a:solidFill>
                  <a:srgbClr val="D6E6F7"/>
                </a:solidFill>
                <a:latin typeface="Calibri" pitchFamily="34" charset="0"/>
                <a:ea typeface="Calibri" pitchFamily="34" charset="-122"/>
                <a:cs typeface="Calibri" pitchFamily="34" charset="-120"/>
              </a:rPr>
              <a:t>=  $24,500 base</a:t>
            </a:r>
            <a:endParaRPr lang="en-US" sz="1200" dirty="0"/>
          </a:p>
          <a:p>
            <a:pPr indent="0" marL="0">
              <a:spcAft>
                <a:spcPts val="200"/>
              </a:spcAft>
              <a:buNone/>
            </a:pPr>
            <a:r>
              <a:rPr lang="en-US" sz="800" dirty="0">
                <a:solidFill>
                  <a:srgbClr val="000000"/>
                </a:solidFill>
                <a:latin typeface="Calibri" pitchFamily="34" charset="0"/>
                <a:ea typeface="Calibri" pitchFamily="34" charset="-122"/>
                <a:cs typeface="Calibri" pitchFamily="34" charset="-120"/>
              </a:rPr>
              <a:t> </a:t>
            </a:r>
            <a:endParaRPr lang="en-US" sz="1200" dirty="0"/>
          </a:p>
          <a:p>
            <a:pPr indent="0" marL="0">
              <a:spcAft>
                <a:spcPts val="200"/>
              </a:spcAft>
              <a:buNone/>
            </a:pPr>
            <a:r>
              <a:rPr lang="en-US" sz="1200" dirty="0">
                <a:solidFill>
                  <a:srgbClr val="FFFFFF"/>
                </a:solidFill>
                <a:latin typeface="Calibri" pitchFamily="34" charset="0"/>
                <a:ea typeface="Calibri" pitchFamily="34" charset="-122"/>
                <a:cs typeface="Calibri" pitchFamily="34" charset="-120"/>
              </a:rPr>
              <a:t>$24,500  ×  1.45</a:t>
            </a:r>
            <a:endParaRPr lang="en-US" sz="1200" dirty="0"/>
          </a:p>
          <a:p>
            <a:pPr indent="0" marL="0">
              <a:spcAft>
                <a:spcPts val="200"/>
              </a:spcAft>
              <a:buNone/>
            </a:pPr>
            <a:r>
              <a:rPr lang="en-US" sz="1300" b="1" dirty="0">
                <a:solidFill>
                  <a:srgbClr val="C9A227"/>
                </a:solidFill>
                <a:latin typeface="Calibri" pitchFamily="34" charset="0"/>
                <a:ea typeface="Calibri" pitchFamily="34" charset="-122"/>
                <a:cs typeface="Calibri" pitchFamily="34" charset="-120"/>
              </a:rPr>
              <a:t>=  $35,525 realistic</a:t>
            </a:r>
            <a:endParaRPr lang="en-US" sz="1200" dirty="0"/>
          </a:p>
        </p:txBody>
      </p:sp>
      <p:sp>
        <p:nvSpPr>
          <p:cNvPr id="33" name="Text 30"/>
          <p:cNvSpPr/>
          <p:nvPr/>
        </p:nvSpPr>
        <p:spPr>
          <a:xfrm>
            <a:off x="11064240" y="6492240"/>
            <a:ext cx="640080" cy="274320"/>
          </a:xfrm>
          <a:prstGeom prst="rect">
            <a:avLst/>
          </a:prstGeom>
          <a:noFill/>
          <a:ln/>
        </p:spPr>
        <p:txBody>
          <a:bodyPr wrap="square" lIns="0" tIns="0" rIns="0" bIns="0" rtlCol="0" anchor="ctr"/>
          <a:lstStyle/>
          <a:p>
            <a:pPr algn="r" indent="0" marL="0">
              <a:buNone/>
            </a:pPr>
            <a:r>
              <a:rPr lang="en-US" sz="900" dirty="0">
                <a:solidFill>
                  <a:srgbClr val="5B6B80"/>
                </a:solidFill>
                <a:latin typeface="Calibri" pitchFamily="34" charset="0"/>
                <a:ea typeface="Calibri" pitchFamily="34" charset="-122"/>
                <a:cs typeface="Calibri"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61520" cy="1005840"/>
          </a:xfrm>
          <a:prstGeom prst="rect">
            <a:avLst/>
          </a:prstGeom>
          <a:solidFill>
            <a:srgbClr val="0B1F3F"/>
          </a:solidFill>
          <a:ln w="12700">
            <a:solidFill>
              <a:srgbClr val="0B1F3F"/>
            </a:solidFill>
            <a:prstDash val="solid"/>
          </a:ln>
        </p:spPr>
      </p:sp>
      <p:sp>
        <p:nvSpPr>
          <p:cNvPr id="3" name="Shape 1"/>
          <p:cNvSpPr/>
          <p:nvPr/>
        </p:nvSpPr>
        <p:spPr>
          <a:xfrm>
            <a:off x="457200" y="320040"/>
            <a:ext cx="109728" cy="365760"/>
          </a:xfrm>
          <a:prstGeom prst="rect">
            <a:avLst/>
          </a:prstGeom>
          <a:solidFill>
            <a:srgbClr val="C9A227"/>
          </a:solidFill>
          <a:ln w="12700">
            <a:solidFill>
              <a:srgbClr val="C9A227"/>
            </a:solidFill>
            <a:prstDash val="solid"/>
          </a:ln>
        </p:spPr>
      </p:sp>
      <p:sp>
        <p:nvSpPr>
          <p:cNvPr id="4" name="Text 2"/>
          <p:cNvSpPr/>
          <p:nvPr/>
        </p:nvSpPr>
        <p:spPr>
          <a:xfrm>
            <a:off x="685800" y="256032"/>
            <a:ext cx="7315200" cy="274320"/>
          </a:xfrm>
          <a:prstGeom prst="rect">
            <a:avLst/>
          </a:prstGeom>
          <a:noFill/>
          <a:ln/>
        </p:spPr>
        <p:txBody>
          <a:bodyPr wrap="square" lIns="0" tIns="0" rIns="0" bIns="0" rtlCol="0" anchor="ctr"/>
          <a:lstStyle/>
          <a:p>
            <a:pPr indent="0" marL="0">
              <a:buNone/>
            </a:pPr>
            <a:r>
              <a:rPr lang="en-US" sz="1100" b="1" spc="200" kern="0" dirty="0">
                <a:solidFill>
                  <a:srgbClr val="D6E6F7"/>
                </a:solidFill>
                <a:latin typeface="Calibri" pitchFamily="34" charset="0"/>
                <a:ea typeface="Calibri" pitchFamily="34" charset="-122"/>
                <a:cs typeface="Calibri" pitchFamily="34" charset="-120"/>
              </a:rPr>
              <a:t>·  SUMMARY  ·</a:t>
            </a:r>
            <a:endParaRPr lang="en-US" sz="1100" dirty="0"/>
          </a:p>
        </p:txBody>
      </p:sp>
      <p:sp>
        <p:nvSpPr>
          <p:cNvPr id="5" name="Text 3"/>
          <p:cNvSpPr/>
          <p:nvPr/>
        </p:nvSpPr>
        <p:spPr>
          <a:xfrm>
            <a:off x="685800" y="502920"/>
            <a:ext cx="10058400" cy="50292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What to Take Away</a:t>
            </a:r>
            <a:endParaRPr lang="en-US" sz="2400" dirty="0"/>
          </a:p>
        </p:txBody>
      </p:sp>
      <p:sp>
        <p:nvSpPr>
          <p:cNvPr id="6" name="Text 4"/>
          <p:cNvSpPr/>
          <p:nvPr/>
        </p:nvSpPr>
        <p:spPr>
          <a:xfrm>
            <a:off x="457200" y="6492240"/>
            <a:ext cx="7315200" cy="274320"/>
          </a:xfrm>
          <a:prstGeom prst="rect">
            <a:avLst/>
          </a:prstGeom>
          <a:noFill/>
          <a:ln/>
        </p:spPr>
        <p:txBody>
          <a:bodyPr wrap="square" lIns="0" tIns="0" rIns="0" bIns="0" rtlCol="0" anchor="ctr"/>
          <a:lstStyle/>
          <a:p>
            <a:pPr indent="0" marL="0">
              <a:buNone/>
            </a:pPr>
            <a:r>
              <a:rPr lang="en-US" sz="900" dirty="0">
                <a:solidFill>
                  <a:srgbClr val="5B6B80"/>
                </a:solidFill>
                <a:latin typeface="Calibri" pitchFamily="34" charset="0"/>
                <a:ea typeface="Calibri" pitchFamily="34" charset="-122"/>
                <a:cs typeface="Calibri" pitchFamily="34" charset="-120"/>
              </a:rPr>
              <a:t>Group 12  ·  University of Buea  ·  FET</a:t>
            </a:r>
            <a:endParaRPr lang="en-US" sz="900" dirty="0"/>
          </a:p>
        </p:txBody>
      </p:sp>
      <p:sp>
        <p:nvSpPr>
          <p:cNvPr id="7" name="Shape 5"/>
          <p:cNvSpPr/>
          <p:nvPr/>
        </p:nvSpPr>
        <p:spPr>
          <a:xfrm>
            <a:off x="548640" y="1325880"/>
            <a:ext cx="11064240" cy="868680"/>
          </a:xfrm>
          <a:prstGeom prst="rect">
            <a:avLst/>
          </a:prstGeom>
          <a:solidFill>
            <a:srgbClr val="FFFFFF"/>
          </a:solidFill>
          <a:ln w="12700">
            <a:solidFill>
              <a:srgbClr val="C9D5E3"/>
            </a:solidFill>
            <a:prstDash val="solid"/>
          </a:ln>
        </p:spPr>
      </p:sp>
      <p:sp>
        <p:nvSpPr>
          <p:cNvPr id="8" name="Shape 6"/>
          <p:cNvSpPr/>
          <p:nvPr/>
        </p:nvSpPr>
        <p:spPr>
          <a:xfrm>
            <a:off x="548640" y="1325880"/>
            <a:ext cx="822960" cy="868680"/>
          </a:xfrm>
          <a:prstGeom prst="rect">
            <a:avLst/>
          </a:prstGeom>
          <a:solidFill>
            <a:srgbClr val="0B1F3F"/>
          </a:solidFill>
          <a:ln w="12700">
            <a:solidFill>
              <a:srgbClr val="0B1F3F"/>
            </a:solidFill>
            <a:prstDash val="solid"/>
          </a:ln>
        </p:spPr>
      </p:sp>
      <p:sp>
        <p:nvSpPr>
          <p:cNvPr id="9" name="Text 7"/>
          <p:cNvSpPr/>
          <p:nvPr/>
        </p:nvSpPr>
        <p:spPr>
          <a:xfrm>
            <a:off x="548640" y="1325880"/>
            <a:ext cx="822960" cy="868680"/>
          </a:xfrm>
          <a:prstGeom prst="rect">
            <a:avLst/>
          </a:prstGeom>
          <a:noFill/>
          <a:ln/>
        </p:spPr>
        <p:txBody>
          <a:bodyPr wrap="square" lIns="0" tIns="0" rIns="0" bIns="0" rtlCol="0" anchor="ctr"/>
          <a:lstStyle/>
          <a:p>
            <a:pPr algn="ctr" indent="0" marL="0">
              <a:buNone/>
            </a:pPr>
            <a:r>
              <a:rPr lang="en-US" sz="2200" b="1" dirty="0">
                <a:solidFill>
                  <a:srgbClr val="C9A227"/>
                </a:solidFill>
                <a:latin typeface="Georgia" pitchFamily="34" charset="0"/>
                <a:ea typeface="Georgia" pitchFamily="34" charset="-122"/>
                <a:cs typeface="Georgia" pitchFamily="34" charset="-120"/>
              </a:rPr>
              <a:t>01</a:t>
            </a:r>
            <a:endParaRPr lang="en-US" sz="2200" dirty="0"/>
          </a:p>
        </p:txBody>
      </p:sp>
      <p:sp>
        <p:nvSpPr>
          <p:cNvPr id="10" name="Text 8"/>
          <p:cNvSpPr/>
          <p:nvPr/>
        </p:nvSpPr>
        <p:spPr>
          <a:xfrm>
            <a:off x="1554480" y="1417320"/>
            <a:ext cx="9966960" cy="365760"/>
          </a:xfrm>
          <a:prstGeom prst="rect">
            <a:avLst/>
          </a:prstGeom>
          <a:noFill/>
          <a:ln/>
        </p:spPr>
        <p:txBody>
          <a:bodyPr wrap="square" lIns="0" tIns="0" rIns="0" bIns="0"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Choose by constraint, not by hype.</a:t>
            </a:r>
            <a:endParaRPr lang="en-US" sz="1400" dirty="0"/>
          </a:p>
        </p:txBody>
      </p:sp>
      <p:sp>
        <p:nvSpPr>
          <p:cNvPr id="11" name="Text 9"/>
          <p:cNvSpPr/>
          <p:nvPr/>
        </p:nvSpPr>
        <p:spPr>
          <a:xfrm>
            <a:off x="1554480" y="1764792"/>
            <a:ext cx="9966960" cy="4114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Performance, reach, team skill, and lifetime — in that order — determine the right stack. Not what's trending on Twitter.</a:t>
            </a:r>
            <a:endParaRPr lang="en-US" sz="1100" dirty="0"/>
          </a:p>
        </p:txBody>
      </p:sp>
      <p:sp>
        <p:nvSpPr>
          <p:cNvPr id="12" name="Shape 10"/>
          <p:cNvSpPr/>
          <p:nvPr/>
        </p:nvSpPr>
        <p:spPr>
          <a:xfrm>
            <a:off x="548640" y="2286000"/>
            <a:ext cx="11064240" cy="868680"/>
          </a:xfrm>
          <a:prstGeom prst="rect">
            <a:avLst/>
          </a:prstGeom>
          <a:solidFill>
            <a:srgbClr val="FFFFFF"/>
          </a:solidFill>
          <a:ln w="12700">
            <a:solidFill>
              <a:srgbClr val="C9D5E3"/>
            </a:solidFill>
            <a:prstDash val="solid"/>
          </a:ln>
        </p:spPr>
      </p:sp>
      <p:sp>
        <p:nvSpPr>
          <p:cNvPr id="13" name="Shape 11"/>
          <p:cNvSpPr/>
          <p:nvPr/>
        </p:nvSpPr>
        <p:spPr>
          <a:xfrm>
            <a:off x="548640" y="2286000"/>
            <a:ext cx="822960" cy="868680"/>
          </a:xfrm>
          <a:prstGeom prst="rect">
            <a:avLst/>
          </a:prstGeom>
          <a:solidFill>
            <a:srgbClr val="0B1F3F"/>
          </a:solidFill>
          <a:ln w="12700">
            <a:solidFill>
              <a:srgbClr val="0B1F3F"/>
            </a:solidFill>
            <a:prstDash val="solid"/>
          </a:ln>
        </p:spPr>
      </p:sp>
      <p:sp>
        <p:nvSpPr>
          <p:cNvPr id="14" name="Text 12"/>
          <p:cNvSpPr/>
          <p:nvPr/>
        </p:nvSpPr>
        <p:spPr>
          <a:xfrm>
            <a:off x="548640" y="2286000"/>
            <a:ext cx="822960" cy="868680"/>
          </a:xfrm>
          <a:prstGeom prst="rect">
            <a:avLst/>
          </a:prstGeom>
          <a:noFill/>
          <a:ln/>
        </p:spPr>
        <p:txBody>
          <a:bodyPr wrap="square" lIns="0" tIns="0" rIns="0" bIns="0" rtlCol="0" anchor="ctr"/>
          <a:lstStyle/>
          <a:p>
            <a:pPr algn="ctr" indent="0" marL="0">
              <a:buNone/>
            </a:pPr>
            <a:r>
              <a:rPr lang="en-US" sz="2200" b="1" dirty="0">
                <a:solidFill>
                  <a:srgbClr val="C9A227"/>
                </a:solidFill>
                <a:latin typeface="Georgia" pitchFamily="34" charset="0"/>
                <a:ea typeface="Georgia" pitchFamily="34" charset="-122"/>
                <a:cs typeface="Georgia" pitchFamily="34" charset="-120"/>
              </a:rPr>
              <a:t>02</a:t>
            </a:r>
            <a:endParaRPr lang="en-US" sz="2200" dirty="0"/>
          </a:p>
        </p:txBody>
      </p:sp>
      <p:sp>
        <p:nvSpPr>
          <p:cNvPr id="15" name="Text 13"/>
          <p:cNvSpPr/>
          <p:nvPr/>
        </p:nvSpPr>
        <p:spPr>
          <a:xfrm>
            <a:off x="1554480" y="2377440"/>
            <a:ext cx="9966960" cy="365760"/>
          </a:xfrm>
          <a:prstGeom prst="rect">
            <a:avLst/>
          </a:prstGeom>
          <a:noFill/>
          <a:ln/>
        </p:spPr>
        <p:txBody>
          <a:bodyPr wrap="square" lIns="0" tIns="0" rIns="0" bIns="0"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Modern native ≈ modern cross-platform in mental model.</a:t>
            </a:r>
            <a:endParaRPr lang="en-US" sz="1400" dirty="0"/>
          </a:p>
        </p:txBody>
      </p:sp>
      <p:sp>
        <p:nvSpPr>
          <p:cNvPr id="16" name="Text 14"/>
          <p:cNvSpPr/>
          <p:nvPr/>
        </p:nvSpPr>
        <p:spPr>
          <a:xfrm>
            <a:off x="1554480" y="2724912"/>
            <a:ext cx="9966960" cy="4114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Compose, SwiftUI, and Flutter all share the declarative + reactive paradigm. The architectural argument is over.</a:t>
            </a:r>
            <a:endParaRPr lang="en-US" sz="1100" dirty="0"/>
          </a:p>
        </p:txBody>
      </p:sp>
      <p:sp>
        <p:nvSpPr>
          <p:cNvPr id="17" name="Shape 15"/>
          <p:cNvSpPr/>
          <p:nvPr/>
        </p:nvSpPr>
        <p:spPr>
          <a:xfrm>
            <a:off x="548640" y="3246120"/>
            <a:ext cx="11064240" cy="868680"/>
          </a:xfrm>
          <a:prstGeom prst="rect">
            <a:avLst/>
          </a:prstGeom>
          <a:solidFill>
            <a:srgbClr val="FFFFFF"/>
          </a:solidFill>
          <a:ln w="12700">
            <a:solidFill>
              <a:srgbClr val="C9D5E3"/>
            </a:solidFill>
            <a:prstDash val="solid"/>
          </a:ln>
        </p:spPr>
      </p:sp>
      <p:sp>
        <p:nvSpPr>
          <p:cNvPr id="18" name="Shape 16"/>
          <p:cNvSpPr/>
          <p:nvPr/>
        </p:nvSpPr>
        <p:spPr>
          <a:xfrm>
            <a:off x="548640" y="3246120"/>
            <a:ext cx="822960" cy="868680"/>
          </a:xfrm>
          <a:prstGeom prst="rect">
            <a:avLst/>
          </a:prstGeom>
          <a:solidFill>
            <a:srgbClr val="0B1F3F"/>
          </a:solidFill>
          <a:ln w="12700">
            <a:solidFill>
              <a:srgbClr val="0B1F3F"/>
            </a:solidFill>
            <a:prstDash val="solid"/>
          </a:ln>
        </p:spPr>
      </p:sp>
      <p:sp>
        <p:nvSpPr>
          <p:cNvPr id="19" name="Text 17"/>
          <p:cNvSpPr/>
          <p:nvPr/>
        </p:nvSpPr>
        <p:spPr>
          <a:xfrm>
            <a:off x="548640" y="3246120"/>
            <a:ext cx="822960" cy="868680"/>
          </a:xfrm>
          <a:prstGeom prst="rect">
            <a:avLst/>
          </a:prstGeom>
          <a:noFill/>
          <a:ln/>
        </p:spPr>
        <p:txBody>
          <a:bodyPr wrap="square" lIns="0" tIns="0" rIns="0" bIns="0" rtlCol="0" anchor="ctr"/>
          <a:lstStyle/>
          <a:p>
            <a:pPr algn="ctr" indent="0" marL="0">
              <a:buNone/>
            </a:pPr>
            <a:r>
              <a:rPr lang="en-US" sz="2200" b="1" dirty="0">
                <a:solidFill>
                  <a:srgbClr val="C9A227"/>
                </a:solidFill>
                <a:latin typeface="Georgia" pitchFamily="34" charset="0"/>
                <a:ea typeface="Georgia" pitchFamily="34" charset="-122"/>
                <a:cs typeface="Georgia" pitchFamily="34" charset="-120"/>
              </a:rPr>
              <a:t>03</a:t>
            </a:r>
            <a:endParaRPr lang="en-US" sz="2200" dirty="0"/>
          </a:p>
        </p:txBody>
      </p:sp>
      <p:sp>
        <p:nvSpPr>
          <p:cNvPr id="20" name="Text 18"/>
          <p:cNvSpPr/>
          <p:nvPr/>
        </p:nvSpPr>
        <p:spPr>
          <a:xfrm>
            <a:off x="1554480" y="3337560"/>
            <a:ext cx="9966960" cy="365760"/>
          </a:xfrm>
          <a:prstGeom prst="rect">
            <a:avLst/>
          </a:prstGeom>
          <a:noFill/>
          <a:ln/>
        </p:spPr>
        <p:txBody>
          <a:bodyPr wrap="square" lIns="0" tIns="0" rIns="0" bIns="0"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MVVM is the default. Clean Architecture is the long-term bet.</a:t>
            </a:r>
            <a:endParaRPr lang="en-US" sz="1400" dirty="0"/>
          </a:p>
        </p:txBody>
      </p:sp>
      <p:sp>
        <p:nvSpPr>
          <p:cNvPr id="21" name="Text 19"/>
          <p:cNvSpPr/>
          <p:nvPr/>
        </p:nvSpPr>
        <p:spPr>
          <a:xfrm>
            <a:off x="1554480" y="3685032"/>
            <a:ext cx="9966960" cy="4114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MVVM solves UI-data sync. Clean Architecture protects business rules from technology churn.</a:t>
            </a:r>
            <a:endParaRPr lang="en-US" sz="1100" dirty="0"/>
          </a:p>
        </p:txBody>
      </p:sp>
      <p:sp>
        <p:nvSpPr>
          <p:cNvPr id="22" name="Shape 20"/>
          <p:cNvSpPr/>
          <p:nvPr/>
        </p:nvSpPr>
        <p:spPr>
          <a:xfrm>
            <a:off x="548640" y="4206240"/>
            <a:ext cx="11064240" cy="868680"/>
          </a:xfrm>
          <a:prstGeom prst="rect">
            <a:avLst/>
          </a:prstGeom>
          <a:solidFill>
            <a:srgbClr val="FFFFFF"/>
          </a:solidFill>
          <a:ln w="12700">
            <a:solidFill>
              <a:srgbClr val="C9D5E3"/>
            </a:solidFill>
            <a:prstDash val="solid"/>
          </a:ln>
        </p:spPr>
      </p:sp>
      <p:sp>
        <p:nvSpPr>
          <p:cNvPr id="23" name="Shape 21"/>
          <p:cNvSpPr/>
          <p:nvPr/>
        </p:nvSpPr>
        <p:spPr>
          <a:xfrm>
            <a:off x="548640" y="4206240"/>
            <a:ext cx="822960" cy="868680"/>
          </a:xfrm>
          <a:prstGeom prst="rect">
            <a:avLst/>
          </a:prstGeom>
          <a:solidFill>
            <a:srgbClr val="0B1F3F"/>
          </a:solidFill>
          <a:ln w="12700">
            <a:solidFill>
              <a:srgbClr val="0B1F3F"/>
            </a:solidFill>
            <a:prstDash val="solid"/>
          </a:ln>
        </p:spPr>
      </p:sp>
      <p:sp>
        <p:nvSpPr>
          <p:cNvPr id="24" name="Text 22"/>
          <p:cNvSpPr/>
          <p:nvPr/>
        </p:nvSpPr>
        <p:spPr>
          <a:xfrm>
            <a:off x="548640" y="4206240"/>
            <a:ext cx="822960" cy="868680"/>
          </a:xfrm>
          <a:prstGeom prst="rect">
            <a:avLst/>
          </a:prstGeom>
          <a:noFill/>
          <a:ln/>
        </p:spPr>
        <p:txBody>
          <a:bodyPr wrap="square" lIns="0" tIns="0" rIns="0" bIns="0" rtlCol="0" anchor="ctr"/>
          <a:lstStyle/>
          <a:p>
            <a:pPr algn="ctr" indent="0" marL="0">
              <a:buNone/>
            </a:pPr>
            <a:r>
              <a:rPr lang="en-US" sz="2200" b="1" dirty="0">
                <a:solidFill>
                  <a:srgbClr val="C9A227"/>
                </a:solidFill>
                <a:latin typeface="Georgia" pitchFamily="34" charset="0"/>
                <a:ea typeface="Georgia" pitchFamily="34" charset="-122"/>
                <a:cs typeface="Georgia" pitchFamily="34" charset="-120"/>
              </a:rPr>
              <a:t>04</a:t>
            </a:r>
            <a:endParaRPr lang="en-US" sz="2200" dirty="0"/>
          </a:p>
        </p:txBody>
      </p:sp>
      <p:sp>
        <p:nvSpPr>
          <p:cNvPr id="25" name="Text 23"/>
          <p:cNvSpPr/>
          <p:nvPr/>
        </p:nvSpPr>
        <p:spPr>
          <a:xfrm>
            <a:off x="1554480" y="4297680"/>
            <a:ext cx="9966960" cy="365760"/>
          </a:xfrm>
          <a:prstGeom prst="rect">
            <a:avLst/>
          </a:prstGeom>
          <a:noFill/>
          <a:ln/>
        </p:spPr>
        <p:txBody>
          <a:bodyPr wrap="square" lIns="0" tIns="0" rIns="0" bIns="0"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Requirements are cheaper than rework.</a:t>
            </a:r>
            <a:endParaRPr lang="en-US" sz="1400" dirty="0"/>
          </a:p>
        </p:txBody>
      </p:sp>
      <p:sp>
        <p:nvSpPr>
          <p:cNvPr id="26" name="Text 24"/>
          <p:cNvSpPr/>
          <p:nvPr/>
        </p:nvSpPr>
        <p:spPr>
          <a:xfrm>
            <a:off x="1554480" y="4645152"/>
            <a:ext cx="9966960" cy="4114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Triangulate elicitation techniques. Validate the SRS before any code. Refuse to estimate before scope is fixed.</a:t>
            </a:r>
            <a:endParaRPr lang="en-US" sz="1100" dirty="0"/>
          </a:p>
        </p:txBody>
      </p:sp>
      <p:sp>
        <p:nvSpPr>
          <p:cNvPr id="27" name="Shape 25"/>
          <p:cNvSpPr/>
          <p:nvPr/>
        </p:nvSpPr>
        <p:spPr>
          <a:xfrm>
            <a:off x="548640" y="5166360"/>
            <a:ext cx="11064240" cy="868680"/>
          </a:xfrm>
          <a:prstGeom prst="rect">
            <a:avLst/>
          </a:prstGeom>
          <a:solidFill>
            <a:srgbClr val="FFFFFF"/>
          </a:solidFill>
          <a:ln w="12700">
            <a:solidFill>
              <a:srgbClr val="C9D5E3"/>
            </a:solidFill>
            <a:prstDash val="solid"/>
          </a:ln>
        </p:spPr>
      </p:sp>
      <p:sp>
        <p:nvSpPr>
          <p:cNvPr id="28" name="Shape 26"/>
          <p:cNvSpPr/>
          <p:nvPr/>
        </p:nvSpPr>
        <p:spPr>
          <a:xfrm>
            <a:off x="548640" y="5166360"/>
            <a:ext cx="822960" cy="868680"/>
          </a:xfrm>
          <a:prstGeom prst="rect">
            <a:avLst/>
          </a:prstGeom>
          <a:solidFill>
            <a:srgbClr val="0B1F3F"/>
          </a:solidFill>
          <a:ln w="12700">
            <a:solidFill>
              <a:srgbClr val="0B1F3F"/>
            </a:solidFill>
            <a:prstDash val="solid"/>
          </a:ln>
        </p:spPr>
      </p:sp>
      <p:sp>
        <p:nvSpPr>
          <p:cNvPr id="29" name="Text 27"/>
          <p:cNvSpPr/>
          <p:nvPr/>
        </p:nvSpPr>
        <p:spPr>
          <a:xfrm>
            <a:off x="548640" y="5166360"/>
            <a:ext cx="822960" cy="868680"/>
          </a:xfrm>
          <a:prstGeom prst="rect">
            <a:avLst/>
          </a:prstGeom>
          <a:noFill/>
          <a:ln/>
        </p:spPr>
        <p:txBody>
          <a:bodyPr wrap="square" lIns="0" tIns="0" rIns="0" bIns="0" rtlCol="0" anchor="ctr"/>
          <a:lstStyle/>
          <a:p>
            <a:pPr algn="ctr" indent="0" marL="0">
              <a:buNone/>
            </a:pPr>
            <a:r>
              <a:rPr lang="en-US" sz="2200" b="1" dirty="0">
                <a:solidFill>
                  <a:srgbClr val="C9A227"/>
                </a:solidFill>
                <a:latin typeface="Georgia" pitchFamily="34" charset="0"/>
                <a:ea typeface="Georgia" pitchFamily="34" charset="-122"/>
                <a:cs typeface="Georgia" pitchFamily="34" charset="-120"/>
              </a:rPr>
              <a:t>05</a:t>
            </a:r>
            <a:endParaRPr lang="en-US" sz="2200" dirty="0"/>
          </a:p>
        </p:txBody>
      </p:sp>
      <p:sp>
        <p:nvSpPr>
          <p:cNvPr id="30" name="Text 28"/>
          <p:cNvSpPr/>
          <p:nvPr/>
        </p:nvSpPr>
        <p:spPr>
          <a:xfrm>
            <a:off x="1554480" y="5257800"/>
            <a:ext cx="9966960" cy="365760"/>
          </a:xfrm>
          <a:prstGeom prst="rect">
            <a:avLst/>
          </a:prstGeom>
          <a:noFill/>
          <a:ln/>
        </p:spPr>
        <p:txBody>
          <a:bodyPr wrap="square" lIns="0" tIns="0" rIns="0" bIns="0"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The realistic cost is 1.4–1.5× the base. Always.</a:t>
            </a:r>
            <a:endParaRPr lang="en-US" sz="1400" dirty="0"/>
          </a:p>
        </p:txBody>
      </p:sp>
      <p:sp>
        <p:nvSpPr>
          <p:cNvPr id="31" name="Text 29"/>
          <p:cNvSpPr/>
          <p:nvPr/>
        </p:nvSpPr>
        <p:spPr>
          <a:xfrm>
            <a:off x="1554480" y="5605272"/>
            <a:ext cx="9966960" cy="4114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An estimate without overhead is not optimistic — it is incomplete. Revise it at every phase boundary.</a:t>
            </a:r>
            <a:endParaRPr lang="en-US" sz="1100" dirty="0"/>
          </a:p>
        </p:txBody>
      </p:sp>
      <p:sp>
        <p:nvSpPr>
          <p:cNvPr id="32" name="Text 30"/>
          <p:cNvSpPr/>
          <p:nvPr/>
        </p:nvSpPr>
        <p:spPr>
          <a:xfrm>
            <a:off x="11064240" y="6492240"/>
            <a:ext cx="640080" cy="274320"/>
          </a:xfrm>
          <a:prstGeom prst="rect">
            <a:avLst/>
          </a:prstGeom>
          <a:noFill/>
          <a:ln/>
        </p:spPr>
        <p:txBody>
          <a:bodyPr wrap="square" lIns="0" tIns="0" rIns="0" bIns="0" rtlCol="0" anchor="ctr"/>
          <a:lstStyle/>
          <a:p>
            <a:pPr algn="r" indent="0" marL="0">
              <a:buNone/>
            </a:pPr>
            <a:r>
              <a:rPr lang="en-US" sz="900" dirty="0">
                <a:solidFill>
                  <a:srgbClr val="5B6B80"/>
                </a:solidFill>
                <a:latin typeface="Calibri" pitchFamily="34" charset="0"/>
                <a:ea typeface="Calibri" pitchFamily="34" charset="-122"/>
                <a:cs typeface="Calibri" pitchFamily="34" charset="-120"/>
              </a:rPr>
              <a:t>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CEF 440 - Mobile App Development Process</dc:title>
  <dc:subject>PptxGenJS Presentation</dc:subject>
  <dc:creator>Group 12</dc:creator>
  <cp:lastModifiedBy>Group 12</cp:lastModifiedBy>
  <cp:revision>1</cp:revision>
  <dcterms:created xsi:type="dcterms:W3CDTF">2026-04-07T11:46:39Z</dcterms:created>
  <dcterms:modified xsi:type="dcterms:W3CDTF">2026-04-07T11:46:39Z</dcterms:modified>
</cp:coreProperties>
</file>