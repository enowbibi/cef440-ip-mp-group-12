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0" r:id="rId12"/>
    <p:sldId id="266" r:id="rId13"/>
    <p:sldId id="267" r:id="rId14"/>
    <p:sldId id="268" r:id="rId15"/>
    <p:sldId id="281" r:id="rId16"/>
    <p:sldId id="269" r:id="rId17"/>
    <p:sldId id="270" r:id="rId18"/>
    <p:sldId id="271" r:id="rId19"/>
    <p:sldId id="272" r:id="rId20"/>
    <p:sldId id="28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911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4E7E0-F5E5-F310-6094-4A2DF677C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681DE5-7EE8-2981-1B3F-2ED3AC349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49E13-9CEE-291C-9AA2-B35047D76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944BE-FE96-0D53-0116-669B43B042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481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3E7E0-719D-157B-DFF4-795B0462C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B2203-2C93-C0F3-F468-8F2506B66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BF38A2-FCE1-B695-6BA4-96AE65696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23075-7F40-ED87-4B12-901558C4B2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1496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3FD22-0207-F730-2B5A-06848B0F7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C2CD4D-15C2-7FF5-4635-00E4726032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3CDAFB-AD38-A927-00A2-E8CE0B174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4AFCE-8333-BF2F-4CFF-999B9642BD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240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5029200" cy="5029200"/>
          </a:xfrm>
          <a:prstGeom prst="ellipse">
            <a:avLst/>
          </a:prstGeom>
          <a:solidFill>
            <a:srgbClr val="1E3A5F">
              <a:alpha val="4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103120"/>
            <a:ext cx="3657600" cy="365760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C0EB"/>
          </a:solidFill>
          <a:ln w="12700">
            <a:solidFill>
              <a:srgbClr val="5BC0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5BC0EB"/>
                </a:solidFill>
              </a:rPr>
              <a:t>UNIVERSITY OF BUEA  |  DEPT. OF COMPUTER ENGINEERING  |  CEF 440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554480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TASK 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Modelling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Design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48640" y="32186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1D9E0"/>
                </a:solidFill>
              </a:rPr>
              <a:t>Car Fault Diagnosis Mobile Application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67328"/>
            <a:ext cx="292608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9044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Group 12</a:t>
            </a:r>
            <a:r>
              <a:rPr lang="en-US" sz="1100" dirty="0">
                <a:solidFill>
                  <a:srgbClr val="718096"/>
                </a:solidFill>
              </a:rPr>
              <a:t>  |  Supervisor: Dr. Valery Nkemeni  |  Academic Year: 2025–2026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Table of Contents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26974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78992"/>
            <a:ext cx="64008" cy="13898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24358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4632" y="16550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Context Diagram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975104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External actors and system boundary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36392" y="1078992"/>
            <a:ext cx="26974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36392" y="1078992"/>
            <a:ext cx="64008" cy="13898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0984" y="124358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00984" y="16550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Data Flow Diagram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00984" y="1975104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Internal processes and data stores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52744" y="1078992"/>
            <a:ext cx="26974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52744" y="1078992"/>
            <a:ext cx="64008" cy="13898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7336" y="124358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17336" y="16550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Use Case Diagram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17336" y="1975104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Actors, use cases and relationships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578608"/>
            <a:ext cx="26974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578608"/>
            <a:ext cx="64008" cy="1389888"/>
          </a:xfrm>
          <a:prstGeom prst="rect">
            <a:avLst/>
          </a:prstGeom>
          <a:solidFill>
            <a:srgbClr val="5E548E"/>
          </a:solidFill>
          <a:ln w="12700">
            <a:solidFill>
              <a:srgbClr val="5E54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27432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548E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4632" y="31546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Sequence Diagrams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" y="347472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Dynamic interaction flows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36392" y="2578608"/>
            <a:ext cx="26974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36392" y="2578608"/>
            <a:ext cx="64008" cy="13898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00984" y="27432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6A4F"/>
                </a:solidFill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00984" y="31546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Class Diagram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00984" y="347472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Static structure and relationships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52744" y="2578608"/>
            <a:ext cx="26974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52744" y="2578608"/>
            <a:ext cx="64008" cy="138988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17336" y="27432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B39"/>
                </a:solidFill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117336" y="31546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</a:rPr>
              <a:t>Deployment Diagram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17336" y="3474720"/>
            <a:ext cx="2441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Physical architecture and nodes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5943600" cy="5943600"/>
          </a:xfrm>
          <a:prstGeom prst="ellipse">
            <a:avLst/>
          </a:prstGeom>
          <a:solidFill>
            <a:srgbClr val="0D1B3E">
              <a:alpha val="28000"/>
            </a:srgb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128016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FFFFFF">
                    <a:alpha val="82000"/>
                  </a:srgbClr>
                </a:solidFill>
              </a:rPr>
              <a:t>01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Context Diagram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0F4F8"/>
                </a:solidFill>
              </a:rPr>
              <a:t>External actors, system boundary, and key data flows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Context Diagram — System Overview (Level 0 DFD)</a:t>
            </a:r>
            <a:endParaRPr lang="en-US" sz="21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56A73F0-2B48-595A-6E37-7FF6BF6CD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02" y="804673"/>
            <a:ext cx="7067862" cy="42931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Context Diagram — External Actors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Human Actors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4023360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External Systems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89888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89888"/>
            <a:ext cx="64008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45389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Driver / Car Owner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171907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Primary user. Sends photos, audio recordings, GPS location, and login credentials. Receives fault explanations, repair guidance, cost estimates, and service reminders.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02336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86000"/>
            <a:ext cx="64008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35000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Vehicle (OBD-II Port)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" y="261518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Not a person but treated as an actor. Transmits raw DTCs to the app via a Bluetooth or Wi-Fi OBD-II adapter. One-way flow — the app never writes to the ECU.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3182112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182112"/>
            <a:ext cx="64008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2461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Mechanic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351129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Nearby garage or technician. Shares profile and location with the system. Receives referral notifications when a nearby user requests help.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4078224"/>
            <a:ext cx="402336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078224"/>
            <a:ext cx="64008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414223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Fleet Manager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" y="440740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Manages a company vehicle fleet. Sends list of vehicles to monitor. Receives fleet-level maintenance reports and alerts. All flows require internet.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46320" y="1389888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389888"/>
            <a:ext cx="64008" cy="8046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145389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39"/>
                </a:solidFill>
              </a:rPr>
              <a:t>Fault Code Library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10912" y="171907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External database of vehicle fault codes and repair price ranges. The app queries it to match OBD-II codes with fault descriptions and cost estimates. Updatable remotely.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46320" y="2286000"/>
            <a:ext cx="402336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286000"/>
            <a:ext cx="64008" cy="8046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235000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39"/>
                </a:solidFill>
              </a:rPr>
              <a:t>Remote Server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10912" y="261518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Backend server storing user data and running heavier diagnostic processing. The app sends sensor data to it and receives a structured diagnosis result in return.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Context Diagram — Design Implications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847088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658368" cy="6583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161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Driver is the Core Actor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58191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More data flows connect to/from the driver than any other actor. The UX must prioritise a simple, non-technical interface.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206240" cy="1847088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143000"/>
            <a:ext cx="658368" cy="6583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430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0" y="1161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Secondary Actors are Online-Only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0" y="158191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Fleet manager and mechanic flows are all internet-dependent. These features can be deferred without breaking the offline core.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90088"/>
            <a:ext cx="4206240" cy="1847088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72968"/>
            <a:ext cx="658368" cy="6583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729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1912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Vehicle is Read-Only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611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Data flows only FROM vehicle TO app. The app never writes to the vehicle ECU — this significantly simplifies OBD-II integration.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990088"/>
            <a:ext cx="4206240" cy="1847088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172968"/>
            <a:ext cx="658368" cy="6583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1729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0" y="31912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Two-Tier External Architecture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0" y="3611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Fault database for local matching + remote server for heavy processing. Directly supports the hybrid offline/online design.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5943600" cy="5943600"/>
          </a:xfrm>
          <a:prstGeom prst="ellipse">
            <a:avLst/>
          </a:prstGeom>
          <a:solidFill>
            <a:srgbClr val="0D1B3E">
              <a:alpha val="28000"/>
            </a:srgb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1280160"/>
            <a:ext cx="5029200" cy="5029200"/>
          </a:xfrm>
          <a:prstGeom prst="ellipse">
            <a:avLst/>
          </a:prstGeom>
          <a:solidFill>
            <a:srgbClr val="065A82">
              <a:alpha val="22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FFFFFF">
                    <a:alpha val="82000"/>
                  </a:srgbClr>
                </a:solidFill>
              </a:rPr>
              <a:t>02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Data Flow Diagram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0F4F8"/>
                </a:solidFill>
              </a:rPr>
              <a:t>Level 1 DFD — internal processes, data stores, and key flows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Data Flow Diagram — Six Internal Processes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70432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0058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Verify User Identity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3898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Checks driver credentials against the User Accounts store before granting access. First step in every session.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70432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70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23560" y="10058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Capture Vehicle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23560" y="13898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Collects all raw inputs: OBD-II fault codes, photos, audio, and GPS. Performs initial code lookup in the fault library.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22576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578608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5786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4140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Analyse the Fault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79806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Core processing: combines OBD-II codes, image analysis, and sound analysis. Reads fault library and maintenance history.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322576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578608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5786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23560" y="24140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Build Diagnosis Report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23560" y="279806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Assembles final output: plain-language explanation, step-by-step repair guidance, and cost estimate from price list.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730752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986784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9867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38221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Record in History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4206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Writes fault event to maintenance history, generates service reminders for driver, sends fleet reports to fleet manager.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730752"/>
            <a:ext cx="42062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986784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9867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23560" y="38221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Find Nearby Mechanic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23560" y="4206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Takes driver's GPS, searches mechanic directory, returns contact details, and sends referral notification to mechanic.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Data Flow Diagram — Five Data Stores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100584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3268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DS-01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9875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User Accounts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2801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Driver profiles, login credentials, and vehicle registration details.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63640" y="10058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</a:rPr>
              <a:t>Read by: P1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63640" y="13350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</a:rPr>
              <a:t>Written by: P1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773936"/>
            <a:ext cx="859536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773936"/>
            <a:ext cx="100584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77393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DS-02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18288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Fault Code Library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212140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Catalogue of known fault codes, descriptions, and typical repair cost ranges. Updatable remotely without a full app release.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63640" y="18470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</a:rPr>
              <a:t>Read by: P2, P3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63640" y="21762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</a:rPr>
              <a:t>Written by: External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615184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615184"/>
            <a:ext cx="100584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61518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DS-03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26700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Maintenance History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296265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All past fault events per vehicle. Supports predictive maintenance. Risk of read/write conflicts in offline-to-sync mode.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26883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</a:rPr>
              <a:t>Read by: P3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63640" y="30175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</a:rPr>
              <a:t>Written by: P5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456432"/>
            <a:ext cx="859536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456432"/>
            <a:ext cx="100584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45643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DS-04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71600" y="35112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Mechanic Directory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71600" y="380390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Registered mechanics with locations and contact info. Read-only by app. Requires internet to query.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35295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</a:rPr>
              <a:t>Read by: P6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63640" y="38587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</a:rPr>
              <a:t>Written by: External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297680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297680"/>
            <a:ext cx="100584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2976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DS-05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371600" y="43525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Repair Price List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371600" y="464515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Estimated repair costs per fault type and geographic area. Read-only by app — maintained and updated externally.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63640" y="43708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</a:rPr>
              <a:t>Read by: P4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63640" y="47000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</a:rPr>
              <a:t>Written by: External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Data Flow Diagram — Key Design Observations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32688"/>
            <a:ext cx="64008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P3 is the Most Complex Node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Analyse the Fault reads from two stores and receives data from the capture process. It is the most computationally intensive step and requires careful optimisation for low-end phones.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859536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37360"/>
            <a:ext cx="64008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92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Read/Write Conflict Risk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08483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Maintenance History is accessed by two different processes (P3 reads, P5 writes). Conflicts can occur when the app is used offline and later synchronises with the remote server.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54203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542032"/>
            <a:ext cx="64008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968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P4 is the User-Facing Bottleneck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88950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Build Diagnosis Report is the only process that produces visible output for the driver. All upstream processes exist solely to feed it. It must implement plain-language and bilingual requirements.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346704"/>
            <a:ext cx="859536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346704"/>
            <a:ext cx="64008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01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Mechanic &amp; Fleet = Online-Only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69417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The mechanic locator (P6) and fleet reporting (P5→Fleet Manager) flows are entirely dashed, confirming they are secondary features dependent on internet access.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15137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151376"/>
            <a:ext cx="64008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06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Repair Price List is Read-Only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9884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The Repair Price List is never written by the app itself. It must be maintained and updated externally — a database administration responsibility outside the app's scope.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CC1C81-F3C7-688F-65FD-8E07EA97D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6B68E57-2740-B3B4-ED0E-B2FCDEA1D264}"/>
              </a:ext>
            </a:extLst>
          </p:cNvPr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B64CED-B561-E517-08E8-9AEE7FAB5180}"/>
              </a:ext>
            </a:extLst>
          </p:cNvPr>
          <p:cNvSpPr/>
          <p:nvPr/>
        </p:nvSpPr>
        <p:spPr>
          <a:xfrm>
            <a:off x="457200" y="457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Data Flow Diagram</a:t>
            </a:r>
            <a:endParaRPr lang="en-US" sz="21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C6C3526-3787-1DC3-D96A-011F61F82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41" y="819662"/>
            <a:ext cx="8087193" cy="433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881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5943600" cy="5943600"/>
          </a:xfrm>
          <a:prstGeom prst="ellipse">
            <a:avLst/>
          </a:prstGeom>
          <a:solidFill>
            <a:srgbClr val="0D1B3E">
              <a:alpha val="28000"/>
            </a:srgb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128016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FFFFFF">
                    <a:alpha val="82000"/>
                  </a:srgbClr>
                </a:solidFill>
              </a:rPr>
              <a:t>03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Use Case Diagram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0F4F8"/>
                </a:solidFill>
              </a:rPr>
              <a:t>Actors, functional boundaries, and use case relationships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Use Case Diagram — Actors Overview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6908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Primary Actors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4069080" cy="841248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89888"/>
            <a:ext cx="64008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Car Owner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7922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Main user — initiates all 8 core diagnostic and management interactions with the system.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350008"/>
            <a:ext cx="4069080" cy="841248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350008"/>
            <a:ext cx="64008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Admin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" y="275234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Exclusive access to Update Fault Database (UC-07). Maintains the diagnostic knowledge base.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914400"/>
            <a:ext cx="4069080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91440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Secondary Actors (Systems)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1389888"/>
            <a:ext cx="4069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1389888"/>
            <a:ext cx="64008" cy="5303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14264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9"/>
                </a:solidFill>
              </a:rPr>
              <a:t>AI Recognition Engine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56048" y="16642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CV pipeline for dashboard warning light detection.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2002536"/>
            <a:ext cx="406908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002536"/>
            <a:ext cx="64008" cy="5303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0391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9"/>
                </a:solidFill>
              </a:rPr>
              <a:t>AI Audio Engine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56048" y="22768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Sound processing and acoustic fault classification.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2615184"/>
            <a:ext cx="4069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615184"/>
            <a:ext cx="64008" cy="5303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6517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9"/>
                </a:solidFill>
              </a:rPr>
              <a:t>Video Platform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56048" y="28895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External service delivering repair tutorial content.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3227832"/>
            <a:ext cx="406908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227832"/>
            <a:ext cx="64008" cy="5303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32644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9"/>
                </a:solidFill>
              </a:rPr>
              <a:t>Local AI Engine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56048" y="35021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On-device offline inference (TFLite/ONNX).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3840480"/>
            <a:ext cx="4069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3840480"/>
            <a:ext cx="64008" cy="5303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387705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9"/>
                </a:solidFill>
              </a:rPr>
              <a:t>Fault Database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56048" y="41148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Stores fault patterns, definitions, and repair guides.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00600" y="4453128"/>
            <a:ext cx="406908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4453128"/>
            <a:ext cx="64008" cy="5303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44897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9"/>
                </a:solidFill>
              </a:rPr>
              <a:t>Update Server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56048" y="4727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Hosts latest DB versions and ML model weights.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Use Case Specifications — All Seven Use Cases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2296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886968"/>
            <a:ext cx="28346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886968"/>
            <a:ext cx="228600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55080" y="886968"/>
            <a:ext cx="251460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869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" y="886968"/>
            <a:ext cx="28346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 Case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0" y="886968"/>
            <a:ext cx="22860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Actor(s)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55080" y="886968"/>
            <a:ext cx="25146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Description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252728"/>
            <a:ext cx="822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1252728"/>
            <a:ext cx="2834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1252728"/>
            <a:ext cx="22860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252728"/>
            <a:ext cx="2514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252728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UC-01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88720" y="1252728"/>
            <a:ext cx="274320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</a:rPr>
              <a:t>Register / Login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69080" y="1252728"/>
            <a:ext cx="21945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Car Owner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1252728"/>
            <a:ext cx="24231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Auth flow — credentials hashed &amp; validated, JWT returned, session initialised.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1801368"/>
            <a:ext cx="822960" cy="49377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1801368"/>
            <a:ext cx="2834640" cy="49377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23360" y="1801368"/>
            <a:ext cx="2286000" cy="49377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1801368"/>
            <a:ext cx="2514600" cy="49377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1801368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UC-02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88720" y="1801368"/>
            <a:ext cx="274320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</a:rPr>
              <a:t>Dashboard Warning Light Detection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69080" y="1801368"/>
            <a:ext cx="21945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Car Owner + AI Recog.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1801368"/>
            <a:ext cx="24231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Capture image → CV pipeline → detect symbols → map urgency → display guidance.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2350008"/>
            <a:ext cx="822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3000" y="2350008"/>
            <a:ext cx="2834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23360" y="2350008"/>
            <a:ext cx="22860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5080" y="2350008"/>
            <a:ext cx="2514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350008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UC-03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88720" y="2350008"/>
            <a:ext cx="274320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</a:rPr>
              <a:t>Engine Sound Analysis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069080" y="2350008"/>
            <a:ext cx="21945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Car Owner + AI Audio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0" y="2350008"/>
            <a:ext cx="24231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Record PCM → STFT → CNN classifier → match fault patterns → suggest repairs.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2898648"/>
            <a:ext cx="822960" cy="49377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3000" y="2898648"/>
            <a:ext cx="2834640" cy="49377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23360" y="2898648"/>
            <a:ext cx="2286000" cy="49377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5080" y="2898648"/>
            <a:ext cx="2514600" cy="49377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2898648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UC-04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88720" y="2898648"/>
            <a:ext cx="274320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</a:rPr>
              <a:t>Online Support &amp; Tutorials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069080" y="2898648"/>
            <a:ext cx="21945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Car Owner + Video API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0800" y="2898648"/>
            <a:ext cx="24231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Fault keywords → Video Platform query → embed native player → watch tutorials.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3447288"/>
            <a:ext cx="822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43000" y="3447288"/>
            <a:ext cx="2834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23360" y="3447288"/>
            <a:ext cx="22860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55080" y="3447288"/>
            <a:ext cx="2514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3447288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UC-05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88720" y="3447288"/>
            <a:ext cx="274320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</a:rPr>
              <a:t>Offline Diagnostic Functionality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069080" y="3447288"/>
            <a:ext cx="21945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Car Owner + Local AI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00800" y="3447288"/>
            <a:ext cx="24231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Network timeout → route to on-device model → preloaded DB → basic diagnosis.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74320" y="3995928"/>
            <a:ext cx="822960" cy="49377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3000" y="3995928"/>
            <a:ext cx="2834640" cy="49377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023360" y="3995928"/>
            <a:ext cx="2286000" cy="49377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55080" y="3995928"/>
            <a:ext cx="2514600" cy="49377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3995928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UC-06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88720" y="3995928"/>
            <a:ext cx="274320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</a:rPr>
              <a:t>Manage User Profile &amp; Vehicle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069080" y="3995928"/>
            <a:ext cx="21945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Car Owner / Guest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400800" y="3995928"/>
            <a:ext cx="24231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Register vehicle, view diagnostic history, enable maintenance notifications.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74320" y="4544568"/>
            <a:ext cx="822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43000" y="4544568"/>
            <a:ext cx="2834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023360" y="4544568"/>
            <a:ext cx="22860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55080" y="4544568"/>
            <a:ext cx="2514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4544568"/>
            <a:ext cx="822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UC-07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88720" y="4544568"/>
            <a:ext cx="274320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</a:rPr>
              <a:t>Update Fault Database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069080" y="4544568"/>
            <a:ext cx="21945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AI System + Upd. Server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400800" y="4544568"/>
            <a:ext cx="242316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Background sync → version check → download delta → patch DB → notify user.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530475-97C0-5221-1DA2-375D5E65D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EDB43A7-A841-C9B5-A3BA-5D90FAA3C0E5}"/>
              </a:ext>
            </a:extLst>
          </p:cNvPr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E073D6-D847-24BF-71EA-54AE1E6660B1}"/>
              </a:ext>
            </a:extLst>
          </p:cNvPr>
          <p:cNvSpPr/>
          <p:nvPr/>
        </p:nvSpPr>
        <p:spPr>
          <a:xfrm>
            <a:off x="457200" y="457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Use Case Specifications — All Seven Use Cases</a:t>
            </a:r>
            <a:endParaRPr lang="en-US" sz="2100" dirty="0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DC6AC9BC-9E99-A4BC-86BB-816BFFAE5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715"/>
            <a:ext cx="3131458" cy="453390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C766E385-2168-6C5C-FD73-D1BFEA6D9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458" y="658575"/>
            <a:ext cx="3247571" cy="448818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1F0DC2CA-5945-4382-BE09-4D1C6A245A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9029" y="609600"/>
            <a:ext cx="2764971" cy="453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563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E54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5943600" cy="5943600"/>
          </a:xfrm>
          <a:prstGeom prst="ellipse">
            <a:avLst/>
          </a:prstGeom>
          <a:solidFill>
            <a:srgbClr val="0D1B3E">
              <a:alpha val="28000"/>
            </a:srgb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128016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FFFFFF">
                    <a:alpha val="82000"/>
                  </a:srgbClr>
                </a:solidFill>
              </a:rPr>
              <a:t>04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Sequence Diagrams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0F4F8"/>
                </a:solidFill>
              </a:rPr>
              <a:t>Dynamic interactions — how and in what order components communicate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E548E"/>
          </a:solidFill>
          <a:ln w="12700">
            <a:solidFill>
              <a:srgbClr val="5E54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Sequence Diagrams — Six Scenarios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594360" cy="438912"/>
          </a:xfrm>
          <a:prstGeom prst="ellipse">
            <a:avLst/>
          </a:prstGeom>
          <a:solidFill>
            <a:srgbClr val="5E548E"/>
          </a:solidFill>
          <a:ln w="12700">
            <a:solidFill>
              <a:srgbClr val="5E54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SD-01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24128" y="960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548E"/>
                </a:solidFill>
              </a:rPr>
              <a:t>Register / Login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" y="12618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</a:rPr>
              <a:t>Car Owner → Mobile App → Auth Service → User DB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63440" y="1005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3 alt flows: registration, login, invalid credentials. JWT token on success.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859536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719072"/>
            <a:ext cx="594360" cy="438912"/>
          </a:xfrm>
          <a:prstGeom prst="ellipse">
            <a:avLst/>
          </a:prstGeom>
          <a:solidFill>
            <a:srgbClr val="5E548E"/>
          </a:solidFill>
          <a:ln w="12700">
            <a:solidFill>
              <a:srgbClr val="5E54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1907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SD-02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24128" y="1673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548E"/>
                </a:solidFill>
              </a:rPr>
              <a:t>Scan Dashboard Warning Lights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19751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</a:rPr>
              <a:t>Car Owner → Mobile App → AI Recognition Engine → Fault DB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63440" y="1719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Image → normalise → object detection → classify → urgency + guidance.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340864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32304"/>
            <a:ext cx="594360" cy="438912"/>
          </a:xfrm>
          <a:prstGeom prst="ellipse">
            <a:avLst/>
          </a:prstGeom>
          <a:solidFill>
            <a:srgbClr val="5E548E"/>
          </a:solidFill>
          <a:ln w="12700">
            <a:solidFill>
              <a:srgbClr val="5E54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32304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SD-03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24128" y="23865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548E"/>
                </a:solidFill>
              </a:rPr>
              <a:t>Record &amp; Analyse Engine Sound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24128" y="26883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</a:rPr>
              <a:t>Car Owner → Mobile App → AI Audio Engine → Fault DB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63440" y="243230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PCM audio → STFT → CNN → pattern match → confidence scores + repairs.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054096"/>
            <a:ext cx="859536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145536"/>
            <a:ext cx="594360" cy="438912"/>
          </a:xfrm>
          <a:prstGeom prst="ellipse">
            <a:avLst/>
          </a:prstGeom>
          <a:solidFill>
            <a:srgbClr val="5E548E"/>
          </a:solidFill>
          <a:ln w="12700">
            <a:solidFill>
              <a:srgbClr val="5E54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145536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SD-04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24128" y="30998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548E"/>
                </a:solidFill>
              </a:rPr>
              <a:t>View Diagnosis Results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24128" y="34015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</a:rPr>
              <a:t>Mobile App → AI Recog. Engine + AI Audio Engine → Fault DB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63440" y="31455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Both engines query DB independently → app compiles unified report.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767328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858768"/>
            <a:ext cx="594360" cy="438912"/>
          </a:xfrm>
          <a:prstGeom prst="ellipse">
            <a:avLst/>
          </a:prstGeom>
          <a:solidFill>
            <a:srgbClr val="5E548E"/>
          </a:solidFill>
          <a:ln w="12700">
            <a:solidFill>
              <a:srgbClr val="5E548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858768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SD-05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24128" y="3813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548E"/>
                </a:solidFill>
              </a:rPr>
              <a:t>Watch Repair Tutorials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24128" y="41148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</a:rPr>
              <a:t>Car Owner → Mobile App → Video Platform API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63440" y="38587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Fault keywords → API search → embedded player. Offline: save link.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480560"/>
            <a:ext cx="859536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4572000"/>
            <a:ext cx="594360" cy="438912"/>
          </a:xfrm>
          <a:prstGeom prst="ellipse">
            <a:avLst/>
          </a:prstGeom>
          <a:solidFill>
            <a:srgbClr val="5E548E"/>
          </a:solidFill>
          <a:ln w="12700">
            <a:solidFill>
              <a:srgbClr val="5E548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57200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SD-06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24128" y="4526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548E"/>
                </a:solidFill>
              </a:rPr>
              <a:t>Offline Diagnosis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24128" y="48280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</a:rPr>
              <a:t>Mobile App → Local AI Engine → Local Fault DB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63440" y="4572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Network timeout → on-device model → local DB → basic report + alert.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E548E"/>
          </a:solidFill>
          <a:ln w="12700">
            <a:solidFill>
              <a:srgbClr val="5E54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SD-02 — Dashboard Warning Light Detection (Detail)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82880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Car Owner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88720" y="1417320"/>
            <a:ext cx="0" cy="361188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331720" y="914400"/>
            <a:ext cx="18288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31720" y="914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Mobile App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0" cy="3611880"/>
          </a:xfrm>
          <a:prstGeom prst="line">
            <a:avLst/>
          </a:prstGeom>
          <a:noFill/>
          <a:ln w="12700">
            <a:solidFill>
              <a:srgbClr val="065A8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389120" y="914400"/>
            <a:ext cx="1828800" cy="502920"/>
          </a:xfrm>
          <a:prstGeom prst="rect">
            <a:avLst/>
          </a:prstGeom>
          <a:solidFill>
            <a:srgbClr val="5E548E"/>
          </a:solidFill>
          <a:ln w="12700">
            <a:solidFill>
              <a:srgbClr val="5E548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0" y="914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AI Recognition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Engine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0" y="1417320"/>
            <a:ext cx="0" cy="3611880"/>
          </a:xfrm>
          <a:prstGeom prst="line">
            <a:avLst/>
          </a:prstGeom>
          <a:noFill/>
          <a:ln w="12700">
            <a:solidFill>
              <a:srgbClr val="5E548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583680" y="914400"/>
            <a:ext cx="1828800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914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Fault Database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498080" y="1417320"/>
            <a:ext cx="0" cy="3611880"/>
          </a:xfrm>
          <a:prstGeom prst="line">
            <a:avLst/>
          </a:prstGeom>
          <a:noFill/>
          <a:ln w="12700">
            <a:solidFill>
              <a:srgbClr val="E07B39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188720" y="1618488"/>
            <a:ext cx="20574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143560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</a:rPr>
              <a:t>1: Capture dashboard image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46120" y="1938528"/>
            <a:ext cx="205740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00984" y="175564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</a:rPr>
              <a:t>2: Forward image matrix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0" y="2258568"/>
            <a:ext cx="777240" cy="0"/>
          </a:xfrm>
          <a:prstGeom prst="line">
            <a:avLst/>
          </a:prstGeom>
          <a:noFill/>
          <a:ln w="19050">
            <a:solidFill>
              <a:srgbClr val="5E54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2258568"/>
            <a:ext cx="0" cy="256032"/>
          </a:xfrm>
          <a:prstGeom prst="line">
            <a:avLst/>
          </a:prstGeom>
          <a:noFill/>
          <a:ln w="19050">
            <a:solidFill>
              <a:srgbClr val="5E54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2514600"/>
            <a:ext cx="777240" cy="0"/>
          </a:xfrm>
          <a:prstGeom prst="line">
            <a:avLst/>
          </a:prstGeom>
          <a:noFill/>
          <a:ln w="19050">
            <a:solidFill>
              <a:srgbClr val="5E54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20574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</a:rPr>
              <a:t>3: Normalise + run object detection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303520" y="2578608"/>
            <a:ext cx="2194560" cy="0"/>
          </a:xfrm>
          <a:prstGeom prst="line">
            <a:avLst/>
          </a:prstGeom>
          <a:noFill/>
          <a:ln w="19050">
            <a:solidFill>
              <a:srgbClr val="5E54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58384" y="23957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</a:rPr>
              <a:t>4: Query matched symbol IDs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303520" y="2898648"/>
            <a:ext cx="2194560" cy="0"/>
          </a:xfrm>
          <a:prstGeom prst="line">
            <a:avLst/>
          </a:prstGeom>
          <a:noFill/>
          <a:ln w="19050">
            <a:solidFill>
              <a:srgbClr val="E07B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58384" y="27157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</a:rPr>
              <a:t>5: Return meaning + urgency tier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46120" y="3218688"/>
            <a:ext cx="2057400" cy="0"/>
          </a:xfrm>
          <a:prstGeom prst="line">
            <a:avLst/>
          </a:prstGeom>
          <a:noFill/>
          <a:ln w="19050">
            <a:solidFill>
              <a:srgbClr val="5E54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00984" y="303580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</a:rPr>
              <a:t>6: Structured diagnosis result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188720" y="3538728"/>
            <a:ext cx="205740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43584" y="335584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5568"/>
                </a:solidFill>
              </a:rPr>
              <a:t>7: Display fault explanation + urgency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3950208"/>
            <a:ext cx="8595360" cy="685800"/>
          </a:xfrm>
          <a:prstGeom prst="rect">
            <a:avLst/>
          </a:prstGeom>
          <a:solidFill>
            <a:srgbClr val="F0F4F8"/>
          </a:solidFill>
          <a:ln w="19050">
            <a:solidFill>
              <a:srgbClr val="E07B3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950208"/>
            <a:ext cx="914400" cy="2743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950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280160" y="4023360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[Offline / No Network]: Route all requests to Local AI Engine → run on-device quantised model → basic diagnosis → show 'limited mode' banner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E548E"/>
          </a:solidFill>
          <a:ln w="12700">
            <a:solidFill>
              <a:srgbClr val="5E54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SD-01 (Register/Login) &amp; SD-06 (Offline Diagnosis) — Detail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47472"/>
          </a:xfrm>
          <a:prstGeom prst="rect">
            <a:avLst/>
          </a:prstGeom>
          <a:solidFill>
            <a:srgbClr val="5E548E">
              <a:alpha val="85000"/>
            </a:srgbClr>
          </a:solidFill>
          <a:ln w="12700">
            <a:solidFill>
              <a:srgbClr val="5E54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SD-01: Register / Login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1325880"/>
            <a:ext cx="38862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1. Car Owner submits credentials (email + password)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2. Mobile App hashes credentials (bcrypt/SHA-256)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3. Auth Service validates against User Database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   ALT [New User]: Create account → insert record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   ALT [Existing User]: Verify hash → generate JWT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   ALT [Invalid]: Return 401 → prompt retry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4. JWT token returned → session initialised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5. Router navigates to main Diagnostic Dashboard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17720" y="914400"/>
            <a:ext cx="0" cy="4114800"/>
          </a:xfrm>
          <a:prstGeom prst="line">
            <a:avLst/>
          </a:prstGeom>
          <a:noFill/>
          <a:ln w="12700">
            <a:solidFill>
              <a:srgbClr val="D1D9E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solidFill>
            <a:srgbClr val="1C7293">
              <a:alpha val="8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SD-06: Offline Diagnosis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325880"/>
            <a:ext cx="39319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1. App detects network timeout / no connectivity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2. Core intercepts → switches routing to Local AI Engine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3a. [Image path]: On-device CV model runs inference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3b. [Audio path]: On-device CNN model runs inference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4. Query Local Fault Database (cached SQLite)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5. Build basic diagnosis report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   — Primary symbol IDs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   — Generic mechanical system definitions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   — Critical safety instructions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6. Show 'Limited Mode' banner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7. Queue full analysis for when connection restores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73F57A-54B0-A2F5-BD1E-53341471E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D5D3D7-3A03-8E6F-A333-BD875D549D94}"/>
              </a:ext>
            </a:extLst>
          </p:cNvPr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E548E"/>
          </a:solidFill>
          <a:ln w="12700">
            <a:solidFill>
              <a:srgbClr val="5E548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95C9AA-19CE-C0D4-95FA-EF4E9E552D77}"/>
              </a:ext>
            </a:extLst>
          </p:cNvPr>
          <p:cNvSpPr/>
          <p:nvPr/>
        </p:nvSpPr>
        <p:spPr>
          <a:xfrm>
            <a:off x="457200" y="457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SD-01 (Register/Login) &amp; SD-06 (Offline Diagnosis) — Detail</a:t>
            </a:r>
            <a:endParaRPr lang="en-US" sz="2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C97142-A394-E9ED-1BF9-7EF0C448A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4672"/>
            <a:ext cx="4572000" cy="43388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FFD73C2-BABD-8867-85DA-1DF264D73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804672"/>
            <a:ext cx="4572001" cy="433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154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5943600" cy="5943600"/>
          </a:xfrm>
          <a:prstGeom prst="ellipse">
            <a:avLst/>
          </a:prstGeom>
          <a:solidFill>
            <a:srgbClr val="0D1B3E">
              <a:alpha val="28000"/>
            </a:srgb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1280160"/>
            <a:ext cx="5029200" cy="5029200"/>
          </a:xfrm>
          <a:prstGeom prst="ellipse">
            <a:avLst/>
          </a:prstGeom>
          <a:solidFill>
            <a:srgbClr val="52B788">
              <a:alpha val="22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FFFFFF">
                    <a:alpha val="82000"/>
                  </a:srgbClr>
                </a:solidFill>
              </a:rPr>
              <a:t>05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Class Diagram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0F4F8"/>
                </a:solidFill>
              </a:rPr>
              <a:t>Static structure — entities, attributes, methods, and relationships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Class Diagram — Five Core Entities</a:t>
            </a:r>
            <a:endParaRPr lang="en-US" sz="21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5E36422-F3AF-E421-AF19-163865AC2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4672"/>
            <a:ext cx="9144000" cy="43388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Class Diagram — Relationship Summary &amp; Design Rationale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32688"/>
            <a:ext cx="64008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24128"/>
            <a:ext cx="141732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241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Composition (◆)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920240" y="10241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</a:rPr>
              <a:t>Fault  →  FaultEmbedding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024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Multiplicity: 1 :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37160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FaultEmbedding cannot exist without its parent Fault. Stores the 1408-dim Gemini multimodal embedding vector. Lifecycle is strictly dependent.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859536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20240"/>
            <a:ext cx="64008" cy="868680"/>
          </a:xfrm>
          <a:prstGeom prst="rect">
            <a:avLst/>
          </a:prstGeom>
          <a:solidFill>
            <a:srgbClr val="5E548E"/>
          </a:solidFill>
          <a:ln w="12700">
            <a:solidFill>
              <a:srgbClr val="5E548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011680"/>
            <a:ext cx="1417320" cy="256032"/>
          </a:xfrm>
          <a:prstGeom prst="rect">
            <a:avLst/>
          </a:prstGeom>
          <a:solidFill>
            <a:srgbClr val="5E548E"/>
          </a:solidFill>
          <a:ln w="12700">
            <a:solidFill>
              <a:srgbClr val="5E54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116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Composition (◆)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20240" y="2011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</a:rPr>
              <a:t>Fault  →  Video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548E"/>
                </a:solidFill>
              </a:rPr>
              <a:t>Multiplicity: 1 : 0..*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Video records have no independent existence outside their parent Fault. A fault may have zero or more associated YouTube repair videos.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907792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07792"/>
            <a:ext cx="64008" cy="8686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999232"/>
            <a:ext cx="1417320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992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Aggregation (◇)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920240" y="2999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</a:rPr>
              <a:t>User  →  Diagnosis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999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9"/>
                </a:solidFill>
              </a:rPr>
              <a:t>Multiplicity: 1 : 0..*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34670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Hollow diamond: Diagnosis records CAN exist independently of a User (supports guest users). A user may have many diagnoses or none.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895344"/>
            <a:ext cx="859536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895344"/>
            <a:ext cx="64008" cy="868680"/>
          </a:xfrm>
          <a:prstGeom prst="rect">
            <a:avLst/>
          </a:prstGeom>
          <a:solidFill>
            <a:srgbClr val="C9184A"/>
          </a:solidFill>
          <a:ln w="12700">
            <a:solidFill>
              <a:srgbClr val="C918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986784"/>
            <a:ext cx="1417320" cy="256032"/>
          </a:xfrm>
          <a:prstGeom prst="rect">
            <a:avLst/>
          </a:prstGeom>
          <a:solidFill>
            <a:srgbClr val="C9184A"/>
          </a:solidFill>
          <a:ln w="12700">
            <a:solidFill>
              <a:srgbClr val="C918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9867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Association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920240" y="39867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</a:rPr>
              <a:t>Diagnosis  →  Fault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986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184A"/>
                </a:solidFill>
              </a:rPr>
              <a:t>Multiplicity: 0..* : 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433425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Every Diagnosis event is matched to exactly one Fault. Loose coupling allows diagnoses to be queried and persisted independently.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5943600" cy="5943600"/>
          </a:xfrm>
          <a:prstGeom prst="ellipse">
            <a:avLst/>
          </a:prstGeom>
          <a:solidFill>
            <a:srgbClr val="0D1B3E">
              <a:alpha val="28000"/>
            </a:srgb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1280160"/>
            <a:ext cx="5029200" cy="5029200"/>
          </a:xfrm>
          <a:prstGeom prst="ellipse">
            <a:avLst/>
          </a:prstGeom>
          <a:solidFill>
            <a:srgbClr val="E07B39">
              <a:alpha val="22000"/>
            </a:srgbClr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FFFFFF">
                    <a:alpha val="82000"/>
                  </a:srgbClr>
                </a:solidFill>
              </a:rPr>
              <a:t>06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Deployment Diagram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0F4F8"/>
                </a:solidFill>
              </a:rPr>
              <a:t>Physical architecture — nodes, artifacts, and communication paths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Deployment Diagram — Physical Architecture Overview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926080" cy="3429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14400"/>
            <a:ext cx="2926080" cy="40233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Mobile Device (Android/iOS)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426464"/>
            <a:ext cx="2651760" cy="76809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26464"/>
            <a:ext cx="64008" cy="7680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813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18096"/>
                </a:solidFill>
              </a:rPr>
              <a:t>«artifact»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</a:rPr>
              <a:t>carfault_app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</a:rPr>
              <a:t>Main Application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2377440"/>
            <a:ext cx="2651760" cy="76809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77440"/>
            <a:ext cx="64008" cy="7680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323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18096"/>
                </a:solidFill>
              </a:rPr>
              <a:t>«artifact»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57200" y="26426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</a:rPr>
              <a:t>carfault_model.tflite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8895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</a:rPr>
              <a:t>TensorFlow Lite Model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3328416"/>
            <a:ext cx="2651760" cy="768096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328416"/>
            <a:ext cx="64008" cy="76809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832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18096"/>
                </a:solidFill>
              </a:rPr>
              <a:t>«artifact»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7200" y="35935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</a:rPr>
              <a:t>local_cache.db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</a:rPr>
              <a:t>SQLite Local Cache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0" y="914400"/>
            <a:ext cx="242316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0" y="914400"/>
            <a:ext cx="242316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9144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 Server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94760" y="1444752"/>
            <a:ext cx="214884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58768" y="14813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18096"/>
                </a:solidFill>
              </a:rPr>
              <a:t>«artifact»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858768" y="16824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</a:rPr>
              <a:t>REST API Service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58768" y="19385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18096"/>
                </a:solidFill>
              </a:rPr>
              <a:t>Middleware &amp; sync handler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0" y="2926080"/>
            <a:ext cx="242316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07B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0" y="2926080"/>
            <a:ext cx="2423160" cy="40233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29260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Database Server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94760" y="3456432"/>
            <a:ext cx="21488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858768" y="34838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18096"/>
                </a:solidFill>
              </a:rPr>
              <a:t>«artifact»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858768" y="36850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</a:rPr>
              <a:t>Fault Database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83680" y="914400"/>
            <a:ext cx="22860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918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83680" y="914400"/>
            <a:ext cx="2286000" cy="402336"/>
          </a:xfrm>
          <a:prstGeom prst="rect">
            <a:avLst/>
          </a:prstGeom>
          <a:solidFill>
            <a:srgbClr val="C9184A"/>
          </a:solidFill>
          <a:ln w="12700">
            <a:solidFill>
              <a:srgbClr val="C918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9144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YouTube API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75120" y="1417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External video platform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Repair tutorial content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YouTube Data API v3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583680" y="2743200"/>
            <a:ext cx="228600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52B788"/>
            </a:solidFill>
            <a:prstDash val="sysDash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583680" y="2743200"/>
            <a:ext cx="2286000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9400" y="27432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OBD-II Adapter (opt.)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675120" y="32461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Optional Bluetooth device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Read-only DTC access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Complements on-device AI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108960" y="2011680"/>
            <a:ext cx="5486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90672" y="1810512"/>
            <a:ext cx="621792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90672" y="181051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HTTPS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864608" y="2697480"/>
            <a:ext cx="0" cy="22860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91456" y="2743200"/>
            <a:ext cx="502920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91456" y="2743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SQL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108960" y="1417320"/>
            <a:ext cx="3474720" cy="0"/>
          </a:xfrm>
          <a:prstGeom prst="line">
            <a:avLst/>
          </a:prstGeom>
          <a:noFill/>
          <a:ln w="19050">
            <a:solidFill>
              <a:srgbClr val="C9184A"/>
            </a:solidFill>
            <a:prstDash val="sysDash"/>
          </a:ln>
        </p:spPr>
      </p:sp>
      <p:sp>
        <p:nvSpPr>
          <p:cNvPr id="50" name="Text 48"/>
          <p:cNvSpPr/>
          <p:nvPr/>
        </p:nvSpPr>
        <p:spPr>
          <a:xfrm>
            <a:off x="4389120" y="12618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184A"/>
                </a:solidFill>
              </a:rPr>
              <a:t>HTTPS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108960" y="3246120"/>
            <a:ext cx="3474720" cy="0"/>
          </a:xfrm>
          <a:prstGeom prst="line">
            <a:avLst/>
          </a:prstGeom>
          <a:noFill/>
          <a:ln w="19050">
            <a:solidFill>
              <a:srgbClr val="52B788"/>
            </a:solidFill>
            <a:prstDash val="sysDash"/>
          </a:ln>
        </p:spPr>
      </p:sp>
      <p:sp>
        <p:nvSpPr>
          <p:cNvPr id="52" name="Text 50"/>
          <p:cNvSpPr/>
          <p:nvPr/>
        </p:nvSpPr>
        <p:spPr>
          <a:xfrm>
            <a:off x="4297680" y="30632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2B788"/>
                </a:solidFill>
              </a:rPr>
              <a:t>Bluetooth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Deployment Diagram — Architectural Strengths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216152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216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0698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Offline-First Capability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local_cache.db + TFLite model enable full diagnostics with zero internet access. Core use case never blocked by connectivity.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216152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216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23560" y="10698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Fast On-Device Inference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23560" y="141732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TensorFlow Lite quantised model minimises latency. Mobile-friendly AI execution runs even on low-end Android/iOS devices.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59152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" y="2615184"/>
            <a:ext cx="640080" cy="640080"/>
          </a:xfrm>
          <a:prstGeom prst="ellipse">
            <a:avLst/>
          </a:prstGeom>
          <a:solidFill>
            <a:srgbClr val="5E548E"/>
          </a:solidFill>
          <a:ln w="12700">
            <a:solidFill>
              <a:srgbClr val="5E54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615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2468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548E"/>
                </a:solidFill>
              </a:rPr>
              <a:t>Cloud Synchronisation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816352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Backend + database server keep fault knowledge current and sync full diagnosis history when connectivity is restored.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359152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2615184"/>
            <a:ext cx="640080" cy="64008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615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23560" y="2468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</a:rPr>
              <a:t>Optional OBD-II Integration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23560" y="2816352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Bluetooth adapter adds a richer diagnostic channel without being mandatory. App fully operational without it.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758184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" y="4014216"/>
            <a:ext cx="640080" cy="64008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4014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8720" y="38679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B39"/>
                </a:solidFill>
              </a:rPr>
              <a:t>Hybrid Architecture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4215384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Smartphone handles core work locally. Backend manages heavy processing, central storage, and cross-device sync.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758184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64608" y="4014216"/>
            <a:ext cx="640080" cy="640080"/>
          </a:xfrm>
          <a:prstGeom prst="ellipse">
            <a:avLst/>
          </a:prstGeom>
          <a:solidFill>
            <a:srgbClr val="C9184A"/>
          </a:solidFill>
          <a:ln w="12700">
            <a:solidFill>
              <a:srgbClr val="C918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4014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623560" y="38679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184A"/>
                </a:solidFill>
              </a:rPr>
              <a:t>Decoupled External Services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23560" y="4215384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YouTube API integration provides rich tutorial content without hosting costs. Easily swapped or extended without core changes.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6858000" cy="6858000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82880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Summary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C0EB"/>
                </a:solidFill>
              </a:rPr>
              <a:t>Six diagrams. One coherent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7772400" cy="502920"/>
          </a:xfrm>
          <a:prstGeom prst="rect">
            <a:avLst/>
          </a:prstGeom>
          <a:solidFill>
            <a:srgbClr val="1E3A5F">
              <a:alpha val="6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184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C0EB"/>
                </a:solidFill>
              </a:rPr>
              <a:t>Context Diagram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161848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9E0"/>
                </a:solidFill>
              </a:rPr>
              <a:t>6 external actors · 2 categories · 10 key data flows · offline/online split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30552"/>
            <a:ext cx="7772400" cy="502920"/>
          </a:xfrm>
          <a:prstGeom prst="rect">
            <a:avLst/>
          </a:prstGeom>
          <a:solidFill>
            <a:srgbClr val="1E3A5F">
              <a:alpha val="6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C0EB"/>
                </a:solidFill>
              </a:rPr>
              <a:t>Data Flow Diagram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1945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9E0"/>
                </a:solidFill>
              </a:rPr>
              <a:t>6 internal processes · 5 data stores · hybrid architecture confirmed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706624"/>
            <a:ext cx="7772400" cy="502920"/>
          </a:xfrm>
          <a:prstGeom prst="rect">
            <a:avLst/>
          </a:prstGeom>
          <a:solidFill>
            <a:srgbClr val="1E3A5F">
              <a:alpha val="6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7706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C0EB"/>
                </a:solidFill>
              </a:rPr>
              <a:t>Use Case Diagram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77063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9E0"/>
                </a:solidFill>
              </a:rPr>
              <a:t>9 use cases · 2 primary actors · 6 secondary systems · 7 specifications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282696"/>
            <a:ext cx="7772400" cy="502920"/>
          </a:xfrm>
          <a:prstGeom prst="rect">
            <a:avLst/>
          </a:prstGeom>
          <a:solidFill>
            <a:srgbClr val="1E3A5F">
              <a:alpha val="6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3467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C0EB"/>
                </a:solidFill>
              </a:rPr>
              <a:t>Sequence Diagrams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334670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9E0"/>
                </a:solidFill>
              </a:rPr>
              <a:t>6 dynamic flows — auth, visual, acoustic, unified, tutorials, offline fallback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858768"/>
            <a:ext cx="7772400" cy="502920"/>
          </a:xfrm>
          <a:prstGeom prst="rect">
            <a:avLst/>
          </a:prstGeom>
          <a:solidFill>
            <a:srgbClr val="1E3A5F">
              <a:alpha val="6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9227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C0EB"/>
                </a:solidFill>
              </a:rPr>
              <a:t>Class Diagram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392277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9E0"/>
                </a:solidFill>
              </a:rPr>
              <a:t>5 core entities — Fault, FaultEmbedding, Video, User, Diagnosis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434840"/>
            <a:ext cx="7772400" cy="502920"/>
          </a:xfrm>
          <a:prstGeom prst="rect">
            <a:avLst/>
          </a:prstGeom>
          <a:solidFill>
            <a:srgbClr val="1E3A5F">
              <a:alpha val="6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4988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C0EB"/>
                </a:solidFill>
              </a:rPr>
              <a:t>Deployment Diagram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449884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9E0"/>
                </a:solidFill>
              </a:rPr>
              <a:t>5 nodes — Mobile Device, Backend, Database, YouTube API, OBD-II Adapter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80974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</a:rPr>
              <a:t>Group 12  ·  CEF 440  ·  University of Buea  ·  Academic Year 2025–2026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System_Modelling_Design_Group12</Template>
  <TotalTime>23</TotalTime>
  <Words>2287</Words>
  <Application>Microsoft Office PowerPoint</Application>
  <PresentationFormat>On-screen Show (16:9)</PresentationFormat>
  <Paragraphs>354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ngane idriss</dc:creator>
  <cp:lastModifiedBy>ngane idriss</cp:lastModifiedBy>
  <cp:revision>1</cp:revision>
  <dcterms:created xsi:type="dcterms:W3CDTF">2026-05-26T10:11:29Z</dcterms:created>
  <dcterms:modified xsi:type="dcterms:W3CDTF">2026-05-26T10:34:49Z</dcterms:modified>
</cp:coreProperties>
</file>