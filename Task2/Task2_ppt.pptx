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71629"/>
          </a:solidFill>
          <a:ln w="12700">
            <a:solidFill>
              <a:srgbClr val="0716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005840" cy="10058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502920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FAULT DIAGNOSIS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20040" y="2148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320040" y="2633472"/>
            <a:ext cx="324612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272491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Requirement Gathering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20040" y="32004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12  ·  Supervisor: Dr. Valery Nkemeni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CEF 476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2024 – 2025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572000" y="457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Overview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526280" y="1051560"/>
            <a:ext cx="4251960" cy="530352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26280" y="1051560"/>
            <a:ext cx="402336" cy="53035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14300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10515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Stakeholder Identification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26280" y="1691640"/>
            <a:ext cx="4251960" cy="530352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26280" y="1691640"/>
            <a:ext cx="402336" cy="530352"/>
          </a:xfrm>
          <a:prstGeom prst="rect">
            <a:avLst/>
          </a:prstGeom>
          <a:solidFill>
            <a:srgbClr val="1A6FA0"/>
          </a:solidFill>
          <a:ln w="12700">
            <a:solidFill>
              <a:srgbClr val="1A6FA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78308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83480" y="169164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Requirement Gathering Techniques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26280" y="2331720"/>
            <a:ext cx="4251960" cy="530352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26280" y="2331720"/>
            <a:ext cx="402336" cy="5303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2423160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83480" y="23317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Gathering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526280" y="2971800"/>
            <a:ext cx="4251960" cy="530352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26280" y="2971800"/>
            <a:ext cx="402336" cy="530352"/>
          </a:xfrm>
          <a:prstGeom prst="rect">
            <a:avLst/>
          </a:prstGeom>
          <a:solidFill>
            <a:srgbClr val="6B4D9F"/>
          </a:solidFill>
          <a:ln w="12700">
            <a:solidFill>
              <a:srgbClr val="6B4D9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306324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83480" y="297180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 Cleaning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526280" y="3611880"/>
            <a:ext cx="4251960" cy="530352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26280" y="3611880"/>
            <a:ext cx="402336" cy="530352"/>
          </a:xfrm>
          <a:prstGeom prst="rect">
            <a:avLst/>
          </a:prstGeom>
          <a:solidFill>
            <a:srgbClr val="9F3030"/>
          </a:solidFill>
          <a:ln w="12700">
            <a:solidFill>
              <a:srgbClr val="9F303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3703320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983480" y="36118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User Reluctance Assessment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526280" y="4251960"/>
            <a:ext cx="4251960" cy="530352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526280" y="4251960"/>
            <a:ext cx="402336" cy="530352"/>
          </a:xfrm>
          <a:prstGeom prst="rect">
            <a:avLst/>
          </a:prstGeom>
          <a:solidFill>
            <a:srgbClr val="5A7A2A"/>
          </a:solidFill>
          <a:ln w="12700">
            <a:solidFill>
              <a:srgbClr val="5A7A2A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343400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983480" y="42519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Requirements Summary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Requirement Gathering  ›  Section 1: Stakeholder Identification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Identification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43200" cy="54864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338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078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38988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system interaction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173736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737360"/>
            <a:ext cx="50292" cy="54864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" y="173736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Owners / Everyday Drivers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359152"/>
            <a:ext cx="2743200" cy="548640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2359152"/>
            <a:ext cx="50292" cy="54864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" y="2359152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Mechanics &amp; Technicians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980944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2980944"/>
            <a:ext cx="50292" cy="54864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" y="2980944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Developers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3602736"/>
            <a:ext cx="2743200" cy="548640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" y="3602736"/>
            <a:ext cx="50292" cy="54864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" y="3602736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4224528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4224528"/>
            <a:ext cx="50292" cy="548640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8056" y="422452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UI Designers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46120" y="1078992"/>
            <a:ext cx="2743200" cy="5486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33856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49040" y="1078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3749040" y="138988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influence on system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246120" y="173736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46120" y="1737360"/>
            <a:ext cx="50292" cy="5486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374136" y="173736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Manufacturers (OEMs)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246120" y="2359152"/>
            <a:ext cx="2743200" cy="548640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246120" y="2359152"/>
            <a:ext cx="50292" cy="5486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74136" y="2359152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246120" y="2980944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246120" y="2980944"/>
            <a:ext cx="50292" cy="5486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374136" y="2980944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Parts Retailers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246120" y="3602736"/>
            <a:ext cx="2743200" cy="548640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246120" y="3602736"/>
            <a:ext cx="50292" cy="5486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374136" y="3602736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Car Repair Experts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3246120" y="4224528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3246120" y="4224528"/>
            <a:ext cx="50292" cy="548640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374136" y="4224528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/ SAE Standards Bodies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6172200" y="1078992"/>
            <a:ext cx="2743200" cy="5486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33856"/>
            <a:ext cx="347472" cy="34747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675120" y="107899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6675120" y="138988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Indirectly affected parties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6172200" y="173736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172200" y="1737360"/>
            <a:ext cx="50292" cy="5486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300216" y="1737360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Authorities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6172200" y="2359152"/>
            <a:ext cx="2743200" cy="548640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172200" y="2359152"/>
            <a:ext cx="50292" cy="5486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300216" y="2359152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Agencies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6172200" y="2980944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6172200" y="2980944"/>
            <a:ext cx="50292" cy="54864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300216" y="2980944"/>
            <a:ext cx="2542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Road Users / Public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Requirement Gathering  ›  Section 2: Elicitation Techniques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Requirement Gathering Techniques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" y="1115568"/>
            <a:ext cx="1609344" cy="373075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170432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1907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22677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109728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78892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respondents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Buea municipality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+ paper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couldn't identify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lights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11680" y="1115568"/>
            <a:ext cx="1609344" cy="373075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011680" y="1170432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7190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11680" y="22677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67712" y="2724912"/>
            <a:ext cx="109728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84832" y="278892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mechanics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experienced drivers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 sessions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&amp; transcribed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730752" y="1115568"/>
            <a:ext cx="1609344" cy="3730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730752" y="1170432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719072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30752" y="22677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986784" y="2724912"/>
            <a:ext cx="109728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803904" y="278892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identified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chosen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strategy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49824" y="1115568"/>
            <a:ext cx="1609344" cy="373075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449824" y="1170432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719072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9824" y="22677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705856" y="2724912"/>
            <a:ext cx="109728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522976" y="278892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Scanner ELM OBD2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FIXD  ·  AutoDoc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no audio diagnosis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dongle needed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168896" y="1115568"/>
            <a:ext cx="1609344" cy="3730752"/>
          </a:xfrm>
          <a:prstGeom prst="rect">
            <a:avLst/>
          </a:prstGeom>
          <a:solidFill>
            <a:srgbClr val="6B4D9F"/>
          </a:solidFill>
          <a:ln w="12700">
            <a:solidFill>
              <a:srgbClr val="6B4D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168896" y="1170432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719072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68896" y="2267712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7424928" y="2724912"/>
            <a:ext cx="109728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242048" y="2788920"/>
            <a:ext cx="1463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(SAE J1979)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11898 (CAN bus)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AudioSet / ESC-50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&amp; HIG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Requirement Gathering  ›  Section 3: Data Gathering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3931920" cy="162763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07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Images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5361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OBD-II symbol classes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vehicle models (Toyota, Honda,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Hyundai, Kia, Nissan, Ford…)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/ PNG + real photography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0040" y="2852928"/>
            <a:ext cx="3931920" cy="162763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3580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98094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Audio Clips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51560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457200" y="39684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fault types: knocking, squealing,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hissing, rattle, starter failure, idle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vehicle models · WAV 44.1 kHz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AudioSet + primary recording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0040" y="4590288"/>
            <a:ext cx="3931920" cy="4114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63600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45902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Responses: 80 records  ·  Interview segments: 214 coded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572000" y="10515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63040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34440"/>
                <a:gridCol w="10515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OBD-II Standard Symbols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symbols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SVG / PNG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Photos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1,240 images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Bounding Box Annotations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1,240 entries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(COCO)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Audio Clips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clips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 mono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Fault-Audio Labels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entries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Responses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Transcripts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coded segs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NVivo CSV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Requirement Gathering  ›  Section 4: Data Cleaning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for Model Readiness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43200" cy="475488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338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0789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645920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810512"/>
            <a:ext cx="274320" cy="27432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13232" y="1682496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pHash deduplication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duplicates removed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2322576"/>
            <a:ext cx="2743200" cy="603504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487168"/>
            <a:ext cx="274320" cy="27432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3232" y="2359152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filter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low-res images dropped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2999232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3163824"/>
            <a:ext cx="274320" cy="27432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13232" y="3035808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correction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label mismatches fixed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675888"/>
            <a:ext cx="2743200" cy="603504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3840480"/>
            <a:ext cx="274320" cy="27432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13232" y="3712464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normalisation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overexposed images enhanced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4352544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4517136"/>
            <a:ext cx="274320" cy="274320"/>
          </a:xfrm>
          <a:prstGeom prst="ellipse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13232" y="4389120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flagged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classes &lt; 10 samples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46120" y="1078992"/>
            <a:ext cx="2743200" cy="475488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33856"/>
            <a:ext cx="310896" cy="31089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721608" y="10789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Data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3246120" y="1645920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337560" y="1810512"/>
            <a:ext cx="274320" cy="274320"/>
          </a:xfrm>
          <a:prstGeom prst="ellipse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33756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685032" y="1682496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trim (VAD −40 dBFS)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start/end silence removed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246120" y="2322576"/>
            <a:ext cx="2743200" cy="603504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337560" y="2487168"/>
            <a:ext cx="274320" cy="274320"/>
          </a:xfrm>
          <a:prstGeom prst="ellipse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3756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685032" y="2359152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filter &lt; 10 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clips removed, 87 filtered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246120" y="2999232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337560" y="3163824"/>
            <a:ext cx="274320" cy="274320"/>
          </a:xfrm>
          <a:prstGeom prst="ellipse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33756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685032" y="3035808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Resampled to 22,050 Hz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mono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246120" y="3675888"/>
            <a:ext cx="2743200" cy="603504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337560" y="3840480"/>
            <a:ext cx="274320" cy="274320"/>
          </a:xfrm>
          <a:prstGeom prst="ellipse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33756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3685032" y="3712464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verification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clips relabelled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3246120" y="4352544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337560" y="4517136"/>
            <a:ext cx="274320" cy="274320"/>
          </a:xfrm>
          <a:prstGeom prst="ellipse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33756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3685032" y="4389120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normalised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 uniform length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6217920" y="1078992"/>
            <a:ext cx="2743200" cy="47548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33856"/>
            <a:ext cx="310896" cy="310896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6693408" y="10789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6217920" y="1645920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309360" y="1810512"/>
            <a:ext cx="274320" cy="27432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30936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6656832" y="1682496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incomplete responses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(&gt;3 blanks)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217920" y="2322576"/>
            <a:ext cx="2743200" cy="603504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309360" y="2487168"/>
            <a:ext cx="274320" cy="27432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30936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1" name="Text 56"/>
          <p:cNvSpPr/>
          <p:nvPr/>
        </p:nvSpPr>
        <p:spPr>
          <a:xfrm>
            <a:off x="6656832" y="2359152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outlier responses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corrected, 2 removed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6217920" y="2999232"/>
            <a:ext cx="2743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6309360" y="3163824"/>
            <a:ext cx="274320" cy="27432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30936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60"/>
          <p:cNvSpPr/>
          <p:nvPr/>
        </p:nvSpPr>
        <p:spPr>
          <a:xfrm>
            <a:off x="6656832" y="3035808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normalised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standard terminology</a:t>
            </a:r>
            <a:endParaRPr lang="en-US" sz="950" dirty="0"/>
          </a:p>
        </p:txBody>
      </p:sp>
      <p:sp>
        <p:nvSpPr>
          <p:cNvPr id="66" name="Shape 61"/>
          <p:cNvSpPr/>
          <p:nvPr/>
        </p:nvSpPr>
        <p:spPr>
          <a:xfrm>
            <a:off x="6217920" y="3675888"/>
            <a:ext cx="2743200" cy="603504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6309360" y="3840480"/>
            <a:ext cx="274320" cy="27432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630936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6656832" y="3712464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coded segments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interviews</a:t>
            </a:r>
            <a:endParaRPr lang="en-US" sz="950" dirty="0"/>
          </a:p>
        </p:txBody>
      </p:sp>
      <p:sp>
        <p:nvSpPr>
          <p:cNvPr id="70" name="Shape 65"/>
          <p:cNvSpPr/>
          <p:nvPr/>
        </p:nvSpPr>
        <p:spPr>
          <a:xfrm>
            <a:off x="320040" y="4690872"/>
            <a:ext cx="2743200" cy="374904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411480" y="469087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Images: 1,240 → 1,030  (↓ 16.9%)</a:t>
            </a:r>
            <a:endParaRPr lang="en-US" sz="900" dirty="0"/>
          </a:p>
        </p:txBody>
      </p:sp>
      <p:sp>
        <p:nvSpPr>
          <p:cNvPr id="72" name="Shape 67"/>
          <p:cNvSpPr/>
          <p:nvPr/>
        </p:nvSpPr>
        <p:spPr>
          <a:xfrm>
            <a:off x="3246120" y="4690872"/>
            <a:ext cx="2743200" cy="374904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3337560" y="469087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Clips: 3,600 → 3,299  (↓ 8.4%)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6172200" y="4690872"/>
            <a:ext cx="2743200" cy="374904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263640" y="4690872"/>
            <a:ext cx="2560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Responses: 80 → 69  (↓ 13.8%)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Requirement Gathering  ›  Section 5: User Reluctance Assessment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Reluctance Assessment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658368"/>
          </a:xfrm>
          <a:prstGeom prst="rect">
            <a:avLst/>
          </a:prstGeom>
          <a:solidFill>
            <a:srgbClr val="9F3030"/>
          </a:solidFill>
          <a:ln w="12700">
            <a:solidFill>
              <a:srgbClr val="9F30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71016"/>
            <a:ext cx="347472" cy="347472"/>
          </a:xfrm>
          <a:prstGeom prst="rect">
            <a:avLst/>
          </a:prstGeom>
          <a:solidFill>
            <a:srgbClr val="9F3030"/>
          </a:solidFill>
          <a:ln w="12700">
            <a:solidFill>
              <a:srgbClr val="9F303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3075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11556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Data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14600" y="111556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F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20440" y="1298448"/>
            <a:ext cx="82296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1298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62272" y="111556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processing · Explicit permission UX · No data sent to servers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1865376"/>
            <a:ext cx="8503920" cy="658368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1865376"/>
            <a:ext cx="54864" cy="658368"/>
          </a:xfrm>
          <a:prstGeom prst="rect">
            <a:avLst/>
          </a:prstGeom>
          <a:solidFill>
            <a:srgbClr val="7A3080"/>
          </a:solidFill>
          <a:ln w="12700">
            <a:solidFill>
              <a:srgbClr val="7A308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020824"/>
            <a:ext cx="347472" cy="347472"/>
          </a:xfrm>
          <a:prstGeom prst="rect">
            <a:avLst/>
          </a:prstGeom>
          <a:solidFill>
            <a:srgbClr val="7A3080"/>
          </a:solidFill>
          <a:ln w="12700">
            <a:solidFill>
              <a:srgbClr val="7A308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05740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86968" y="186537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Accuracy Distrust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514600" y="18653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3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520440" y="2048256"/>
            <a:ext cx="82296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20440" y="2048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462272" y="186537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· 'Likely fault' framing · Professional referral prompts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20040" y="261518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0040" y="2615184"/>
            <a:ext cx="54864" cy="658368"/>
          </a:xfrm>
          <a:prstGeom prst="rect">
            <a:avLst/>
          </a:prstGeom>
          <a:solidFill>
            <a:srgbClr val="B06020"/>
          </a:solidFill>
          <a:ln w="12700">
            <a:solidFill>
              <a:srgbClr val="B0602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7200" y="2770632"/>
            <a:ext cx="347472" cy="347472"/>
          </a:xfrm>
          <a:prstGeom prst="rect">
            <a:avLst/>
          </a:prstGeom>
          <a:solidFill>
            <a:srgbClr val="B06020"/>
          </a:solidFill>
          <a:ln w="12700">
            <a:solidFill>
              <a:srgbClr val="B0602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80720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86968" y="2615184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2514600" y="261518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28–54%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520440" y="2798064"/>
            <a:ext cx="822960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520440" y="27980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462272" y="261518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touch targets · Voice guidance · English &amp; French support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20040" y="3364992"/>
            <a:ext cx="8503920" cy="658368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0040" y="3364992"/>
            <a:ext cx="54864" cy="658368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57200" y="3520440"/>
            <a:ext cx="347472" cy="347472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557016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86968" y="336499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Storage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2514600" y="336499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18–23%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3520440" y="3547872"/>
            <a:ext cx="822960" cy="2926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520440" y="3547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462272" y="336499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Modular offline models · Base install &lt; 80 MB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320040" y="41148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20040" y="4114800"/>
            <a:ext cx="54864" cy="658368"/>
          </a:xfrm>
          <a:prstGeom prst="rect">
            <a:avLst/>
          </a:prstGeom>
          <a:solidFill>
            <a:srgbClr val="5A7A2A"/>
          </a:solidFill>
          <a:ln w="12700">
            <a:solidFill>
              <a:srgbClr val="5A7A2A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57200" y="4270248"/>
            <a:ext cx="347472" cy="347472"/>
          </a:xfrm>
          <a:prstGeom prst="rect">
            <a:avLst/>
          </a:prstGeom>
          <a:solidFill>
            <a:srgbClr val="5A7A2A"/>
          </a:solidFill>
          <a:ln w="12700">
            <a:solidFill>
              <a:srgbClr val="5A7A2A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4306824"/>
            <a:ext cx="274320" cy="27432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86968" y="41148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Trust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2514600" y="41148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300" dirty="0"/>
          </a:p>
        </p:txBody>
      </p:sp>
      <p:sp>
        <p:nvSpPr>
          <p:cNvPr id="47" name="Shape 40"/>
          <p:cNvSpPr/>
          <p:nvPr/>
        </p:nvSpPr>
        <p:spPr>
          <a:xfrm>
            <a:off x="3520440" y="4297680"/>
            <a:ext cx="82296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3520440" y="4297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4462272" y="411480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urgency calibration · Non-dismissible critical-fault warning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886968" y="98755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2514600" y="9875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</a:t>
            </a:r>
            <a:endParaRPr lang="en-US" sz="850" dirty="0"/>
          </a:p>
        </p:txBody>
      </p:sp>
      <p:sp>
        <p:nvSpPr>
          <p:cNvPr id="52" name="Text 45"/>
          <p:cNvSpPr/>
          <p:nvPr/>
        </p:nvSpPr>
        <p:spPr>
          <a:xfrm>
            <a:off x="3520440" y="9875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4462272" y="98755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Requirement Gathering  ›  Section 6: Requirements Summary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384048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Requirements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206240" cy="420624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91056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91056"/>
            <a:ext cx="685800" cy="43891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9105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1591056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classify dashboard warning light symbols via camera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4206240" cy="438912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84832"/>
            <a:ext cx="685800" cy="43891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8483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51560" y="2084832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classify engine fault types from audio recordings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78608"/>
            <a:ext cx="685800" cy="43891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7860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51560" y="2578608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simultaneous detection of multiple active warning lights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72384"/>
            <a:ext cx="4206240" cy="438912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072384"/>
            <a:ext cx="685800" cy="43891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7238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51560" y="3072384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explanations, probable causes &amp; urgency ratings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566160"/>
            <a:ext cx="685800" cy="43891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56616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51560" y="3566160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users to YouTube tutorial videos from verified experts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059936"/>
            <a:ext cx="4206240" cy="438912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059936"/>
            <a:ext cx="685800" cy="43891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5993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51560" y="4059936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core diagnostic features fully offline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553712"/>
            <a:ext cx="4206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553712"/>
            <a:ext cx="685800" cy="438912"/>
          </a:xfrm>
          <a:prstGeom prst="rect">
            <a:avLst/>
          </a:prstGeom>
          <a:solidFill>
            <a:srgbClr val="0F2342"/>
          </a:solidFill>
          <a:ln w="12700">
            <a:solidFill>
              <a:srgbClr val="0F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55371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51560" y="4553712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 with online fault databases when connected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1078992"/>
            <a:ext cx="4023360" cy="420624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0789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00600" y="1591056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1591056"/>
            <a:ext cx="777240" cy="43891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15910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23560" y="1591056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fault classification within 3 seconds of image capture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2084832"/>
            <a:ext cx="4023360" cy="438912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084832"/>
            <a:ext cx="777240" cy="43891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0848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23560" y="2084832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85% accuracy on validation dataset (image &amp; audio)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2578608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2578608"/>
            <a:ext cx="777240" cy="43891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5786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623560" y="2578608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base install shall not exceed 80 MB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3072384"/>
            <a:ext cx="4023360" cy="438912"/>
          </a:xfrm>
          <a:prstGeom prst="rect">
            <a:avLst/>
          </a:prstGeom>
          <a:solidFill>
            <a:srgbClr val="E2EAF4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0600" y="3072384"/>
            <a:ext cx="777240" cy="43891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0723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23560" y="3072384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on Android 9.0+ and iOS 13.0+ platforms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0600" y="356616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0600" y="3566160"/>
            <a:ext cx="777240" cy="438912"/>
          </a:xfrm>
          <a:prstGeom prst="rect">
            <a:avLst/>
          </a:prstGeom>
          <a:solidFill>
            <a:srgbClr val="1A5FAD"/>
          </a:solidFill>
          <a:ln w="12700">
            <a:solidFill>
              <a:srgbClr val="1A5FA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5661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623560" y="3566160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with GDPR data minimisation &amp; purpose limitation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743200" cy="2286000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097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276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Mapped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048256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Primary, secondary, and tertiary stakeholders identified across the full automotive ecosystem — from car owners to standards bodies.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987552"/>
            <a:ext cx="2743200" cy="2286000"/>
          </a:xfrm>
          <a:prstGeom prst="rect">
            <a:avLst/>
          </a:prstGeom>
          <a:solidFill>
            <a:srgbClr val="0D2A46"/>
          </a:solidFill>
          <a:ln w="12700">
            <a:solidFill>
              <a:srgbClr val="1E3E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987552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6276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Techniques Deployed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2048256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Surveys, interviews, brainstorming, reverse engineering, and document analysis provided triangulated, high-quality requirements.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72200" y="987552"/>
            <a:ext cx="2743200" cy="2286000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987552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16276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Dataset Prepared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9360" y="2048256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1,030 cleaned images and 3,299 audio clips ready for model training, plus 69 validated survey responses for user research.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20040" y="3401568"/>
            <a:ext cx="8503920" cy="457200"/>
          </a:xfrm>
          <a:prstGeom prst="rect">
            <a:avLst/>
          </a:prstGeom>
          <a:solidFill>
            <a:srgbClr val="162E4A"/>
          </a:solidFill>
          <a:ln w="12700">
            <a:solidFill>
              <a:srgbClr val="1E3E5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465576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401568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Adoption Barriers Identified &amp; Mitigated:  Privacy  ·  AI Accuracy Trust  ·  Digital Literacy  ·  Cost / Storage  ·  Safety Confidence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(System Design) and Task 4 (Implementation) will build on this foundation.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·  Department of Computer Engineering  ·  CEF 476  ·  Group 12  ·  2024–2025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2: Requirement Gathering – Car Fault Diagnosis App</dc:title>
  <dc:subject>PptxGenJS Presentation</dc:subject>
  <dc:creator>PptxGenJS</dc:creator>
  <cp:lastModifiedBy>PptxGenJS</cp:lastModifiedBy>
  <cp:revision>1</cp:revision>
  <dcterms:created xsi:type="dcterms:W3CDTF">2026-04-27T17:55:46Z</dcterms:created>
  <dcterms:modified xsi:type="dcterms:W3CDTF">2026-04-27T17:55:46Z</dcterms:modified>
</cp:coreProperties>
</file>